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11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2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34.xml" ContentType="application/vnd.openxmlformats-officedocument.theme+xml"/>
  <Override PartName="/ppt/theme/theme7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3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0.jpeg" ContentType="image/jpeg"/>
  <Override PartName="/ppt/media/image9.png" ContentType="image/png"/>
  <Override PartName="/ppt/media/image18.png" ContentType="image/png"/>
  <Override PartName="/ppt/media/image13.png" ContentType="image/png"/>
  <Override PartName="/ppt/media/image4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6.png" ContentType="image/png"/>
  <Override PartName="/ppt/media/image15.png" ContentType="image/png"/>
  <Override PartName="/ppt/media/image27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6.png" ContentType="image/png"/>
  <Override PartName="/ppt/media/image20.jpeg" ContentType="image/jpeg"/>
  <Override PartName="/ppt/media/image19.png" ContentType="image/png"/>
  <Override PartName="/ppt/media/image21.png" ContentType="image/png"/>
  <Override PartName="/ppt/media/image14.png" ContentType="image/png"/>
  <Override PartName="/ppt/media/image5.png" ContentType="image/png"/>
  <Override PartName="/ppt/media/image16.jpeg" ContentType="image/jpeg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</p:sldMasterIdLst>
  <p:sldIdLst>
    <p:sldId id="256" r:id="rId42"/>
    <p:sldId id="257" r:id="rId43"/>
    <p:sldId id="258" r:id="rId44"/>
    <p:sldId id="259" r:id="rId45"/>
    <p:sldId id="260" r:id="rId46"/>
    <p:sldId id="261" r:id="rId47"/>
    <p:sldId id="262" r:id="rId48"/>
    <p:sldId id="263" r:id="rId49"/>
    <p:sldId id="264" r:id="rId50"/>
    <p:sldId id="265" r:id="rId51"/>
    <p:sldId id="266" r:id="rId52"/>
    <p:sldId id="267" r:id="rId53"/>
    <p:sldId id="268" r:id="rId54"/>
    <p:sldId id="269" r:id="rId55"/>
    <p:sldId id="270" r:id="rId5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" Target="slides/slide1.xml"/><Relationship Id="rId43" Type="http://schemas.openxmlformats.org/officeDocument/2006/relationships/slide" Target="slides/slide2.xml"/><Relationship Id="rId44" Type="http://schemas.openxmlformats.org/officeDocument/2006/relationships/slide" Target="slides/slide3.xml"/><Relationship Id="rId45" Type="http://schemas.openxmlformats.org/officeDocument/2006/relationships/slide" Target="slides/slide4.xml"/><Relationship Id="rId46" Type="http://schemas.openxmlformats.org/officeDocument/2006/relationships/slide" Target="slides/slide5.xml"/><Relationship Id="rId47" Type="http://schemas.openxmlformats.org/officeDocument/2006/relationships/slide" Target="slides/slide6.xml"/><Relationship Id="rId48" Type="http://schemas.openxmlformats.org/officeDocument/2006/relationships/slide" Target="slides/slide7.xml"/><Relationship Id="rId49" Type="http://schemas.openxmlformats.org/officeDocument/2006/relationships/slide" Target="slides/slide8.xml"/><Relationship Id="rId50" Type="http://schemas.openxmlformats.org/officeDocument/2006/relationships/slide" Target="slides/slide9.xml"/><Relationship Id="rId51" Type="http://schemas.openxmlformats.org/officeDocument/2006/relationships/slide" Target="slides/slide10.xml"/><Relationship Id="rId52" Type="http://schemas.openxmlformats.org/officeDocument/2006/relationships/slide" Target="slides/slide11.xml"/><Relationship Id="rId53" Type="http://schemas.openxmlformats.org/officeDocument/2006/relationships/slide" Target="slides/slide12.xml"/><Relationship Id="rId54" Type="http://schemas.openxmlformats.org/officeDocument/2006/relationships/slide" Target="slides/slide13.xml"/><Relationship Id="rId55" Type="http://schemas.openxmlformats.org/officeDocument/2006/relationships/slide" Target="slides/slide14.xml"/><Relationship Id="rId56" Type="http://schemas.openxmlformats.org/officeDocument/2006/relationships/slide" Target="slides/slide15.xml"/><Relationship Id="rId5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slideLayout" Target="../slideLayouts/slideLayout4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jpe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4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jpe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jpe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jpeg"/><Relationship Id="rId3" Type="http://schemas.openxmlformats.org/officeDocument/2006/relationships/slideLayout" Target="../slideLayouts/slideLayout3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github.com/NikolayOskolkov/PopGen_PopStructure" TargetMode="External"/><Relationship Id="rId2" Type="http://schemas.openxmlformats.org/officeDocument/2006/relationships/image" Target="../media/image19.png"/><Relationship Id="rId3" Type="http://schemas.openxmlformats.org/officeDocument/2006/relationships/image" Target="../media/image20.jpe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" descr=""/>
          <p:cNvPicPr/>
          <p:nvPr/>
        </p:nvPicPr>
        <p:blipFill>
          <a:blip r:embed="rId1"/>
          <a:stretch/>
        </p:blipFill>
        <p:spPr>
          <a:xfrm>
            <a:off x="-18360" y="9000"/>
            <a:ext cx="10074960" cy="5670000"/>
          </a:xfrm>
          <a:prstGeom prst="rect">
            <a:avLst/>
          </a:prstGeom>
          <a:ln w="0">
            <a:noFill/>
          </a:ln>
        </p:spPr>
      </p:pic>
      <p:sp>
        <p:nvSpPr>
          <p:cNvPr id="181" name="CustomShape 7"/>
          <p:cNvSpPr/>
          <p:nvPr/>
        </p:nvSpPr>
        <p:spPr>
          <a:xfrm>
            <a:off x="693000" y="1344600"/>
            <a:ext cx="655164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br>
              <a:rPr sz="1400"/>
            </a:b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Nikolay Oskolkov, Group Leader (PI) at NIRI, Riga, Latvia</a:t>
            </a:r>
            <a:br>
              <a:rPr sz="1400"/>
            </a:b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2"/>
          <a:stretch/>
        </p:blipFill>
        <p:spPr>
          <a:xfrm>
            <a:off x="7909200" y="23760"/>
            <a:ext cx="2068920" cy="96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" descr=""/>
          <p:cNvPicPr/>
          <p:nvPr/>
        </p:nvPicPr>
        <p:blipFill>
          <a:blip r:embed="rId1"/>
          <a:srcRect l="0" t="0" r="0" b="26669"/>
          <a:stretch/>
        </p:blipFill>
        <p:spPr>
          <a:xfrm>
            <a:off x="109440" y="750960"/>
            <a:ext cx="6321600" cy="3392640"/>
          </a:xfrm>
          <a:prstGeom prst="rect">
            <a:avLst/>
          </a:prstGeom>
          <a:ln w="0">
            <a:noFill/>
          </a:ln>
        </p:spPr>
      </p:pic>
      <p:pic>
        <p:nvPicPr>
          <p:cNvPr id="184" name="" descr=""/>
          <p:cNvPicPr/>
          <p:nvPr/>
        </p:nvPicPr>
        <p:blipFill>
          <a:blip r:embed="rId2"/>
          <a:srcRect l="9896" t="0" r="11923" b="24361"/>
          <a:stretch/>
        </p:blipFill>
        <p:spPr>
          <a:xfrm>
            <a:off x="6595200" y="750960"/>
            <a:ext cx="1497960" cy="2327400"/>
          </a:xfrm>
          <a:prstGeom prst="rect">
            <a:avLst/>
          </a:prstGeom>
          <a:ln w="0">
            <a:noFill/>
          </a:ln>
        </p:spPr>
      </p:pic>
      <p:pic>
        <p:nvPicPr>
          <p:cNvPr id="185" name="" descr=""/>
          <p:cNvPicPr/>
          <p:nvPr/>
        </p:nvPicPr>
        <p:blipFill>
          <a:blip r:embed="rId3"/>
          <a:srcRect l="14518" t="0" r="6000" b="0"/>
          <a:stretch/>
        </p:blipFill>
        <p:spPr>
          <a:xfrm>
            <a:off x="8382960" y="3278880"/>
            <a:ext cx="1515240" cy="193608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8216640" y="5207400"/>
            <a:ext cx="1825560" cy="384840"/>
          </a:xfrm>
          <a:custGeom>
            <a:avLst/>
            <a:gdLst>
              <a:gd name="textAreaLeft" fmla="*/ 0 w 1825560"/>
              <a:gd name="textAreaRight" fmla="*/ 1830600 w 1825560"/>
              <a:gd name="textAreaTop" fmla="*/ 0 h 384840"/>
              <a:gd name="textAreaBottom" fmla="*/ 389160 h 384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Daniel Rivas, MD, postdoc</a:t>
            </a:r>
            <a:br>
              <a:rPr sz="18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in Metabolic Research Group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2004480" y="65160"/>
            <a:ext cx="5251320" cy="450360"/>
          </a:xfrm>
          <a:custGeom>
            <a:avLst/>
            <a:gdLst>
              <a:gd name="textAreaLeft" fmla="*/ 0 w 5251320"/>
              <a:gd name="textAreaRight" fmla="*/ 5256360 w 5251320"/>
              <a:gd name="textAreaTop" fmla="*/ 0 h 450360"/>
              <a:gd name="textAreaBottom" fmla="*/ 455400 h 450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13"/>
              </a:spcBef>
              <a:spcAft>
                <a:spcPts val="1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Metabolic Research Group at NIRI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-66600" y="4348440"/>
            <a:ext cx="6618240" cy="8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800" spc="-1" strike="noStrike">
                <a:solidFill>
                  <a:srgbClr val="008000"/>
                </a:solidFill>
                <a:latin typeface="Arial"/>
                <a:ea typeface="DejaVu Sans"/>
              </a:rPr>
              <a:t>1 more postdoctoral fellow and 1 PhD student to be hired</a:t>
            </a:r>
            <a:br>
              <a:rPr sz="1800"/>
            </a:br>
            <a:br>
              <a:rPr sz="1800"/>
            </a:br>
            <a:r>
              <a:rPr b="1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If you know anyone who might be interested, </a:t>
            </a:r>
            <a:br>
              <a:rPr sz="1800"/>
            </a:br>
            <a:r>
              <a:rPr b="1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please contact me!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6380640" y="5208840"/>
            <a:ext cx="1825200" cy="509400"/>
          </a:xfrm>
          <a:custGeom>
            <a:avLst/>
            <a:gdLst>
              <a:gd name="textAreaLeft" fmla="*/ 0 w 1825200"/>
              <a:gd name="textAreaRight" fmla="*/ 1830240 w 1825200"/>
              <a:gd name="textAreaTop" fmla="*/ 0 h 509400"/>
              <a:gd name="textAreaBottom" fmla="*/ 514440 h 5094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Kristina Grausa, PhD student</a:t>
            </a:r>
            <a:br>
              <a:rPr sz="18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in Metabolic Research Group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" descr=""/>
          <p:cNvPicPr/>
          <p:nvPr/>
        </p:nvPicPr>
        <p:blipFill>
          <a:blip r:embed="rId4"/>
          <a:stretch/>
        </p:blipFill>
        <p:spPr>
          <a:xfrm>
            <a:off x="69840" y="36360"/>
            <a:ext cx="610920" cy="582480"/>
          </a:xfrm>
          <a:prstGeom prst="rect">
            <a:avLst/>
          </a:prstGeom>
          <a:ln w="0">
            <a:noFill/>
          </a:ln>
        </p:spPr>
      </p:pic>
      <p:pic>
        <p:nvPicPr>
          <p:cNvPr id="191" name="" descr=""/>
          <p:cNvPicPr/>
          <p:nvPr/>
        </p:nvPicPr>
        <p:blipFill>
          <a:blip r:embed="rId5"/>
          <a:srcRect l="4511" t="13458" r="4511" b="13458"/>
          <a:stretch/>
        </p:blipFill>
        <p:spPr>
          <a:xfrm>
            <a:off x="8375400" y="79200"/>
            <a:ext cx="1683360" cy="446760"/>
          </a:xfrm>
          <a:prstGeom prst="rect">
            <a:avLst/>
          </a:prstGeom>
          <a:ln w="0">
            <a:noFill/>
          </a:ln>
        </p:spPr>
      </p:pic>
      <p:pic>
        <p:nvPicPr>
          <p:cNvPr id="192" name="" descr=""/>
          <p:cNvPicPr/>
          <p:nvPr/>
        </p:nvPicPr>
        <p:blipFill>
          <a:blip r:embed="rId6"/>
          <a:srcRect l="30852" t="3870" r="21490" b="0"/>
          <a:stretch/>
        </p:blipFill>
        <p:spPr>
          <a:xfrm>
            <a:off x="6607800" y="3285000"/>
            <a:ext cx="1436400" cy="1934640"/>
          </a:xfrm>
          <a:prstGeom prst="rect">
            <a:avLst/>
          </a:prstGeom>
          <a:ln w="0">
            <a:noFill/>
          </a:ln>
        </p:spPr>
      </p:pic>
      <p:pic>
        <p:nvPicPr>
          <p:cNvPr id="193" name="" descr=""/>
          <p:cNvPicPr/>
          <p:nvPr/>
        </p:nvPicPr>
        <p:blipFill>
          <a:blip r:embed="rId7"/>
          <a:srcRect l="29844" t="0" r="0" b="0"/>
          <a:stretch/>
        </p:blipFill>
        <p:spPr>
          <a:xfrm>
            <a:off x="8429040" y="785880"/>
            <a:ext cx="1397520" cy="1873080"/>
          </a:xfrm>
          <a:prstGeom prst="rect">
            <a:avLst/>
          </a:prstGeom>
          <a:ln w="0">
            <a:noFill/>
          </a:ln>
        </p:spPr>
      </p:pic>
      <p:sp>
        <p:nvSpPr>
          <p:cNvPr id="194" name=""/>
          <p:cNvSpPr/>
          <p:nvPr/>
        </p:nvSpPr>
        <p:spPr>
          <a:xfrm>
            <a:off x="8216640" y="2651400"/>
            <a:ext cx="1825560" cy="384840"/>
          </a:xfrm>
          <a:custGeom>
            <a:avLst/>
            <a:gdLst>
              <a:gd name="textAreaLeft" fmla="*/ 0 w 1825560"/>
              <a:gd name="textAreaRight" fmla="*/ 1830600 w 1825560"/>
              <a:gd name="textAreaTop" fmla="*/ 0 h 384840"/>
              <a:gd name="textAreaBottom" fmla="*/ 389160 h 384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Mohammad Banabazi, postdoc</a:t>
            </a:r>
            <a:br>
              <a:rPr sz="18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in Metabolic Research Group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CustomShape 1"/>
          <p:cNvSpPr/>
          <p:nvPr/>
        </p:nvSpPr>
        <p:spPr>
          <a:xfrm>
            <a:off x="2214720" y="9720"/>
            <a:ext cx="5253120" cy="452520"/>
          </a:xfrm>
          <a:custGeom>
            <a:avLst/>
            <a:gdLst>
              <a:gd name="textAreaLeft" fmla="*/ 0 w 5253120"/>
              <a:gd name="textAreaRight" fmla="*/ 5255640 w 5253120"/>
              <a:gd name="textAreaTop" fmla="*/ 0 h 452520"/>
              <a:gd name="textAreaBottom" fmla="*/ 455040 h 4525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About us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CustomShape 2"/>
          <p:cNvSpPr/>
          <p:nvPr/>
        </p:nvSpPr>
        <p:spPr>
          <a:xfrm>
            <a:off x="1139400" y="771120"/>
            <a:ext cx="6403680" cy="37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Organizer:</a:t>
            </a:r>
            <a:r>
              <a:rPr b="0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 Oliver Hooker, PR Stats courses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oliver@prstats.org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Instructor: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Dr. Nikolay Oskolkov, MRG Group Leader, NIRI, Riga,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lecturer at Lund University, Lund,Sweden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nikolay.oskolkov@niri.lv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7" name="" descr=""/>
          <p:cNvPicPr/>
          <p:nvPr/>
        </p:nvPicPr>
        <p:blipFill>
          <a:blip r:embed="rId1"/>
          <a:srcRect l="0" t="4749" r="0" b="0"/>
          <a:stretch/>
        </p:blipFill>
        <p:spPr>
          <a:xfrm>
            <a:off x="7677720" y="2515680"/>
            <a:ext cx="1217520" cy="1716120"/>
          </a:xfrm>
          <a:prstGeom prst="rect">
            <a:avLst/>
          </a:prstGeom>
          <a:ln w="0">
            <a:noFill/>
          </a:ln>
        </p:spPr>
      </p:pic>
      <p:sp>
        <p:nvSpPr>
          <p:cNvPr id="198" name="CustomShape 3"/>
          <p:cNvSpPr/>
          <p:nvPr/>
        </p:nvSpPr>
        <p:spPr>
          <a:xfrm>
            <a:off x="1513800" y="5325120"/>
            <a:ext cx="1353960" cy="281880"/>
          </a:xfrm>
          <a:custGeom>
            <a:avLst/>
            <a:gdLst>
              <a:gd name="textAreaLeft" fmla="*/ 0 w 1353960"/>
              <a:gd name="textAreaRight" fmla="*/ 1356480 w 1353960"/>
              <a:gd name="textAreaTop" fmla="*/ 0 h 281880"/>
              <a:gd name="textAreaBottom" fmla="*/ 284400 h 2818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@NikolayOskolkov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9" name="Group 4"/>
          <p:cNvGrpSpPr/>
          <p:nvPr/>
        </p:nvGrpSpPr>
        <p:grpSpPr>
          <a:xfrm>
            <a:off x="1199520" y="4480560"/>
            <a:ext cx="2093040" cy="843840"/>
            <a:chOff x="1199520" y="4480560"/>
            <a:chExt cx="2093040" cy="843840"/>
          </a:xfrm>
        </p:grpSpPr>
        <p:pic>
          <p:nvPicPr>
            <p:cNvPr id="200" name="" descr=""/>
            <p:cNvPicPr/>
            <p:nvPr/>
          </p:nvPicPr>
          <p:blipFill>
            <a:blip r:embed="rId2"/>
            <a:srcRect l="58337" t="18655" r="0" b="20725"/>
            <a:stretch/>
          </p:blipFill>
          <p:spPr>
            <a:xfrm>
              <a:off x="2267640" y="4501080"/>
              <a:ext cx="1024920" cy="823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1" name="" descr=""/>
            <p:cNvPicPr/>
            <p:nvPr/>
          </p:nvPicPr>
          <p:blipFill>
            <a:blip r:embed="rId3"/>
            <a:srcRect l="0" t="18655" r="56420" b="20725"/>
            <a:stretch/>
          </p:blipFill>
          <p:spPr>
            <a:xfrm>
              <a:off x="1199520" y="4480560"/>
              <a:ext cx="1072080" cy="8233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02" name="CustomShape 5"/>
          <p:cNvSpPr/>
          <p:nvPr/>
        </p:nvSpPr>
        <p:spPr>
          <a:xfrm>
            <a:off x="5939280" y="5248800"/>
            <a:ext cx="182988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Personal homepage: </a:t>
            </a:r>
            <a:br>
              <a:rPr sz="18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https://nikolay-oskolkov.com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" descr=""/>
          <p:cNvPicPr/>
          <p:nvPr/>
        </p:nvPicPr>
        <p:blipFill>
          <a:blip r:embed="rId4"/>
          <a:srcRect l="11567" t="14531" r="7772" b="12490"/>
          <a:stretch/>
        </p:blipFill>
        <p:spPr>
          <a:xfrm>
            <a:off x="6313680" y="4381560"/>
            <a:ext cx="1001160" cy="905400"/>
          </a:xfrm>
          <a:prstGeom prst="rect">
            <a:avLst/>
          </a:prstGeom>
          <a:ln w="0">
            <a:noFill/>
          </a:ln>
        </p:spPr>
      </p:pic>
      <p:sp>
        <p:nvSpPr>
          <p:cNvPr id="204" name="CustomShape 6"/>
          <p:cNvSpPr/>
          <p:nvPr/>
        </p:nvSpPr>
        <p:spPr>
          <a:xfrm>
            <a:off x="3888000" y="5369040"/>
            <a:ext cx="1605600" cy="227160"/>
          </a:xfrm>
          <a:custGeom>
            <a:avLst/>
            <a:gdLst>
              <a:gd name="textAreaLeft" fmla="*/ 0 w 1605600"/>
              <a:gd name="textAreaRight" fmla="*/ 1608120 w 1605600"/>
              <a:gd name="textAreaTop" fmla="*/ 0 h 227160"/>
              <a:gd name="textAreaBottom" fmla="*/ 229680 h 227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998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@oskolkov.bsky.social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" descr=""/>
          <p:cNvPicPr/>
          <p:nvPr/>
        </p:nvPicPr>
        <p:blipFill>
          <a:blip r:embed="rId5"/>
          <a:stretch/>
        </p:blipFill>
        <p:spPr>
          <a:xfrm>
            <a:off x="4182840" y="4398840"/>
            <a:ext cx="974520" cy="962280"/>
          </a:xfrm>
          <a:prstGeom prst="rect">
            <a:avLst/>
          </a:prstGeom>
          <a:ln w="0">
            <a:noFill/>
          </a:ln>
        </p:spPr>
      </p:pic>
      <p:pic>
        <p:nvPicPr>
          <p:cNvPr id="206" name="" descr=""/>
          <p:cNvPicPr/>
          <p:nvPr/>
        </p:nvPicPr>
        <p:blipFill>
          <a:blip r:embed="rId6"/>
          <a:stretch/>
        </p:blipFill>
        <p:spPr>
          <a:xfrm>
            <a:off x="7495920" y="829800"/>
            <a:ext cx="2068920" cy="96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" descr=""/>
          <p:cNvPicPr/>
          <p:nvPr/>
        </p:nvPicPr>
        <p:blipFill>
          <a:blip r:embed="rId1"/>
          <a:stretch/>
        </p:blipFill>
        <p:spPr>
          <a:xfrm>
            <a:off x="70920" y="36720"/>
            <a:ext cx="610920" cy="582480"/>
          </a:xfrm>
          <a:prstGeom prst="rect">
            <a:avLst/>
          </a:prstGeom>
          <a:ln w="0">
            <a:noFill/>
          </a:ln>
        </p:spPr>
      </p:pic>
      <p:sp>
        <p:nvSpPr>
          <p:cNvPr id="208" name=""/>
          <p:cNvSpPr/>
          <p:nvPr/>
        </p:nvSpPr>
        <p:spPr>
          <a:xfrm>
            <a:off x="2257560" y="30240"/>
            <a:ext cx="5253120" cy="452160"/>
          </a:xfrm>
          <a:custGeom>
            <a:avLst/>
            <a:gdLst>
              <a:gd name="textAreaLeft" fmla="*/ 0 w 5253120"/>
              <a:gd name="textAreaRight" fmla="*/ 5256360 w 5253120"/>
              <a:gd name="textAreaTop" fmla="*/ 0 h 452160"/>
              <a:gd name="textAreaBottom" fmla="*/ 455400 h 452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Brief introduction: who am I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555480" y="519120"/>
            <a:ext cx="4001040" cy="1892520"/>
          </a:xfrm>
          <a:custGeom>
            <a:avLst/>
            <a:gdLst>
              <a:gd name="textAreaLeft" fmla="*/ 0 w 4001040"/>
              <a:gd name="textAreaRight" fmla="*/ 4004280 w 4001040"/>
              <a:gd name="textAreaTop" fmla="*/ 0 h 1892520"/>
              <a:gd name="textAreaBottom" fmla="*/ 1895760 h 18925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2007   PhD in theoretical physics in Moscow, Russia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2011   medical genomics at Lund University, Sweden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2016   bioinformatician at NBIS SciLifeLab, Sweden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2025   Metabolic Research Group leader, NIRI, Latvia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60+ publications; h-index = 28; 4,600+ citations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" name="" descr=""/>
          <p:cNvPicPr/>
          <p:nvPr/>
        </p:nvPicPr>
        <p:blipFill>
          <a:blip r:embed="rId2"/>
          <a:srcRect l="0" t="4801" r="248" b="444"/>
          <a:stretch/>
        </p:blipFill>
        <p:spPr>
          <a:xfrm>
            <a:off x="371520" y="2498760"/>
            <a:ext cx="5829480" cy="3113280"/>
          </a:xfrm>
          <a:prstGeom prst="rect">
            <a:avLst/>
          </a:prstGeom>
          <a:ln w="0">
            <a:noFill/>
          </a:ln>
        </p:spPr>
      </p:pic>
      <p:pic>
        <p:nvPicPr>
          <p:cNvPr id="211" name="" descr=""/>
          <p:cNvPicPr/>
          <p:nvPr/>
        </p:nvPicPr>
        <p:blipFill>
          <a:blip r:embed="rId3"/>
          <a:srcRect l="0" t="9377" r="0" b="0"/>
          <a:stretch/>
        </p:blipFill>
        <p:spPr>
          <a:xfrm>
            <a:off x="7525080" y="654120"/>
            <a:ext cx="2512800" cy="1471680"/>
          </a:xfrm>
          <a:prstGeom prst="rect">
            <a:avLst/>
          </a:prstGeom>
          <a:ln w="0">
            <a:noFill/>
          </a:ln>
        </p:spPr>
      </p:pic>
      <p:pic>
        <p:nvPicPr>
          <p:cNvPr id="212" name="" descr=""/>
          <p:cNvPicPr/>
          <p:nvPr/>
        </p:nvPicPr>
        <p:blipFill>
          <a:blip r:embed="rId4"/>
          <a:stretch/>
        </p:blipFill>
        <p:spPr>
          <a:xfrm>
            <a:off x="4692600" y="668160"/>
            <a:ext cx="2800800" cy="1460880"/>
          </a:xfrm>
          <a:prstGeom prst="rect">
            <a:avLst/>
          </a:prstGeom>
          <a:ln w="0">
            <a:noFill/>
          </a:ln>
        </p:spPr>
      </p:pic>
      <p:sp>
        <p:nvSpPr>
          <p:cNvPr id="213" name=""/>
          <p:cNvSpPr/>
          <p:nvPr/>
        </p:nvSpPr>
        <p:spPr>
          <a:xfrm>
            <a:off x="7539480" y="638280"/>
            <a:ext cx="1096920" cy="271440"/>
          </a:xfrm>
          <a:custGeom>
            <a:avLst/>
            <a:gdLst>
              <a:gd name="textAreaLeft" fmla="*/ 0 w 1096920"/>
              <a:gd name="textAreaRight" fmla="*/ 1100160 w 1096920"/>
              <a:gd name="textAreaTop" fmla="*/ 0 h 271440"/>
              <a:gd name="textAreaBottom" fmla="*/ 274680 h 2714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DejaVu Sans"/>
              </a:rPr>
              <a:t>Lund University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5990040" y="673200"/>
            <a:ext cx="1473120" cy="271440"/>
          </a:xfrm>
          <a:custGeom>
            <a:avLst/>
            <a:gdLst>
              <a:gd name="textAreaLeft" fmla="*/ 0 w 1473120"/>
              <a:gd name="textAreaRight" fmla="*/ 1476360 w 1473120"/>
              <a:gd name="textAreaTop" fmla="*/ 0 h 271440"/>
              <a:gd name="textAreaBottom" fmla="*/ 274680 h 2714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69a2e"/>
                </a:solidFill>
                <a:latin typeface="Arial"/>
                <a:ea typeface="DejaVu Sans"/>
              </a:rPr>
              <a:t>Moscow State University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5" name=""/>
          <p:cNvGrpSpPr/>
          <p:nvPr/>
        </p:nvGrpSpPr>
        <p:grpSpPr>
          <a:xfrm>
            <a:off x="6620400" y="2149560"/>
            <a:ext cx="3178440" cy="1744920"/>
            <a:chOff x="6620400" y="2149560"/>
            <a:chExt cx="3178440" cy="1744920"/>
          </a:xfrm>
        </p:grpSpPr>
        <p:pic>
          <p:nvPicPr>
            <p:cNvPr id="216" name="" descr=""/>
            <p:cNvPicPr/>
            <p:nvPr/>
          </p:nvPicPr>
          <p:blipFill>
            <a:blip r:embed="rId5"/>
            <a:srcRect l="0" t="37340" r="0" b="0"/>
            <a:stretch/>
          </p:blipFill>
          <p:spPr>
            <a:xfrm>
              <a:off x="6620400" y="2166840"/>
              <a:ext cx="3081600" cy="1727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7" name=""/>
            <p:cNvSpPr/>
            <p:nvPr/>
          </p:nvSpPr>
          <p:spPr>
            <a:xfrm>
              <a:off x="8942760" y="2149560"/>
              <a:ext cx="856080" cy="257040"/>
            </a:xfrm>
            <a:custGeom>
              <a:avLst/>
              <a:gdLst>
                <a:gd name="textAreaLeft" fmla="*/ 0 w 856080"/>
                <a:gd name="textAreaRight" fmla="*/ 859320 w 856080"/>
                <a:gd name="textAreaTop" fmla="*/ 0 h 257040"/>
                <a:gd name="textAreaBottom" fmla="*/ 260280 h 25704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125"/>
                </a:spcBef>
                <a:spcAft>
                  <a:spcPts val="125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0" lang="en-US" sz="10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SciLifeLab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8" name=""/>
          <p:cNvGrpSpPr/>
          <p:nvPr/>
        </p:nvGrpSpPr>
        <p:grpSpPr>
          <a:xfrm>
            <a:off x="6623280" y="3922920"/>
            <a:ext cx="3086640" cy="1762560"/>
            <a:chOff x="6623280" y="3922920"/>
            <a:chExt cx="3086640" cy="1762560"/>
          </a:xfrm>
        </p:grpSpPr>
        <p:pic>
          <p:nvPicPr>
            <p:cNvPr id="219" name="" descr=""/>
            <p:cNvPicPr/>
            <p:nvPr/>
          </p:nvPicPr>
          <p:blipFill>
            <a:blip r:embed="rId6"/>
            <a:stretch/>
          </p:blipFill>
          <p:spPr>
            <a:xfrm>
              <a:off x="6623280" y="3922920"/>
              <a:ext cx="3086640" cy="1727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20" name=""/>
            <p:cNvSpPr/>
            <p:nvPr/>
          </p:nvSpPr>
          <p:spPr>
            <a:xfrm>
              <a:off x="8620560" y="5426640"/>
              <a:ext cx="1089360" cy="25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125"/>
                </a:spcBef>
                <a:spcAft>
                  <a:spcPts val="125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0" lang="en-US" sz="10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NIRI=LIOS+BMC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21" name="" descr=""/>
          <p:cNvPicPr/>
          <p:nvPr/>
        </p:nvPicPr>
        <p:blipFill>
          <a:blip r:embed="rId7"/>
          <a:srcRect l="4511" t="13458" r="4511" b="13458"/>
          <a:stretch/>
        </p:blipFill>
        <p:spPr>
          <a:xfrm>
            <a:off x="8214840" y="43560"/>
            <a:ext cx="1879920" cy="499320"/>
          </a:xfrm>
          <a:prstGeom prst="rect">
            <a:avLst/>
          </a:prstGeom>
          <a:ln w="0">
            <a:noFill/>
          </a:ln>
        </p:spPr>
      </p:pic>
      <p:sp>
        <p:nvSpPr>
          <p:cNvPr id="222" name="CustomShape 16"/>
          <p:cNvSpPr/>
          <p:nvPr/>
        </p:nvSpPr>
        <p:spPr>
          <a:xfrm>
            <a:off x="2207880" y="2467800"/>
            <a:ext cx="2007360" cy="1567080"/>
          </a:xfrm>
          <a:prstGeom prst="rect">
            <a:avLst/>
          </a:prstGeom>
          <a:noFill/>
          <a:ln w="36720">
            <a:solidFill>
              <a:srgbClr val="dc14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CustomShape 1"/>
          <p:cNvSpPr/>
          <p:nvPr/>
        </p:nvSpPr>
        <p:spPr>
          <a:xfrm>
            <a:off x="2206800" y="27360"/>
            <a:ext cx="5253120" cy="452520"/>
          </a:xfrm>
          <a:custGeom>
            <a:avLst/>
            <a:gdLst>
              <a:gd name="textAreaLeft" fmla="*/ 0 w 5253120"/>
              <a:gd name="textAreaRight" fmla="*/ 5255640 w 5253120"/>
              <a:gd name="textAreaTop" fmla="*/ 0 h 452520"/>
              <a:gd name="textAreaBottom" fmla="*/ 455040 h 4525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About you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CustomShape 2"/>
          <p:cNvSpPr/>
          <p:nvPr/>
        </p:nvSpPr>
        <p:spPr>
          <a:xfrm>
            <a:off x="2033280" y="914400"/>
            <a:ext cx="7337160" cy="29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Name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University / Institute / Company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Research interest(s)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Previous experience with computational analysis and bioinformatics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Motivation to join the course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Expectations from the course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" descr=""/>
          <p:cNvPicPr/>
          <p:nvPr/>
        </p:nvPicPr>
        <p:blipFill>
          <a:blip r:embed="rId1"/>
          <a:stretch/>
        </p:blipFill>
        <p:spPr>
          <a:xfrm>
            <a:off x="59040" y="66960"/>
            <a:ext cx="1270800" cy="445320"/>
          </a:xfrm>
          <a:prstGeom prst="rect">
            <a:avLst/>
          </a:prstGeom>
          <a:ln w="0">
            <a:noFill/>
          </a:ln>
        </p:spPr>
      </p:pic>
      <p:pic>
        <p:nvPicPr>
          <p:cNvPr id="226" name="" descr=""/>
          <p:cNvPicPr/>
          <p:nvPr/>
        </p:nvPicPr>
        <p:blipFill>
          <a:blip r:embed="rId2"/>
          <a:stretch/>
        </p:blipFill>
        <p:spPr>
          <a:xfrm>
            <a:off x="7955280" y="9720"/>
            <a:ext cx="2096280" cy="529560"/>
          </a:xfrm>
          <a:prstGeom prst="rect">
            <a:avLst/>
          </a:prstGeom>
          <a:ln w="0">
            <a:noFill/>
          </a:ln>
        </p:spPr>
      </p:pic>
      <p:pic>
        <p:nvPicPr>
          <p:cNvPr id="227" name="" descr=""/>
          <p:cNvPicPr/>
          <p:nvPr/>
        </p:nvPicPr>
        <p:blipFill>
          <a:blip r:embed="rId3"/>
          <a:stretch/>
        </p:blipFill>
        <p:spPr>
          <a:xfrm>
            <a:off x="25200" y="4667760"/>
            <a:ext cx="2068920" cy="96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23"/>
          <p:cNvSpPr/>
          <p:nvPr/>
        </p:nvSpPr>
        <p:spPr>
          <a:xfrm>
            <a:off x="2223360" y="70920"/>
            <a:ext cx="5253840" cy="453240"/>
          </a:xfrm>
          <a:custGeom>
            <a:avLst/>
            <a:gdLst>
              <a:gd name="textAreaLeft" fmla="*/ 0 w 5253840"/>
              <a:gd name="textAreaRight" fmla="*/ 5256360 w 5253840"/>
              <a:gd name="textAreaTop" fmla="*/ 0 h 453240"/>
              <a:gd name="textAreaBottom" fmla="*/ 455760 h 453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Course outline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CustomShape 24"/>
          <p:cNvSpPr/>
          <p:nvPr/>
        </p:nvSpPr>
        <p:spPr>
          <a:xfrm>
            <a:off x="881280" y="753840"/>
            <a:ext cx="8779680" cy="16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Day 1: introduction to next generation data analysis, GATK and ANGSD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Day2: dimensionality reduction with PCA, tSNE and UMAP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Day3: clustering methods, phylogenetic analysis, Admixture and Structure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Day4: selection scans with Fst, F-statistics for population structure, relation to PCA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Day5: capturing gene flow, introgression detection with D-statistic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0" name="" descr=""/>
          <p:cNvPicPr/>
          <p:nvPr/>
        </p:nvPicPr>
        <p:blipFill>
          <a:blip r:embed="rId1"/>
          <a:stretch/>
        </p:blipFill>
        <p:spPr>
          <a:xfrm>
            <a:off x="59400" y="67320"/>
            <a:ext cx="1270800" cy="445320"/>
          </a:xfrm>
          <a:prstGeom prst="rect">
            <a:avLst/>
          </a:prstGeom>
          <a:ln w="0">
            <a:noFill/>
          </a:ln>
        </p:spPr>
      </p:pic>
      <p:pic>
        <p:nvPicPr>
          <p:cNvPr id="231" name="" descr=""/>
          <p:cNvPicPr/>
          <p:nvPr/>
        </p:nvPicPr>
        <p:blipFill>
          <a:blip r:embed="rId2"/>
          <a:stretch/>
        </p:blipFill>
        <p:spPr>
          <a:xfrm>
            <a:off x="7955640" y="10080"/>
            <a:ext cx="2096280" cy="529560"/>
          </a:xfrm>
          <a:prstGeom prst="rect">
            <a:avLst/>
          </a:prstGeom>
          <a:ln w="0">
            <a:noFill/>
          </a:ln>
        </p:spPr>
      </p:pic>
      <p:pic>
        <p:nvPicPr>
          <p:cNvPr id="232" name="" descr=""/>
          <p:cNvPicPr/>
          <p:nvPr/>
        </p:nvPicPr>
        <p:blipFill>
          <a:blip r:embed="rId3"/>
          <a:stretch/>
        </p:blipFill>
        <p:spPr>
          <a:xfrm>
            <a:off x="156600" y="2362320"/>
            <a:ext cx="9851760" cy="328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" descr=""/>
          <p:cNvPicPr/>
          <p:nvPr/>
        </p:nvPicPr>
        <p:blipFill>
          <a:blip r:embed="rId1"/>
          <a:stretch/>
        </p:blipFill>
        <p:spPr>
          <a:xfrm>
            <a:off x="59760" y="67680"/>
            <a:ext cx="1270800" cy="445320"/>
          </a:xfrm>
          <a:prstGeom prst="rect">
            <a:avLst/>
          </a:prstGeom>
          <a:ln w="0">
            <a:noFill/>
          </a:ln>
        </p:spPr>
      </p:pic>
      <p:pic>
        <p:nvPicPr>
          <p:cNvPr id="234" name="" descr=""/>
          <p:cNvPicPr/>
          <p:nvPr/>
        </p:nvPicPr>
        <p:blipFill>
          <a:blip r:embed="rId2"/>
          <a:stretch/>
        </p:blipFill>
        <p:spPr>
          <a:xfrm>
            <a:off x="7956000" y="10440"/>
            <a:ext cx="2096280" cy="529560"/>
          </a:xfrm>
          <a:prstGeom prst="rect">
            <a:avLst/>
          </a:prstGeom>
          <a:ln w="0">
            <a:noFill/>
          </a:ln>
        </p:spPr>
      </p:pic>
      <p:sp>
        <p:nvSpPr>
          <p:cNvPr id="235" name="CustomShape 4"/>
          <p:cNvSpPr/>
          <p:nvPr/>
        </p:nvSpPr>
        <p:spPr>
          <a:xfrm>
            <a:off x="2223720" y="-37080"/>
            <a:ext cx="5253840" cy="453240"/>
          </a:xfrm>
          <a:custGeom>
            <a:avLst/>
            <a:gdLst>
              <a:gd name="textAreaLeft" fmla="*/ 0 w 5253840"/>
              <a:gd name="textAreaRight" fmla="*/ 5256360 w 5253840"/>
              <a:gd name="textAreaTop" fmla="*/ 0 h 453240"/>
              <a:gd name="textAreaBottom" fmla="*/ 455760 h 453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Course program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6" name="" descr=""/>
          <p:cNvPicPr/>
          <p:nvPr/>
        </p:nvPicPr>
        <p:blipFill>
          <a:blip r:embed="rId3"/>
          <a:srcRect l="11911" t="0" r="12496" b="0"/>
          <a:stretch/>
        </p:blipFill>
        <p:spPr>
          <a:xfrm>
            <a:off x="1662840" y="457200"/>
            <a:ext cx="6228000" cy="514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" descr=""/>
          <p:cNvPicPr/>
          <p:nvPr/>
        </p:nvPicPr>
        <p:blipFill>
          <a:blip r:embed="rId1"/>
          <a:stretch/>
        </p:blipFill>
        <p:spPr>
          <a:xfrm>
            <a:off x="58680" y="120600"/>
            <a:ext cx="1274400" cy="448920"/>
          </a:xfrm>
          <a:prstGeom prst="rect">
            <a:avLst/>
          </a:prstGeom>
          <a:ln w="0">
            <a:noFill/>
          </a:ln>
        </p:spPr>
      </p:pic>
      <p:pic>
        <p:nvPicPr>
          <p:cNvPr id="238" name="" descr=""/>
          <p:cNvPicPr/>
          <p:nvPr/>
        </p:nvPicPr>
        <p:blipFill>
          <a:blip r:embed="rId2"/>
          <a:stretch/>
        </p:blipFill>
        <p:spPr>
          <a:xfrm>
            <a:off x="7955280" y="98280"/>
            <a:ext cx="2099880" cy="533160"/>
          </a:xfrm>
          <a:prstGeom prst="rect">
            <a:avLst/>
          </a:prstGeom>
          <a:ln w="0">
            <a:noFill/>
          </a:ln>
        </p:spPr>
      </p:pic>
      <p:sp>
        <p:nvSpPr>
          <p:cNvPr id="239" name="CustomShape 25"/>
          <p:cNvSpPr/>
          <p:nvPr/>
        </p:nvSpPr>
        <p:spPr>
          <a:xfrm>
            <a:off x="2251080" y="63360"/>
            <a:ext cx="5253120" cy="453600"/>
          </a:xfrm>
          <a:custGeom>
            <a:avLst/>
            <a:gdLst>
              <a:gd name="textAreaLeft" fmla="*/ 0 w 5253120"/>
              <a:gd name="textAreaRight" fmla="*/ 5255640 w 5253120"/>
              <a:gd name="textAreaTop" fmla="*/ 0 h 453600"/>
              <a:gd name="textAreaBottom" fmla="*/ 456120 h 453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Housekeeping rules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CustomShape 26"/>
          <p:cNvSpPr/>
          <p:nvPr/>
        </p:nvSpPr>
        <p:spPr>
          <a:xfrm>
            <a:off x="543240" y="811800"/>
            <a:ext cx="8839080" cy="4500720"/>
          </a:xfrm>
          <a:custGeom>
            <a:avLst/>
            <a:gdLst>
              <a:gd name="textAreaLeft" fmla="*/ 0 w 8839080"/>
              <a:gd name="textAreaRight" fmla="*/ 8841600 w 8839080"/>
              <a:gd name="textAreaTop" fmla="*/ 0 h 4500720"/>
              <a:gd name="textAreaBottom" fmla="*/ 4503240 h 45007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Please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ask your questions anytime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, it is ok to interrupt me, or you can raise your hand and ask. You can also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ask questions online in the zoom chat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or later by email.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 kindly ask you to please keep your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webcams on for better communication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, this is of course not mandatory an up to you but will help me to adjust me explanations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course includes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10 lectures (~1 h each) and 10 practicals (~1.5 h each)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, there is a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15 min break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after each lecture and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1 h lunch break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every day of the course. We can potentially make longer breaks if needed.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During practicals, we will use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Rmarkdown and Jupyter notebooks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. At the end of each practical, I will use rendered html-versions of the notebooks to go through command lines with my explanations.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material is based on data and problems from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computational biology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, however the concepts discussed are general and can be applied for other types of data.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CustomShape 27"/>
          <p:cNvSpPr/>
          <p:nvPr/>
        </p:nvSpPr>
        <p:spPr>
          <a:xfrm>
            <a:off x="1746720" y="9720"/>
            <a:ext cx="5936400" cy="453240"/>
          </a:xfrm>
          <a:custGeom>
            <a:avLst/>
            <a:gdLst>
              <a:gd name="textAreaLeft" fmla="*/ 0 w 5936400"/>
              <a:gd name="textAreaRight" fmla="*/ 5938920 w 5936400"/>
              <a:gd name="textAreaTop" fmla="*/ 0 h 453240"/>
              <a:gd name="textAreaBottom" fmla="*/ 455760 h 453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Practical information: time and github repo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CustomShape 28"/>
          <p:cNvSpPr/>
          <p:nvPr/>
        </p:nvSpPr>
        <p:spPr>
          <a:xfrm>
            <a:off x="1051920" y="1113840"/>
            <a:ext cx="8318880" cy="29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course will take place</a:t>
            </a: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 from 2 pm to 8 pm UK time ( 3 pm to 9 pm CET)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The course GitHub repository containing lectures and exercises is: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br>
              <a:rPr sz="1800"/>
            </a:br>
            <a:r>
              <a:rPr b="1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/>
              </a:rPr>
              <a:t>https://github.com/NikolayOskolkov/PopGen_PopStructure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Please bookmark this address!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3" name="" descr=""/>
          <p:cNvPicPr/>
          <p:nvPr/>
        </p:nvPicPr>
        <p:blipFill>
          <a:blip r:embed="rId2"/>
          <a:stretch/>
        </p:blipFill>
        <p:spPr>
          <a:xfrm>
            <a:off x="59400" y="67320"/>
            <a:ext cx="1270800" cy="445320"/>
          </a:xfrm>
          <a:prstGeom prst="rect">
            <a:avLst/>
          </a:prstGeom>
          <a:ln w="0">
            <a:noFill/>
          </a:ln>
        </p:spPr>
      </p:pic>
      <p:pic>
        <p:nvPicPr>
          <p:cNvPr id="244" name="" descr=""/>
          <p:cNvPicPr/>
          <p:nvPr/>
        </p:nvPicPr>
        <p:blipFill>
          <a:blip r:embed="rId3"/>
          <a:stretch/>
        </p:blipFill>
        <p:spPr>
          <a:xfrm>
            <a:off x="7955640" y="10080"/>
            <a:ext cx="2096280" cy="529560"/>
          </a:xfrm>
          <a:prstGeom prst="rect">
            <a:avLst/>
          </a:prstGeom>
          <a:ln w="0">
            <a:noFill/>
          </a:ln>
        </p:spPr>
      </p:pic>
      <p:pic>
        <p:nvPicPr>
          <p:cNvPr id="245" name="" descr=""/>
          <p:cNvPicPr/>
          <p:nvPr/>
        </p:nvPicPr>
        <p:blipFill>
          <a:blip r:embed="rId4"/>
          <a:stretch/>
        </p:blipFill>
        <p:spPr>
          <a:xfrm>
            <a:off x="61200" y="4631760"/>
            <a:ext cx="2068920" cy="96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" descr=""/>
          <p:cNvPicPr/>
          <p:nvPr/>
        </p:nvPicPr>
        <p:blipFill>
          <a:blip r:embed="rId1"/>
          <a:stretch/>
        </p:blipFill>
        <p:spPr>
          <a:xfrm>
            <a:off x="745200" y="62280"/>
            <a:ext cx="8915400" cy="557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" descr=""/>
          <p:cNvPicPr/>
          <p:nvPr/>
        </p:nvPicPr>
        <p:blipFill>
          <a:blip r:embed="rId1"/>
          <a:stretch/>
        </p:blipFill>
        <p:spPr>
          <a:xfrm>
            <a:off x="972720" y="48600"/>
            <a:ext cx="8229600" cy="548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" descr=""/>
          <p:cNvPicPr/>
          <p:nvPr/>
        </p:nvPicPr>
        <p:blipFill>
          <a:blip r:embed="rId1"/>
          <a:stretch/>
        </p:blipFill>
        <p:spPr>
          <a:xfrm>
            <a:off x="601200" y="25920"/>
            <a:ext cx="9169560" cy="5532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CustomShape 35"/>
          <p:cNvSpPr/>
          <p:nvPr/>
        </p:nvSpPr>
        <p:spPr>
          <a:xfrm>
            <a:off x="454320" y="272880"/>
            <a:ext cx="9602280" cy="46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To run Jupyter notebooks on Google Colab please do the following: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1. Clone this repo: https://github.com/NikolayOskolkov/PopGen_PopStructure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2. Upload the repo to your Google drive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3. Start the Jupyter notebook from the Google drive and mount your google drive: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#Mount Google Drive to Colab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from google.colab import drive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drive.mount('/content/drive')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!ls -l /content/drive/MyDrive/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import 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os.chdir("/content/drive/MyDrive/data")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CustomShape 36"/>
          <p:cNvSpPr/>
          <p:nvPr/>
        </p:nvSpPr>
        <p:spPr>
          <a:xfrm>
            <a:off x="5497920" y="2695680"/>
            <a:ext cx="421740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f420e"/>
                </a:solidFill>
                <a:latin typeface="Arial"/>
                <a:ea typeface="DejaVu Sans"/>
              </a:rPr>
              <a:t>N.B. you need a Google account</a:t>
            </a:r>
            <a:br>
              <a:rPr sz="1800"/>
            </a:br>
            <a:r>
              <a:rPr b="0" lang="en-US" sz="2200" spc="-1" strike="noStrike">
                <a:solidFill>
                  <a:srgbClr val="ff420e"/>
                </a:solidFill>
                <a:latin typeface="Arial"/>
                <a:ea typeface="DejaVu Sans"/>
              </a:rPr>
              <a:t>to be able to run Google Colab!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1" name="" descr=""/>
          <p:cNvPicPr/>
          <p:nvPr/>
        </p:nvPicPr>
        <p:blipFill>
          <a:blip r:embed="rId1"/>
          <a:stretch/>
        </p:blipFill>
        <p:spPr>
          <a:xfrm>
            <a:off x="25200" y="4667760"/>
            <a:ext cx="2068920" cy="96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" descr=""/>
          <p:cNvPicPr/>
          <p:nvPr/>
        </p:nvPicPr>
        <p:blipFill>
          <a:blip r:embed="rId1"/>
          <a:stretch/>
        </p:blipFill>
        <p:spPr>
          <a:xfrm>
            <a:off x="9000" y="2880"/>
            <a:ext cx="10076760" cy="566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" descr=""/>
          <p:cNvPicPr/>
          <p:nvPr/>
        </p:nvPicPr>
        <p:blipFill>
          <a:blip r:embed="rId1"/>
          <a:stretch/>
        </p:blipFill>
        <p:spPr>
          <a:xfrm>
            <a:off x="457200" y="33840"/>
            <a:ext cx="9297360" cy="560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6699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2024-11-07T19:18:06Z</dcterms:created>
  <dc:creator>Nikolay Oskolkov</dc:creator>
  <dc:description/>
  <dc:language>en-US</dc:language>
  <cp:lastModifiedBy/>
  <cp:lastPrinted>2026-09-27T20:55:25Z</cp:lastPrinted>
  <dcterms:modified xsi:type="dcterms:W3CDTF">2026-09-27T21:27:02Z</dcterms:modified>
  <cp:revision>85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