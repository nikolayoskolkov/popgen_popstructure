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29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1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24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25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_rels/presentation.xml.rels" ContentType="application/vnd.openxmlformats-package.relationships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.jpeg" ContentType="image/jpeg"/>
  <Override PartName="/ppt/media/image20.png" ContentType="image/png"/>
  <Override PartName="/ppt/media/image14.png" ContentType="image/png"/>
  <Override PartName="/ppt/media/image5.png" ContentType="image/png"/>
  <Override PartName="/ppt/media/image37.png" ContentType="image/png"/>
  <Override PartName="/ppt/media/image9.png" ContentType="image/png"/>
  <Override PartName="/ppt/media/image18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4.png" ContentType="image/png"/>
  <Override PartName="/ppt/media/image40.png" ContentType="image/png"/>
  <Override PartName="/ppt/media/image41.png" ContentType="image/png"/>
  <Override PartName="/ppt/media/image30.png" ContentType="image/png"/>
  <Override PartName="/ppt/media/image42.png" ContentType="image/png"/>
  <Override PartName="/ppt/media/image31.png" ContentType="image/png"/>
  <Override PartName="/ppt/media/image43.png" ContentType="image/png"/>
  <Override PartName="/ppt/media/image32.png" ContentType="image/png"/>
  <Override PartName="/ppt/media/image44.png" ContentType="image/png"/>
  <Override PartName="/ppt/media/image12.png" ContentType="image/png"/>
  <Override PartName="/ppt/media/image3.png" ContentType="image/png"/>
  <Override PartName="/ppt/media/image35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39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media/image15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FD2947-B01B-495E-A6F8-A6BC4902F4D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7A3D5C6-3467-4558-91FF-DA1F0CE8E88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li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di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17B4F6-0589-4CF9-A82B-EAB5AA17724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ic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to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di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EF8B19-1347-4172-A8DA-20FB9949135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3.png"/><Relationship Id="rId8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2.jpeg"/><Relationship Id="rId4" Type="http://schemas.openxmlformats.org/officeDocument/2006/relationships/image" Target="../media/image1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.jpeg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1.png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5" Type="http://schemas.openxmlformats.org/officeDocument/2006/relationships/image" Target="../media/image2.jpeg"/><Relationship Id="rId6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8.png"/><Relationship Id="rId5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40.png"/><Relationship Id="rId5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2.png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3.png"/><Relationship Id="rId3" Type="http://schemas.openxmlformats.org/officeDocument/2006/relationships/image" Target="../media/image2.jpeg"/><Relationship Id="rId4" Type="http://schemas.openxmlformats.org/officeDocument/2006/relationships/slideLayout" Target="../slideLayouts/slideLayout2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4.png"/><Relationship Id="rId3" Type="http://schemas.openxmlformats.org/officeDocument/2006/relationships/image" Target="../media/image2.jpeg"/><Relationship Id="rId4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>
            <a:off x="58680" y="103320"/>
            <a:ext cx="1277640" cy="451800"/>
          </a:xfrm>
          <a:prstGeom prst="rect">
            <a:avLst/>
          </a:prstGeom>
          <a:ln w="0">
            <a:noFill/>
          </a:ln>
        </p:spPr>
      </p:pic>
      <p:pic>
        <p:nvPicPr>
          <p:cNvPr id="15" name="" descr=""/>
          <p:cNvPicPr/>
          <p:nvPr/>
        </p:nvPicPr>
        <p:blipFill>
          <a:blip r:embed="rId2"/>
          <a:stretch/>
        </p:blipFill>
        <p:spPr>
          <a:xfrm>
            <a:off x="8137440" y="81000"/>
            <a:ext cx="1920600" cy="536040"/>
          </a:xfrm>
          <a:prstGeom prst="rect">
            <a:avLst/>
          </a:prstGeom>
          <a:ln w="0">
            <a:noFill/>
          </a:ln>
        </p:spPr>
      </p:pic>
      <p:sp>
        <p:nvSpPr>
          <p:cNvPr id="16" name=""/>
          <p:cNvSpPr/>
          <p:nvPr/>
        </p:nvSpPr>
        <p:spPr>
          <a:xfrm>
            <a:off x="426960" y="660240"/>
            <a:ext cx="8961120" cy="9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84600" bIns="45000" anchor="t">
            <a:noAutofit/>
          </a:bodyPr>
          <a:p>
            <a:pPr algn="ctr"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2800" spc="-1" strike="noStrike">
                <a:solidFill>
                  <a:srgbClr val="3465a4"/>
                </a:solidFill>
                <a:latin typeface="Arial"/>
                <a:ea typeface="DejaVu Sans"/>
              </a:rPr>
              <a:t>Introduction to Clustering Complex Data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Nikolay Oskolkov, Group Leader (PI) at NIRI, Riga, Latvia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7332840" y="5351400"/>
            <a:ext cx="27219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Image adapted from www.stratio.com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8508960" y="2316240"/>
            <a:ext cx="13442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@NikolayOskolkov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" name="" descr=""/>
          <p:cNvPicPr/>
          <p:nvPr/>
        </p:nvPicPr>
        <p:blipFill>
          <a:blip r:embed="rId3"/>
          <a:srcRect l="58392" t="18655" r="0" b="20725"/>
          <a:stretch/>
        </p:blipFill>
        <p:spPr>
          <a:xfrm>
            <a:off x="9236160" y="1665360"/>
            <a:ext cx="779040" cy="637920"/>
          </a:xfrm>
          <a:prstGeom prst="rect">
            <a:avLst/>
          </a:prstGeom>
          <a:ln w="0">
            <a:noFill/>
          </a:ln>
        </p:spPr>
      </p:pic>
      <p:sp>
        <p:nvSpPr>
          <p:cNvPr id="20" name=""/>
          <p:cNvSpPr/>
          <p:nvPr/>
        </p:nvSpPr>
        <p:spPr>
          <a:xfrm>
            <a:off x="8339040" y="4960800"/>
            <a:ext cx="17665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Personal homepage: </a:t>
            </a:r>
            <a:br>
              <a:rPr sz="1800"/>
            </a:b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https://nikolay-oskolkov.com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" name="" descr=""/>
          <p:cNvPicPr/>
          <p:nvPr/>
        </p:nvPicPr>
        <p:blipFill>
          <a:blip r:embed="rId4"/>
          <a:srcRect l="11567" t="14531" r="7772" b="12490"/>
          <a:stretch/>
        </p:blipFill>
        <p:spPr>
          <a:xfrm>
            <a:off x="8726400" y="4021200"/>
            <a:ext cx="1004760" cy="909360"/>
          </a:xfrm>
          <a:prstGeom prst="rect">
            <a:avLst/>
          </a:prstGeom>
          <a:ln w="0">
            <a:noFill/>
          </a:ln>
        </p:spPr>
      </p:pic>
      <p:sp>
        <p:nvSpPr>
          <p:cNvPr id="22" name=""/>
          <p:cNvSpPr/>
          <p:nvPr/>
        </p:nvSpPr>
        <p:spPr>
          <a:xfrm>
            <a:off x="8410680" y="3578400"/>
            <a:ext cx="160920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9"/>
              </a:spcBef>
              <a:spcAft>
                <a:spcPts val="100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@oskolkov.bsky.social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" name="" descr=""/>
          <p:cNvPicPr/>
          <p:nvPr/>
        </p:nvPicPr>
        <p:blipFill>
          <a:blip r:embed="rId5"/>
          <a:stretch/>
        </p:blipFill>
        <p:spPr>
          <a:xfrm>
            <a:off x="8777160" y="2673360"/>
            <a:ext cx="911160" cy="899640"/>
          </a:xfrm>
          <a:prstGeom prst="rect">
            <a:avLst/>
          </a:prstGeom>
          <a:ln w="0">
            <a:noFill/>
          </a:ln>
        </p:spPr>
      </p:pic>
      <p:pic>
        <p:nvPicPr>
          <p:cNvPr id="24" name="" descr=""/>
          <p:cNvPicPr/>
          <p:nvPr/>
        </p:nvPicPr>
        <p:blipFill>
          <a:blip r:embed="rId6"/>
          <a:stretch/>
        </p:blipFill>
        <p:spPr>
          <a:xfrm>
            <a:off x="843120" y="1714680"/>
            <a:ext cx="7509960" cy="3496680"/>
          </a:xfrm>
          <a:prstGeom prst="rect">
            <a:avLst/>
          </a:prstGeom>
          <a:ln w="0">
            <a:noFill/>
          </a:ln>
        </p:spPr>
      </p:pic>
      <p:pic>
        <p:nvPicPr>
          <p:cNvPr id="25" name="" descr=""/>
          <p:cNvPicPr/>
          <p:nvPr/>
        </p:nvPicPr>
        <p:blipFill>
          <a:blip r:embed="rId7"/>
          <a:srcRect l="0" t="18655" r="56185" b="20725"/>
          <a:stretch/>
        </p:blipFill>
        <p:spPr>
          <a:xfrm>
            <a:off x="8354880" y="1665360"/>
            <a:ext cx="820440" cy="637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" descr=""/>
          <p:cNvPicPr/>
          <p:nvPr/>
        </p:nvPicPr>
        <p:blipFill>
          <a:blip r:embed="rId1"/>
          <a:srcRect l="0" t="3503" r="2320" b="8807"/>
          <a:stretch/>
        </p:blipFill>
        <p:spPr>
          <a:xfrm>
            <a:off x="6229440" y="988920"/>
            <a:ext cx="3382560" cy="1898280"/>
          </a:xfrm>
          <a:prstGeom prst="rect">
            <a:avLst/>
          </a:prstGeom>
          <a:ln w="0">
            <a:noFill/>
          </a:ln>
        </p:spPr>
      </p:pic>
      <p:pic>
        <p:nvPicPr>
          <p:cNvPr id="27" name="" descr=""/>
          <p:cNvPicPr/>
          <p:nvPr/>
        </p:nvPicPr>
        <p:blipFill>
          <a:blip r:embed="rId2"/>
          <a:stretch/>
        </p:blipFill>
        <p:spPr>
          <a:xfrm>
            <a:off x="58680" y="73080"/>
            <a:ext cx="1277640" cy="452160"/>
          </a:xfrm>
          <a:prstGeom prst="rect">
            <a:avLst/>
          </a:prstGeom>
          <a:ln w="0">
            <a:noFill/>
          </a:ln>
        </p:spPr>
      </p:pic>
      <p:pic>
        <p:nvPicPr>
          <p:cNvPr id="28" name="" descr=""/>
          <p:cNvPicPr/>
          <p:nvPr/>
        </p:nvPicPr>
        <p:blipFill>
          <a:blip r:embed="rId3"/>
          <a:stretch/>
        </p:blipFill>
        <p:spPr>
          <a:xfrm>
            <a:off x="7954920" y="50760"/>
            <a:ext cx="2103120" cy="536400"/>
          </a:xfrm>
          <a:prstGeom prst="rect">
            <a:avLst/>
          </a:prstGeom>
          <a:ln w="0">
            <a:noFill/>
          </a:ln>
        </p:spPr>
      </p:pic>
      <p:sp>
        <p:nvSpPr>
          <p:cNvPr id="29" name=""/>
          <p:cNvSpPr/>
          <p:nvPr/>
        </p:nvSpPr>
        <p:spPr>
          <a:xfrm>
            <a:off x="2160720" y="19080"/>
            <a:ext cx="525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Exploratory data analysis (EDA): </a:t>
            </a:r>
            <a:br>
              <a:rPr sz="2600"/>
            </a:b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dimensionality reduction and clustering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" name="" descr=""/>
          <p:cNvPicPr/>
          <p:nvPr/>
        </p:nvPicPr>
        <p:blipFill>
          <a:blip r:embed="rId4"/>
          <a:srcRect l="5572" t="7762" r="1151" b="23893"/>
          <a:stretch/>
        </p:blipFill>
        <p:spPr>
          <a:xfrm>
            <a:off x="6359400" y="2857680"/>
            <a:ext cx="3290760" cy="1698120"/>
          </a:xfrm>
          <a:prstGeom prst="rect">
            <a:avLst/>
          </a:prstGeom>
          <a:ln w="0">
            <a:noFill/>
          </a:ln>
        </p:spPr>
      </p:pic>
      <p:pic>
        <p:nvPicPr>
          <p:cNvPr id="31" name="" descr=""/>
          <p:cNvPicPr/>
          <p:nvPr/>
        </p:nvPicPr>
        <p:blipFill>
          <a:blip r:embed="rId5"/>
          <a:srcRect l="0" t="8322" r="2323" b="2879"/>
          <a:stretch/>
        </p:blipFill>
        <p:spPr>
          <a:xfrm>
            <a:off x="38160" y="973080"/>
            <a:ext cx="4716000" cy="3598560"/>
          </a:xfrm>
          <a:prstGeom prst="rect">
            <a:avLst/>
          </a:prstGeom>
          <a:ln w="0">
            <a:noFill/>
          </a:ln>
        </p:spPr>
      </p:pic>
      <p:sp>
        <p:nvSpPr>
          <p:cNvPr id="32" name=""/>
          <p:cNvSpPr/>
          <p:nvPr/>
        </p:nvSpPr>
        <p:spPr>
          <a:xfrm>
            <a:off x="635040" y="4699080"/>
            <a:ext cx="3698640" cy="5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 algn="ctr"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DejaVu Sans"/>
              </a:rPr>
              <a:t>Dimension reduction: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data pre-processing + visualization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5999040" y="4664160"/>
            <a:ext cx="3908160" cy="85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 algn="ctr"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DejaVu Sans"/>
              </a:rPr>
              <a:t>Cluster analysis: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formal grouping of data points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based on their similarity or difference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" name="" descr=""/>
          <p:cNvPicPr/>
          <p:nvPr/>
        </p:nvPicPr>
        <p:blipFill>
          <a:blip r:embed="rId6"/>
          <a:srcRect l="7564" t="12844" r="8144" b="21024"/>
          <a:stretch/>
        </p:blipFill>
        <p:spPr>
          <a:xfrm>
            <a:off x="5010120" y="2746440"/>
            <a:ext cx="1004400" cy="644040"/>
          </a:xfrm>
          <a:prstGeom prst="rect">
            <a:avLst/>
          </a:prstGeom>
          <a:ln w="0">
            <a:noFill/>
          </a:ln>
        </p:spPr>
      </p:pic>
      <p:sp>
        <p:nvSpPr>
          <p:cNvPr id="35" name=""/>
          <p:cNvSpPr/>
          <p:nvPr/>
        </p:nvSpPr>
        <p:spPr>
          <a:xfrm>
            <a:off x="4849920" y="3478320"/>
            <a:ext cx="128232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 algn="ctr"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400" spc="-1" strike="noStrike">
                <a:solidFill>
                  <a:srgbClr val="009500"/>
                </a:solidFill>
                <a:latin typeface="Arial"/>
                <a:ea typeface="DejaVu Sans"/>
              </a:rPr>
              <a:t>Working</a:t>
            </a:r>
            <a:br>
              <a:rPr sz="1400"/>
            </a:br>
            <a:r>
              <a:rPr b="1" lang="en-US" sz="1400" spc="-1" strike="noStrike">
                <a:solidFill>
                  <a:srgbClr val="009500"/>
                </a:solidFill>
                <a:latin typeface="Arial"/>
                <a:ea typeface="DejaVu Sans"/>
              </a:rPr>
              <a:t>hand in hand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>
            <a:off x="1895400" y="15840"/>
            <a:ext cx="5784480" cy="42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3000" bIns="45000" anchor="t">
            <a:noAutofit/>
          </a:bodyPr>
          <a:p>
            <a:pPr>
              <a:lnSpc>
                <a:spcPct val="94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400" spc="-1" strike="noStrike">
                <a:solidFill>
                  <a:srgbClr val="0066cc"/>
                </a:solidFill>
                <a:latin typeface="Arial"/>
                <a:ea typeface="Droid Sans Fallback"/>
              </a:rPr>
              <a:t>Cluster analysis logic and distance metric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" name="" descr=""/>
          <p:cNvPicPr/>
          <p:nvPr/>
        </p:nvPicPr>
        <p:blipFill>
          <a:blip r:embed="rId1"/>
          <a:stretch/>
        </p:blipFill>
        <p:spPr>
          <a:xfrm>
            <a:off x="7956720" y="7920"/>
            <a:ext cx="2102760" cy="536400"/>
          </a:xfrm>
          <a:prstGeom prst="rect">
            <a:avLst/>
          </a:prstGeom>
          <a:ln w="0">
            <a:noFill/>
          </a:ln>
        </p:spPr>
      </p:pic>
      <p:pic>
        <p:nvPicPr>
          <p:cNvPr id="38" name="" descr=""/>
          <p:cNvPicPr/>
          <p:nvPr/>
        </p:nvPicPr>
        <p:blipFill>
          <a:blip r:embed="rId2"/>
          <a:stretch/>
        </p:blipFill>
        <p:spPr>
          <a:xfrm>
            <a:off x="60480" y="31680"/>
            <a:ext cx="1277280" cy="452160"/>
          </a:xfrm>
          <a:prstGeom prst="rect">
            <a:avLst/>
          </a:prstGeom>
          <a:ln w="0">
            <a:noFill/>
          </a:ln>
        </p:spPr>
      </p:pic>
      <p:pic>
        <p:nvPicPr>
          <p:cNvPr id="39" name="" descr=""/>
          <p:cNvPicPr/>
          <p:nvPr/>
        </p:nvPicPr>
        <p:blipFill>
          <a:blip r:embed="rId3"/>
          <a:srcRect l="5346" t="16070" r="58354" b="33925"/>
          <a:stretch/>
        </p:blipFill>
        <p:spPr>
          <a:xfrm>
            <a:off x="81000" y="735120"/>
            <a:ext cx="5578200" cy="4322160"/>
          </a:xfrm>
          <a:prstGeom prst="rect">
            <a:avLst/>
          </a:prstGeom>
          <a:ln w="0">
            <a:noFill/>
          </a:ln>
        </p:spPr>
      </p:pic>
      <p:sp>
        <p:nvSpPr>
          <p:cNvPr id="40" name=""/>
          <p:cNvSpPr/>
          <p:nvPr/>
        </p:nvSpPr>
        <p:spPr>
          <a:xfrm>
            <a:off x="816120" y="1041480"/>
            <a:ext cx="1602720" cy="2468160"/>
          </a:xfrm>
          <a:prstGeom prst="ellipse">
            <a:avLst/>
          </a:prstGeom>
          <a:noFill/>
          <a:ln w="18360">
            <a:solidFill>
              <a:srgbClr val="ff00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" name=""/>
          <p:cNvSpPr/>
          <p:nvPr/>
        </p:nvSpPr>
        <p:spPr>
          <a:xfrm>
            <a:off x="2478240" y="1698480"/>
            <a:ext cx="1096560" cy="1736640"/>
          </a:xfrm>
          <a:prstGeom prst="ellipse">
            <a:avLst/>
          </a:prstGeom>
          <a:noFill/>
          <a:ln w="18360">
            <a:solidFill>
              <a:srgbClr val="0095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" name=""/>
          <p:cNvSpPr/>
          <p:nvPr/>
        </p:nvSpPr>
        <p:spPr>
          <a:xfrm>
            <a:off x="3703680" y="1606680"/>
            <a:ext cx="1352160" cy="2010960"/>
          </a:xfrm>
          <a:prstGeom prst="ellipse">
            <a:avLst/>
          </a:prstGeom>
          <a:noFill/>
          <a:ln w="18360">
            <a:solidFill>
              <a:srgbClr val="4b1f6f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3" name="" descr=""/>
          <p:cNvPicPr/>
          <p:nvPr/>
        </p:nvPicPr>
        <p:blipFill>
          <a:blip r:embed="rId4"/>
          <a:srcRect l="34372" t="19297" r="25705" b="3286"/>
          <a:stretch/>
        </p:blipFill>
        <p:spPr>
          <a:xfrm>
            <a:off x="5759280" y="731880"/>
            <a:ext cx="4190760" cy="4571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dur="indefinite" fill="hold">
                      <p:stCondLst>
                        <p:cond delay="indefinite"/>
                      </p:stCondLst>
                      <p:childTnLst>
                        <p:par>
                          <p:cTn id="4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dur="indefinite" fill="hold">
                      <p:stCondLst>
                        <p:cond delay="indefinite"/>
                      </p:stCondLst>
                      <p:childTnLst>
                        <p:par>
                          <p:cTn id="8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9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dur="indefinite" fill="hold">
                      <p:stCondLst>
                        <p:cond delay="indefinite"/>
                      </p:stCondLst>
                      <p:childTnLst>
                        <p:par>
                          <p:cTn id="12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13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dur="indefinite" fill="hold">
                      <p:stCondLst>
                        <p:cond delay="indefinite"/>
                      </p:stCondLst>
                      <p:childTnLst>
                        <p:par>
                          <p:cTn id="16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17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420840" y="509760"/>
            <a:ext cx="9284760" cy="4777920"/>
          </a:xfrm>
          <a:prstGeom prst="rect">
            <a:avLst/>
          </a:prstGeom>
          <a:ln w="0">
            <a:noFill/>
          </a:ln>
        </p:spPr>
      </p:pic>
      <p:sp>
        <p:nvSpPr>
          <p:cNvPr id="45" name=""/>
          <p:cNvSpPr/>
          <p:nvPr/>
        </p:nvSpPr>
        <p:spPr>
          <a:xfrm>
            <a:off x="1644480" y="15840"/>
            <a:ext cx="6145200" cy="42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3000" bIns="45000" anchor="t">
            <a:noAutofit/>
          </a:bodyPr>
          <a:p>
            <a:pPr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400" spc="-1" strike="noStrike">
                <a:solidFill>
                  <a:srgbClr val="0066cc"/>
                </a:solidFill>
                <a:latin typeface="Arial"/>
                <a:ea typeface="Droid Sans Fallback"/>
              </a:rPr>
              <a:t>Huge variety of clustering methods available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363600" y="5324400"/>
            <a:ext cx="929592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400" spc="-1" strike="noStrike">
                <a:solidFill>
                  <a:srgbClr val="ff0000"/>
                </a:solidFill>
                <a:latin typeface="Arial"/>
                <a:ea typeface="Droid Sans Fallback"/>
              </a:rPr>
              <a:t>1) Hierarchical Clustering, 2) Partitioning Clustering, 3) Density-Based Clustering, 4) Graph-Based Clustering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" name="" descr=""/>
          <p:cNvPicPr/>
          <p:nvPr/>
        </p:nvPicPr>
        <p:blipFill>
          <a:blip r:embed="rId2"/>
          <a:stretch/>
        </p:blipFill>
        <p:spPr>
          <a:xfrm>
            <a:off x="7956720" y="7920"/>
            <a:ext cx="2102760" cy="536400"/>
          </a:xfrm>
          <a:prstGeom prst="rect">
            <a:avLst/>
          </a:prstGeom>
          <a:ln w="0">
            <a:noFill/>
          </a:ln>
        </p:spPr>
      </p:pic>
      <p:pic>
        <p:nvPicPr>
          <p:cNvPr id="48" name="" descr=""/>
          <p:cNvPicPr/>
          <p:nvPr/>
        </p:nvPicPr>
        <p:blipFill>
          <a:blip r:embed="rId3"/>
          <a:stretch/>
        </p:blipFill>
        <p:spPr>
          <a:xfrm>
            <a:off x="60480" y="31680"/>
            <a:ext cx="1277280" cy="45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1809720" y="1682640"/>
            <a:ext cx="62244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7040" bIns="45000" anchor="t">
            <a:noAutofit/>
          </a:bodyPr>
          <a:p>
            <a:pPr algn="ctr"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3600" spc="-1" strike="noStrike">
                <a:solidFill>
                  <a:srgbClr val="0066cc"/>
                </a:solidFill>
                <a:latin typeface="Arial"/>
                <a:ea typeface="DejaVu Sans"/>
              </a:rPr>
              <a:t>Hierarchical clustering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" name="" descr=""/>
          <p:cNvPicPr/>
          <p:nvPr/>
        </p:nvPicPr>
        <p:blipFill>
          <a:blip r:embed="rId1"/>
          <a:stretch/>
        </p:blipFill>
        <p:spPr>
          <a:xfrm>
            <a:off x="7954920" y="55440"/>
            <a:ext cx="2103120" cy="536400"/>
          </a:xfrm>
          <a:prstGeom prst="rect">
            <a:avLst/>
          </a:prstGeom>
          <a:ln w="0">
            <a:noFill/>
          </a:ln>
        </p:spPr>
      </p:pic>
      <p:pic>
        <p:nvPicPr>
          <p:cNvPr id="51" name="" descr=""/>
          <p:cNvPicPr/>
          <p:nvPr/>
        </p:nvPicPr>
        <p:blipFill>
          <a:blip r:embed="rId2"/>
          <a:stretch/>
        </p:blipFill>
        <p:spPr>
          <a:xfrm>
            <a:off x="58680" y="77760"/>
            <a:ext cx="1277640" cy="45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" descr=""/>
          <p:cNvPicPr/>
          <p:nvPr/>
        </p:nvPicPr>
        <p:blipFill>
          <a:blip r:embed="rId1"/>
          <a:stretch/>
        </p:blipFill>
        <p:spPr>
          <a:xfrm>
            <a:off x="7954920" y="55440"/>
            <a:ext cx="2103120" cy="536400"/>
          </a:xfrm>
          <a:prstGeom prst="rect">
            <a:avLst/>
          </a:prstGeom>
          <a:ln w="0">
            <a:noFill/>
          </a:ln>
        </p:spPr>
      </p:pic>
      <p:pic>
        <p:nvPicPr>
          <p:cNvPr id="53" name="" descr=""/>
          <p:cNvPicPr/>
          <p:nvPr/>
        </p:nvPicPr>
        <p:blipFill>
          <a:blip r:embed="rId2"/>
          <a:stretch/>
        </p:blipFill>
        <p:spPr>
          <a:xfrm>
            <a:off x="58680" y="77760"/>
            <a:ext cx="1277640" cy="452160"/>
          </a:xfrm>
          <a:prstGeom prst="rect">
            <a:avLst/>
          </a:prstGeom>
          <a:ln w="0">
            <a:noFill/>
          </a:ln>
        </p:spPr>
      </p:pic>
      <p:sp>
        <p:nvSpPr>
          <p:cNvPr id="54" name=""/>
          <p:cNvSpPr/>
          <p:nvPr/>
        </p:nvSpPr>
        <p:spPr>
          <a:xfrm>
            <a:off x="2252520" y="61920"/>
            <a:ext cx="5256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What is hierarchical clustering?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" descr=""/>
          <p:cNvPicPr/>
          <p:nvPr/>
        </p:nvPicPr>
        <p:blipFill>
          <a:blip r:embed="rId3"/>
          <a:srcRect l="0" t="3503" r="2320" b="8807"/>
          <a:stretch/>
        </p:blipFill>
        <p:spPr>
          <a:xfrm>
            <a:off x="1724040" y="1320840"/>
            <a:ext cx="6444720" cy="36176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644400" y="665280"/>
            <a:ext cx="843084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009500"/>
                </a:solidFill>
                <a:latin typeface="Arial"/>
                <a:ea typeface="DejaVu Sans"/>
              </a:rPr>
              <a:t>Clusters are nested (higher-ranked clusters contain lower-ranked clusters),</a:t>
            </a:r>
            <a:br>
              <a:rPr sz="1800"/>
            </a:br>
            <a:r>
              <a:rPr b="0" lang="en-US" sz="1800" spc="-1" strike="noStrike">
                <a:solidFill>
                  <a:srgbClr val="009500"/>
                </a:solidFill>
                <a:latin typeface="Arial"/>
                <a:ea typeface="DejaVu Sans"/>
              </a:rPr>
              <a:t>in other words tree-like structure (dendrogram)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568440" y="4991040"/>
            <a:ext cx="8975160" cy="59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 algn="ctr"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800" spc="-1" strike="noStrike">
                <a:solidFill>
                  <a:srgbClr val="ff0000"/>
                </a:solidFill>
                <a:latin typeface="Arial"/>
                <a:ea typeface="DejaVu Sans"/>
              </a:rPr>
              <a:t>There are agglomerative (bottom-up approach) and divisive (top-down approach)</a:t>
            </a:r>
            <a:br>
              <a:rPr sz="1800"/>
            </a:br>
            <a:r>
              <a:rPr b="1" lang="en-US" sz="1800" spc="-1" strike="noStrike">
                <a:solidFill>
                  <a:srgbClr val="ff0000"/>
                </a:solidFill>
                <a:latin typeface="Arial"/>
                <a:ea typeface="DejaVu Sans"/>
              </a:rPr>
              <a:t>types of hierarchical clustering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" descr=""/>
          <p:cNvPicPr/>
          <p:nvPr/>
        </p:nvPicPr>
        <p:blipFill>
          <a:blip r:embed="rId1"/>
          <a:stretch/>
        </p:blipFill>
        <p:spPr>
          <a:xfrm>
            <a:off x="7954920" y="55440"/>
            <a:ext cx="2103120" cy="536400"/>
          </a:xfrm>
          <a:prstGeom prst="rect">
            <a:avLst/>
          </a:prstGeom>
          <a:ln w="0">
            <a:noFill/>
          </a:ln>
        </p:spPr>
      </p:pic>
      <p:pic>
        <p:nvPicPr>
          <p:cNvPr id="59" name="" descr=""/>
          <p:cNvPicPr/>
          <p:nvPr/>
        </p:nvPicPr>
        <p:blipFill>
          <a:blip r:embed="rId2"/>
          <a:stretch/>
        </p:blipFill>
        <p:spPr>
          <a:xfrm>
            <a:off x="58680" y="77760"/>
            <a:ext cx="1277640" cy="452160"/>
          </a:xfrm>
          <a:prstGeom prst="rect">
            <a:avLst/>
          </a:prstGeom>
          <a:ln w="0">
            <a:noFill/>
          </a:ln>
        </p:spPr>
      </p:pic>
      <p:sp>
        <p:nvSpPr>
          <p:cNvPr id="60" name=""/>
          <p:cNvSpPr/>
          <p:nvPr/>
        </p:nvSpPr>
        <p:spPr>
          <a:xfrm>
            <a:off x="2254320" y="61920"/>
            <a:ext cx="525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Agglomerative hierarchical clustering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182520" y="731880"/>
            <a:ext cx="4754160" cy="4663800"/>
          </a:xfrm>
          <a:prstGeom prst="rect">
            <a:avLst/>
          </a:prstGeom>
          <a:noFill/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" name=""/>
          <p:cNvSpPr/>
          <p:nvPr/>
        </p:nvSpPr>
        <p:spPr>
          <a:xfrm>
            <a:off x="5114880" y="731880"/>
            <a:ext cx="4754160" cy="4663800"/>
          </a:xfrm>
          <a:prstGeom prst="rect">
            <a:avLst/>
          </a:prstGeom>
          <a:noFill/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pSp>
        <p:nvGrpSpPr>
          <p:cNvPr id="63" name=""/>
          <p:cNvGrpSpPr/>
          <p:nvPr/>
        </p:nvGrpSpPr>
        <p:grpSpPr>
          <a:xfrm>
            <a:off x="642960" y="3149640"/>
            <a:ext cx="390240" cy="266400"/>
            <a:chOff x="642960" y="3149640"/>
            <a:chExt cx="390240" cy="266400"/>
          </a:xfrm>
        </p:grpSpPr>
        <p:sp>
          <p:nvSpPr>
            <p:cNvPr id="64" name=""/>
            <p:cNvSpPr/>
            <p:nvPr/>
          </p:nvSpPr>
          <p:spPr>
            <a:xfrm>
              <a:off x="676440" y="3149640"/>
              <a:ext cx="26604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65" name=""/>
            <p:cNvSpPr/>
            <p:nvPr/>
          </p:nvSpPr>
          <p:spPr>
            <a:xfrm>
              <a:off x="642960" y="3152880"/>
              <a:ext cx="39024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S3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6" name=""/>
          <p:cNvGrpSpPr/>
          <p:nvPr/>
        </p:nvGrpSpPr>
        <p:grpSpPr>
          <a:xfrm>
            <a:off x="1614600" y="3654360"/>
            <a:ext cx="389880" cy="266400"/>
            <a:chOff x="1614600" y="3654360"/>
            <a:chExt cx="389880" cy="266400"/>
          </a:xfrm>
        </p:grpSpPr>
        <p:sp>
          <p:nvSpPr>
            <p:cNvPr id="67" name=""/>
            <p:cNvSpPr/>
            <p:nvPr/>
          </p:nvSpPr>
          <p:spPr>
            <a:xfrm>
              <a:off x="1647720" y="365436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68" name=""/>
            <p:cNvSpPr/>
            <p:nvPr/>
          </p:nvSpPr>
          <p:spPr>
            <a:xfrm>
              <a:off x="1614600" y="365760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S2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9" name=""/>
          <p:cNvGrpSpPr/>
          <p:nvPr/>
        </p:nvGrpSpPr>
        <p:grpSpPr>
          <a:xfrm>
            <a:off x="318960" y="4807080"/>
            <a:ext cx="390240" cy="266040"/>
            <a:chOff x="318960" y="4807080"/>
            <a:chExt cx="390240" cy="266040"/>
          </a:xfrm>
        </p:grpSpPr>
        <p:sp>
          <p:nvSpPr>
            <p:cNvPr id="70" name=""/>
            <p:cNvSpPr/>
            <p:nvPr/>
          </p:nvSpPr>
          <p:spPr>
            <a:xfrm>
              <a:off x="351000" y="4807080"/>
              <a:ext cx="266040" cy="26604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71" name=""/>
            <p:cNvSpPr/>
            <p:nvPr/>
          </p:nvSpPr>
          <p:spPr>
            <a:xfrm>
              <a:off x="318960" y="4809960"/>
              <a:ext cx="39024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S1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2" name=""/>
          <p:cNvGrpSpPr/>
          <p:nvPr/>
        </p:nvGrpSpPr>
        <p:grpSpPr>
          <a:xfrm>
            <a:off x="2873520" y="1609560"/>
            <a:ext cx="389880" cy="266400"/>
            <a:chOff x="2873520" y="1609560"/>
            <a:chExt cx="389880" cy="266400"/>
          </a:xfrm>
        </p:grpSpPr>
        <p:sp>
          <p:nvSpPr>
            <p:cNvPr id="73" name=""/>
            <p:cNvSpPr/>
            <p:nvPr/>
          </p:nvSpPr>
          <p:spPr>
            <a:xfrm>
              <a:off x="2906640" y="160956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74" name=""/>
            <p:cNvSpPr/>
            <p:nvPr/>
          </p:nvSpPr>
          <p:spPr>
            <a:xfrm>
              <a:off x="2873520" y="161280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S5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5" name=""/>
          <p:cNvGrpSpPr/>
          <p:nvPr/>
        </p:nvGrpSpPr>
        <p:grpSpPr>
          <a:xfrm>
            <a:off x="3911760" y="1347840"/>
            <a:ext cx="389880" cy="266400"/>
            <a:chOff x="3911760" y="1347840"/>
            <a:chExt cx="389880" cy="266400"/>
          </a:xfrm>
        </p:grpSpPr>
        <p:sp>
          <p:nvSpPr>
            <p:cNvPr id="76" name=""/>
            <p:cNvSpPr/>
            <p:nvPr/>
          </p:nvSpPr>
          <p:spPr>
            <a:xfrm>
              <a:off x="3944880" y="134784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77" name=""/>
            <p:cNvSpPr/>
            <p:nvPr/>
          </p:nvSpPr>
          <p:spPr>
            <a:xfrm>
              <a:off x="3911760" y="134784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S7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8" name=""/>
          <p:cNvGrpSpPr/>
          <p:nvPr/>
        </p:nvGrpSpPr>
        <p:grpSpPr>
          <a:xfrm>
            <a:off x="3549600" y="1335240"/>
            <a:ext cx="390240" cy="266040"/>
            <a:chOff x="3549600" y="1335240"/>
            <a:chExt cx="390240" cy="266040"/>
          </a:xfrm>
        </p:grpSpPr>
        <p:sp>
          <p:nvSpPr>
            <p:cNvPr id="79" name=""/>
            <p:cNvSpPr/>
            <p:nvPr/>
          </p:nvSpPr>
          <p:spPr>
            <a:xfrm>
              <a:off x="3583080" y="1335240"/>
              <a:ext cx="266400" cy="26604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80" name=""/>
            <p:cNvSpPr/>
            <p:nvPr/>
          </p:nvSpPr>
          <p:spPr>
            <a:xfrm>
              <a:off x="3549600" y="1338120"/>
              <a:ext cx="39024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S6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1" name=""/>
          <p:cNvGrpSpPr/>
          <p:nvPr/>
        </p:nvGrpSpPr>
        <p:grpSpPr>
          <a:xfrm>
            <a:off x="4494240" y="3511440"/>
            <a:ext cx="390240" cy="266400"/>
            <a:chOff x="4494240" y="3511440"/>
            <a:chExt cx="390240" cy="266400"/>
          </a:xfrm>
        </p:grpSpPr>
        <p:sp>
          <p:nvSpPr>
            <p:cNvPr id="82" name=""/>
            <p:cNvSpPr/>
            <p:nvPr/>
          </p:nvSpPr>
          <p:spPr>
            <a:xfrm>
              <a:off x="4527720" y="3511440"/>
              <a:ext cx="26604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83" name=""/>
            <p:cNvSpPr/>
            <p:nvPr/>
          </p:nvSpPr>
          <p:spPr>
            <a:xfrm>
              <a:off x="4494240" y="3514680"/>
              <a:ext cx="39024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S4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84" name=""/>
          <p:cNvSpPr/>
          <p:nvPr/>
        </p:nvSpPr>
        <p:spPr>
          <a:xfrm flipV="1">
            <a:off x="5394240" y="2903040"/>
            <a:ext cx="1800" cy="24987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" name=""/>
          <p:cNvSpPr/>
          <p:nvPr/>
        </p:nvSpPr>
        <p:spPr>
          <a:xfrm flipV="1">
            <a:off x="6151680" y="3286080"/>
            <a:ext cx="7920" cy="211608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" name=""/>
          <p:cNvSpPr/>
          <p:nvPr/>
        </p:nvSpPr>
        <p:spPr>
          <a:xfrm flipV="1">
            <a:off x="6780240" y="3287880"/>
            <a:ext cx="1440" cy="211608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" name=""/>
          <p:cNvSpPr/>
          <p:nvPr/>
        </p:nvSpPr>
        <p:spPr>
          <a:xfrm flipV="1">
            <a:off x="7472520" y="2373480"/>
            <a:ext cx="1440" cy="303048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" name=""/>
          <p:cNvSpPr/>
          <p:nvPr/>
        </p:nvSpPr>
        <p:spPr>
          <a:xfrm flipV="1">
            <a:off x="8434440" y="4109760"/>
            <a:ext cx="1440" cy="12920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" name=""/>
          <p:cNvSpPr/>
          <p:nvPr/>
        </p:nvSpPr>
        <p:spPr>
          <a:xfrm flipV="1">
            <a:off x="8886960" y="4657680"/>
            <a:ext cx="1440" cy="74448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" name=""/>
          <p:cNvSpPr/>
          <p:nvPr/>
        </p:nvSpPr>
        <p:spPr>
          <a:xfrm flipV="1">
            <a:off x="9570960" y="4657680"/>
            <a:ext cx="1800" cy="74448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" name=""/>
          <p:cNvSpPr/>
          <p:nvPr/>
        </p:nvSpPr>
        <p:spPr>
          <a:xfrm>
            <a:off x="8886960" y="4660920"/>
            <a:ext cx="684000" cy="14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" name=""/>
          <p:cNvSpPr/>
          <p:nvPr/>
        </p:nvSpPr>
        <p:spPr>
          <a:xfrm flipV="1">
            <a:off x="9210600" y="4106520"/>
            <a:ext cx="1800" cy="5396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3" name=""/>
          <p:cNvSpPr/>
          <p:nvPr/>
        </p:nvSpPr>
        <p:spPr>
          <a:xfrm>
            <a:off x="8418600" y="4097160"/>
            <a:ext cx="792000" cy="129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3840" bIns="-338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" name=""/>
          <p:cNvSpPr/>
          <p:nvPr/>
        </p:nvSpPr>
        <p:spPr>
          <a:xfrm flipV="1">
            <a:off x="8837640" y="2371680"/>
            <a:ext cx="1440" cy="17337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" name=""/>
          <p:cNvSpPr/>
          <p:nvPr/>
        </p:nvSpPr>
        <p:spPr>
          <a:xfrm>
            <a:off x="7483320" y="2368440"/>
            <a:ext cx="1354320" cy="79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8880" bIns="-3888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" name=""/>
          <p:cNvSpPr/>
          <p:nvPr/>
        </p:nvSpPr>
        <p:spPr>
          <a:xfrm>
            <a:off x="6159600" y="3292560"/>
            <a:ext cx="620640" cy="14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7" name=""/>
          <p:cNvSpPr/>
          <p:nvPr/>
        </p:nvSpPr>
        <p:spPr>
          <a:xfrm flipV="1">
            <a:off x="6475320" y="2916000"/>
            <a:ext cx="1800" cy="3985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" name=""/>
          <p:cNvSpPr/>
          <p:nvPr/>
        </p:nvSpPr>
        <p:spPr>
          <a:xfrm>
            <a:off x="5394240" y="2908440"/>
            <a:ext cx="1079640" cy="1260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9" name=""/>
          <p:cNvSpPr/>
          <p:nvPr/>
        </p:nvSpPr>
        <p:spPr>
          <a:xfrm flipV="1">
            <a:off x="5913360" y="1091880"/>
            <a:ext cx="1800" cy="18255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" name=""/>
          <p:cNvSpPr/>
          <p:nvPr/>
        </p:nvSpPr>
        <p:spPr>
          <a:xfrm flipV="1">
            <a:off x="8116920" y="1092240"/>
            <a:ext cx="1440" cy="12859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1" name=""/>
          <p:cNvSpPr/>
          <p:nvPr/>
        </p:nvSpPr>
        <p:spPr>
          <a:xfrm>
            <a:off x="5913360" y="1096920"/>
            <a:ext cx="2205000" cy="205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6280" bIns="-2628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" name=""/>
          <p:cNvSpPr/>
          <p:nvPr/>
        </p:nvSpPr>
        <p:spPr>
          <a:xfrm flipV="1">
            <a:off x="7015320" y="819000"/>
            <a:ext cx="1440" cy="3002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" name=""/>
          <p:cNvSpPr/>
          <p:nvPr/>
        </p:nvSpPr>
        <p:spPr>
          <a:xfrm>
            <a:off x="8717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9401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8285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518940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598176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659304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731376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5114880" y="5121360"/>
            <a:ext cx="4754520" cy="1440"/>
          </a:xfrm>
          <a:prstGeom prst="line">
            <a:avLst/>
          </a:prstGeom>
          <a:ln w="18360">
            <a:solidFill>
              <a:srgbClr val="0000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" descr=""/>
          <p:cNvPicPr/>
          <p:nvPr/>
        </p:nvPicPr>
        <p:blipFill>
          <a:blip r:embed="rId1"/>
          <a:stretch/>
        </p:blipFill>
        <p:spPr>
          <a:xfrm>
            <a:off x="7954920" y="55440"/>
            <a:ext cx="2103120" cy="536400"/>
          </a:xfrm>
          <a:prstGeom prst="rect">
            <a:avLst/>
          </a:prstGeom>
          <a:ln w="0">
            <a:noFill/>
          </a:ln>
        </p:spPr>
      </p:pic>
      <p:pic>
        <p:nvPicPr>
          <p:cNvPr id="112" name="" descr=""/>
          <p:cNvPicPr/>
          <p:nvPr/>
        </p:nvPicPr>
        <p:blipFill>
          <a:blip r:embed="rId2"/>
          <a:stretch/>
        </p:blipFill>
        <p:spPr>
          <a:xfrm>
            <a:off x="58680" y="77760"/>
            <a:ext cx="1277640" cy="452160"/>
          </a:xfrm>
          <a:prstGeom prst="rect">
            <a:avLst/>
          </a:prstGeom>
          <a:ln w="0">
            <a:noFill/>
          </a:ln>
        </p:spPr>
      </p:pic>
      <p:sp>
        <p:nvSpPr>
          <p:cNvPr id="113" name=""/>
          <p:cNvSpPr/>
          <p:nvPr/>
        </p:nvSpPr>
        <p:spPr>
          <a:xfrm>
            <a:off x="2254320" y="61920"/>
            <a:ext cx="525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Agglomerative hierarchical clustering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182520" y="731880"/>
            <a:ext cx="4754160" cy="4663800"/>
          </a:xfrm>
          <a:prstGeom prst="rect">
            <a:avLst/>
          </a:prstGeom>
          <a:noFill/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" name=""/>
          <p:cNvSpPr/>
          <p:nvPr/>
        </p:nvSpPr>
        <p:spPr>
          <a:xfrm>
            <a:off x="5114880" y="731880"/>
            <a:ext cx="4754160" cy="4663800"/>
          </a:xfrm>
          <a:prstGeom prst="rect">
            <a:avLst/>
          </a:prstGeom>
          <a:noFill/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pSp>
        <p:nvGrpSpPr>
          <p:cNvPr id="116" name=""/>
          <p:cNvGrpSpPr/>
          <p:nvPr/>
        </p:nvGrpSpPr>
        <p:grpSpPr>
          <a:xfrm>
            <a:off x="642960" y="3149640"/>
            <a:ext cx="390240" cy="266400"/>
            <a:chOff x="642960" y="3149640"/>
            <a:chExt cx="390240" cy="266400"/>
          </a:xfrm>
        </p:grpSpPr>
        <p:sp>
          <p:nvSpPr>
            <p:cNvPr id="117" name=""/>
            <p:cNvSpPr/>
            <p:nvPr/>
          </p:nvSpPr>
          <p:spPr>
            <a:xfrm>
              <a:off x="676440" y="3149640"/>
              <a:ext cx="26604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18" name=""/>
            <p:cNvSpPr/>
            <p:nvPr/>
          </p:nvSpPr>
          <p:spPr>
            <a:xfrm>
              <a:off x="642960" y="3152880"/>
              <a:ext cx="39024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S3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9" name=""/>
          <p:cNvGrpSpPr/>
          <p:nvPr/>
        </p:nvGrpSpPr>
        <p:grpSpPr>
          <a:xfrm>
            <a:off x="1614600" y="3654360"/>
            <a:ext cx="389880" cy="266400"/>
            <a:chOff x="1614600" y="3654360"/>
            <a:chExt cx="389880" cy="266400"/>
          </a:xfrm>
        </p:grpSpPr>
        <p:sp>
          <p:nvSpPr>
            <p:cNvPr id="120" name=""/>
            <p:cNvSpPr/>
            <p:nvPr/>
          </p:nvSpPr>
          <p:spPr>
            <a:xfrm>
              <a:off x="1647720" y="365436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21" name=""/>
            <p:cNvSpPr/>
            <p:nvPr/>
          </p:nvSpPr>
          <p:spPr>
            <a:xfrm>
              <a:off x="1614600" y="365760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S2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2" name=""/>
          <p:cNvGrpSpPr/>
          <p:nvPr/>
        </p:nvGrpSpPr>
        <p:grpSpPr>
          <a:xfrm>
            <a:off x="318960" y="4807080"/>
            <a:ext cx="390240" cy="266040"/>
            <a:chOff x="318960" y="4807080"/>
            <a:chExt cx="390240" cy="266040"/>
          </a:xfrm>
        </p:grpSpPr>
        <p:sp>
          <p:nvSpPr>
            <p:cNvPr id="123" name=""/>
            <p:cNvSpPr/>
            <p:nvPr/>
          </p:nvSpPr>
          <p:spPr>
            <a:xfrm>
              <a:off x="351000" y="4807080"/>
              <a:ext cx="266040" cy="26604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24" name=""/>
            <p:cNvSpPr/>
            <p:nvPr/>
          </p:nvSpPr>
          <p:spPr>
            <a:xfrm>
              <a:off x="318960" y="4809960"/>
              <a:ext cx="39024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S1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5" name=""/>
          <p:cNvGrpSpPr/>
          <p:nvPr/>
        </p:nvGrpSpPr>
        <p:grpSpPr>
          <a:xfrm>
            <a:off x="2873520" y="1609560"/>
            <a:ext cx="389880" cy="266400"/>
            <a:chOff x="2873520" y="1609560"/>
            <a:chExt cx="389880" cy="266400"/>
          </a:xfrm>
        </p:grpSpPr>
        <p:sp>
          <p:nvSpPr>
            <p:cNvPr id="126" name=""/>
            <p:cNvSpPr/>
            <p:nvPr/>
          </p:nvSpPr>
          <p:spPr>
            <a:xfrm>
              <a:off x="2906640" y="160956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27" name=""/>
            <p:cNvSpPr/>
            <p:nvPr/>
          </p:nvSpPr>
          <p:spPr>
            <a:xfrm>
              <a:off x="2873520" y="161280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S5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8" name=""/>
          <p:cNvGrpSpPr/>
          <p:nvPr/>
        </p:nvGrpSpPr>
        <p:grpSpPr>
          <a:xfrm>
            <a:off x="3911760" y="1347840"/>
            <a:ext cx="389880" cy="266400"/>
            <a:chOff x="3911760" y="1347840"/>
            <a:chExt cx="389880" cy="266400"/>
          </a:xfrm>
        </p:grpSpPr>
        <p:sp>
          <p:nvSpPr>
            <p:cNvPr id="129" name=""/>
            <p:cNvSpPr/>
            <p:nvPr/>
          </p:nvSpPr>
          <p:spPr>
            <a:xfrm>
              <a:off x="3944880" y="134784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30" name=""/>
            <p:cNvSpPr/>
            <p:nvPr/>
          </p:nvSpPr>
          <p:spPr>
            <a:xfrm>
              <a:off x="3911760" y="134784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S7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1" name=""/>
          <p:cNvGrpSpPr/>
          <p:nvPr/>
        </p:nvGrpSpPr>
        <p:grpSpPr>
          <a:xfrm>
            <a:off x="3549600" y="1335240"/>
            <a:ext cx="390240" cy="266040"/>
            <a:chOff x="3549600" y="1335240"/>
            <a:chExt cx="390240" cy="266040"/>
          </a:xfrm>
        </p:grpSpPr>
        <p:sp>
          <p:nvSpPr>
            <p:cNvPr id="132" name=""/>
            <p:cNvSpPr/>
            <p:nvPr/>
          </p:nvSpPr>
          <p:spPr>
            <a:xfrm>
              <a:off x="3583080" y="1335240"/>
              <a:ext cx="266400" cy="26604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33" name=""/>
            <p:cNvSpPr/>
            <p:nvPr/>
          </p:nvSpPr>
          <p:spPr>
            <a:xfrm>
              <a:off x="3549600" y="1338120"/>
              <a:ext cx="39024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S6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4" name=""/>
          <p:cNvGrpSpPr/>
          <p:nvPr/>
        </p:nvGrpSpPr>
        <p:grpSpPr>
          <a:xfrm>
            <a:off x="4494240" y="3511440"/>
            <a:ext cx="390240" cy="266400"/>
            <a:chOff x="4494240" y="3511440"/>
            <a:chExt cx="390240" cy="266400"/>
          </a:xfrm>
        </p:grpSpPr>
        <p:sp>
          <p:nvSpPr>
            <p:cNvPr id="135" name=""/>
            <p:cNvSpPr/>
            <p:nvPr/>
          </p:nvSpPr>
          <p:spPr>
            <a:xfrm>
              <a:off x="4527720" y="3511440"/>
              <a:ext cx="26604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36" name=""/>
            <p:cNvSpPr/>
            <p:nvPr/>
          </p:nvSpPr>
          <p:spPr>
            <a:xfrm>
              <a:off x="4494240" y="3514680"/>
              <a:ext cx="39024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S4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37" name=""/>
          <p:cNvSpPr/>
          <p:nvPr/>
        </p:nvSpPr>
        <p:spPr>
          <a:xfrm flipV="1">
            <a:off x="5394240" y="2903040"/>
            <a:ext cx="1800" cy="24987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" name=""/>
          <p:cNvSpPr/>
          <p:nvPr/>
        </p:nvSpPr>
        <p:spPr>
          <a:xfrm flipV="1">
            <a:off x="6151680" y="3286080"/>
            <a:ext cx="7920" cy="211608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" name=""/>
          <p:cNvSpPr/>
          <p:nvPr/>
        </p:nvSpPr>
        <p:spPr>
          <a:xfrm flipV="1">
            <a:off x="6780240" y="3287880"/>
            <a:ext cx="1440" cy="211608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" name=""/>
          <p:cNvSpPr/>
          <p:nvPr/>
        </p:nvSpPr>
        <p:spPr>
          <a:xfrm flipV="1">
            <a:off x="7472520" y="2373480"/>
            <a:ext cx="1440" cy="303048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1" name=""/>
          <p:cNvSpPr/>
          <p:nvPr/>
        </p:nvSpPr>
        <p:spPr>
          <a:xfrm flipV="1">
            <a:off x="8434440" y="4109760"/>
            <a:ext cx="1440" cy="12920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" name=""/>
          <p:cNvSpPr/>
          <p:nvPr/>
        </p:nvSpPr>
        <p:spPr>
          <a:xfrm flipV="1">
            <a:off x="8886960" y="4657680"/>
            <a:ext cx="1440" cy="744480"/>
          </a:xfrm>
          <a:prstGeom prst="line">
            <a:avLst/>
          </a:prstGeom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" name=""/>
          <p:cNvSpPr/>
          <p:nvPr/>
        </p:nvSpPr>
        <p:spPr>
          <a:xfrm flipV="1">
            <a:off x="9570960" y="4657680"/>
            <a:ext cx="1800" cy="744480"/>
          </a:xfrm>
          <a:prstGeom prst="line">
            <a:avLst/>
          </a:prstGeom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" name=""/>
          <p:cNvSpPr/>
          <p:nvPr/>
        </p:nvSpPr>
        <p:spPr>
          <a:xfrm>
            <a:off x="8886960" y="4660920"/>
            <a:ext cx="684000" cy="1440"/>
          </a:xfrm>
          <a:prstGeom prst="line">
            <a:avLst/>
          </a:prstGeom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" name=""/>
          <p:cNvSpPr/>
          <p:nvPr/>
        </p:nvSpPr>
        <p:spPr>
          <a:xfrm flipV="1">
            <a:off x="9210600" y="4106520"/>
            <a:ext cx="1800" cy="5396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" name=""/>
          <p:cNvSpPr/>
          <p:nvPr/>
        </p:nvSpPr>
        <p:spPr>
          <a:xfrm>
            <a:off x="8418600" y="4097160"/>
            <a:ext cx="792000" cy="129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3840" bIns="-338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7" name=""/>
          <p:cNvSpPr/>
          <p:nvPr/>
        </p:nvSpPr>
        <p:spPr>
          <a:xfrm flipV="1">
            <a:off x="8837640" y="2371680"/>
            <a:ext cx="1440" cy="17337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" name=""/>
          <p:cNvSpPr/>
          <p:nvPr/>
        </p:nvSpPr>
        <p:spPr>
          <a:xfrm>
            <a:off x="7483320" y="2368440"/>
            <a:ext cx="1354320" cy="79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8880" bIns="-3888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" name=""/>
          <p:cNvSpPr/>
          <p:nvPr/>
        </p:nvSpPr>
        <p:spPr>
          <a:xfrm>
            <a:off x="6159600" y="3292560"/>
            <a:ext cx="620640" cy="14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0" name=""/>
          <p:cNvSpPr/>
          <p:nvPr/>
        </p:nvSpPr>
        <p:spPr>
          <a:xfrm flipV="1">
            <a:off x="6475320" y="2916000"/>
            <a:ext cx="1800" cy="3985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" name=""/>
          <p:cNvSpPr/>
          <p:nvPr/>
        </p:nvSpPr>
        <p:spPr>
          <a:xfrm>
            <a:off x="5394240" y="2908440"/>
            <a:ext cx="1079640" cy="1260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" name=""/>
          <p:cNvSpPr/>
          <p:nvPr/>
        </p:nvSpPr>
        <p:spPr>
          <a:xfrm flipV="1">
            <a:off x="5913360" y="1091880"/>
            <a:ext cx="1800" cy="18255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3" name=""/>
          <p:cNvSpPr/>
          <p:nvPr/>
        </p:nvSpPr>
        <p:spPr>
          <a:xfrm flipV="1">
            <a:off x="8116920" y="1092240"/>
            <a:ext cx="1440" cy="12859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" name=""/>
          <p:cNvSpPr/>
          <p:nvPr/>
        </p:nvSpPr>
        <p:spPr>
          <a:xfrm>
            <a:off x="5913360" y="1096920"/>
            <a:ext cx="2205000" cy="205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6280" bIns="-2628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" name=""/>
          <p:cNvSpPr/>
          <p:nvPr/>
        </p:nvSpPr>
        <p:spPr>
          <a:xfrm flipV="1">
            <a:off x="7015320" y="819000"/>
            <a:ext cx="1440" cy="3002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" name=""/>
          <p:cNvSpPr/>
          <p:nvPr/>
        </p:nvSpPr>
        <p:spPr>
          <a:xfrm>
            <a:off x="8717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9401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8285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518940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598176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659304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731376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3475080" y="1062000"/>
            <a:ext cx="914040" cy="914040"/>
          </a:xfrm>
          <a:prstGeom prst="ellipse">
            <a:avLst/>
          </a:prstGeom>
          <a:noFill/>
          <a:ln w="18360">
            <a:solidFill>
              <a:srgbClr val="ff00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" name=""/>
          <p:cNvSpPr/>
          <p:nvPr/>
        </p:nvSpPr>
        <p:spPr>
          <a:xfrm>
            <a:off x="5114880" y="4653000"/>
            <a:ext cx="4754520" cy="1440"/>
          </a:xfrm>
          <a:prstGeom prst="line">
            <a:avLst/>
          </a:prstGeom>
          <a:ln w="18360">
            <a:solidFill>
              <a:srgbClr val="0000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" descr=""/>
          <p:cNvPicPr/>
          <p:nvPr/>
        </p:nvPicPr>
        <p:blipFill>
          <a:blip r:embed="rId1"/>
          <a:stretch/>
        </p:blipFill>
        <p:spPr>
          <a:xfrm>
            <a:off x="7954920" y="55440"/>
            <a:ext cx="2103120" cy="536400"/>
          </a:xfrm>
          <a:prstGeom prst="rect">
            <a:avLst/>
          </a:prstGeom>
          <a:ln w="0">
            <a:noFill/>
          </a:ln>
        </p:spPr>
      </p:pic>
      <p:pic>
        <p:nvPicPr>
          <p:cNvPr id="166" name="" descr=""/>
          <p:cNvPicPr/>
          <p:nvPr/>
        </p:nvPicPr>
        <p:blipFill>
          <a:blip r:embed="rId2"/>
          <a:stretch/>
        </p:blipFill>
        <p:spPr>
          <a:xfrm>
            <a:off x="58680" y="77760"/>
            <a:ext cx="1277640" cy="452160"/>
          </a:xfrm>
          <a:prstGeom prst="rect">
            <a:avLst/>
          </a:prstGeom>
          <a:ln w="0">
            <a:noFill/>
          </a:ln>
        </p:spPr>
      </p:pic>
      <p:sp>
        <p:nvSpPr>
          <p:cNvPr id="167" name=""/>
          <p:cNvSpPr/>
          <p:nvPr/>
        </p:nvSpPr>
        <p:spPr>
          <a:xfrm>
            <a:off x="2254320" y="61920"/>
            <a:ext cx="525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Agglomerative hierarchical clustering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182520" y="731880"/>
            <a:ext cx="4754160" cy="4663800"/>
          </a:xfrm>
          <a:prstGeom prst="rect">
            <a:avLst/>
          </a:prstGeom>
          <a:noFill/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" name=""/>
          <p:cNvSpPr/>
          <p:nvPr/>
        </p:nvSpPr>
        <p:spPr>
          <a:xfrm>
            <a:off x="5114880" y="731880"/>
            <a:ext cx="4754160" cy="4663800"/>
          </a:xfrm>
          <a:prstGeom prst="rect">
            <a:avLst/>
          </a:prstGeom>
          <a:noFill/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pSp>
        <p:nvGrpSpPr>
          <p:cNvPr id="170" name=""/>
          <p:cNvGrpSpPr/>
          <p:nvPr/>
        </p:nvGrpSpPr>
        <p:grpSpPr>
          <a:xfrm>
            <a:off x="642960" y="3149640"/>
            <a:ext cx="390240" cy="266400"/>
            <a:chOff x="642960" y="3149640"/>
            <a:chExt cx="390240" cy="266400"/>
          </a:xfrm>
        </p:grpSpPr>
        <p:sp>
          <p:nvSpPr>
            <p:cNvPr id="171" name=""/>
            <p:cNvSpPr/>
            <p:nvPr/>
          </p:nvSpPr>
          <p:spPr>
            <a:xfrm>
              <a:off x="676440" y="3149640"/>
              <a:ext cx="26604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72" name=""/>
            <p:cNvSpPr/>
            <p:nvPr/>
          </p:nvSpPr>
          <p:spPr>
            <a:xfrm>
              <a:off x="642960" y="3152880"/>
              <a:ext cx="39024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S3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3" name=""/>
          <p:cNvGrpSpPr/>
          <p:nvPr/>
        </p:nvGrpSpPr>
        <p:grpSpPr>
          <a:xfrm>
            <a:off x="1614600" y="3654360"/>
            <a:ext cx="389880" cy="266400"/>
            <a:chOff x="1614600" y="3654360"/>
            <a:chExt cx="389880" cy="266400"/>
          </a:xfrm>
        </p:grpSpPr>
        <p:sp>
          <p:nvSpPr>
            <p:cNvPr id="174" name=""/>
            <p:cNvSpPr/>
            <p:nvPr/>
          </p:nvSpPr>
          <p:spPr>
            <a:xfrm>
              <a:off x="1647720" y="365436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75" name=""/>
            <p:cNvSpPr/>
            <p:nvPr/>
          </p:nvSpPr>
          <p:spPr>
            <a:xfrm>
              <a:off x="1614600" y="365760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S2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6" name=""/>
          <p:cNvGrpSpPr/>
          <p:nvPr/>
        </p:nvGrpSpPr>
        <p:grpSpPr>
          <a:xfrm>
            <a:off x="318960" y="4807080"/>
            <a:ext cx="390240" cy="266040"/>
            <a:chOff x="318960" y="4807080"/>
            <a:chExt cx="390240" cy="266040"/>
          </a:xfrm>
        </p:grpSpPr>
        <p:sp>
          <p:nvSpPr>
            <p:cNvPr id="177" name=""/>
            <p:cNvSpPr/>
            <p:nvPr/>
          </p:nvSpPr>
          <p:spPr>
            <a:xfrm>
              <a:off x="351000" y="4807080"/>
              <a:ext cx="266040" cy="26604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78" name=""/>
            <p:cNvSpPr/>
            <p:nvPr/>
          </p:nvSpPr>
          <p:spPr>
            <a:xfrm>
              <a:off x="318960" y="4809960"/>
              <a:ext cx="39024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S1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9" name=""/>
          <p:cNvGrpSpPr/>
          <p:nvPr/>
        </p:nvGrpSpPr>
        <p:grpSpPr>
          <a:xfrm>
            <a:off x="2873520" y="1609560"/>
            <a:ext cx="389880" cy="266400"/>
            <a:chOff x="2873520" y="1609560"/>
            <a:chExt cx="389880" cy="266400"/>
          </a:xfrm>
        </p:grpSpPr>
        <p:sp>
          <p:nvSpPr>
            <p:cNvPr id="180" name=""/>
            <p:cNvSpPr/>
            <p:nvPr/>
          </p:nvSpPr>
          <p:spPr>
            <a:xfrm>
              <a:off x="2906640" y="160956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81" name=""/>
            <p:cNvSpPr/>
            <p:nvPr/>
          </p:nvSpPr>
          <p:spPr>
            <a:xfrm>
              <a:off x="2873520" y="161280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S5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2" name=""/>
          <p:cNvGrpSpPr/>
          <p:nvPr/>
        </p:nvGrpSpPr>
        <p:grpSpPr>
          <a:xfrm>
            <a:off x="3911760" y="1347840"/>
            <a:ext cx="389880" cy="266400"/>
            <a:chOff x="3911760" y="1347840"/>
            <a:chExt cx="389880" cy="266400"/>
          </a:xfrm>
        </p:grpSpPr>
        <p:sp>
          <p:nvSpPr>
            <p:cNvPr id="183" name=""/>
            <p:cNvSpPr/>
            <p:nvPr/>
          </p:nvSpPr>
          <p:spPr>
            <a:xfrm>
              <a:off x="3944880" y="134784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84" name=""/>
            <p:cNvSpPr/>
            <p:nvPr/>
          </p:nvSpPr>
          <p:spPr>
            <a:xfrm>
              <a:off x="3911760" y="134784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S7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5" name=""/>
          <p:cNvGrpSpPr/>
          <p:nvPr/>
        </p:nvGrpSpPr>
        <p:grpSpPr>
          <a:xfrm>
            <a:off x="3549600" y="1335240"/>
            <a:ext cx="390240" cy="266040"/>
            <a:chOff x="3549600" y="1335240"/>
            <a:chExt cx="390240" cy="266040"/>
          </a:xfrm>
        </p:grpSpPr>
        <p:sp>
          <p:nvSpPr>
            <p:cNvPr id="186" name=""/>
            <p:cNvSpPr/>
            <p:nvPr/>
          </p:nvSpPr>
          <p:spPr>
            <a:xfrm>
              <a:off x="3583080" y="1335240"/>
              <a:ext cx="266400" cy="26604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87" name=""/>
            <p:cNvSpPr/>
            <p:nvPr/>
          </p:nvSpPr>
          <p:spPr>
            <a:xfrm>
              <a:off x="3549600" y="1338120"/>
              <a:ext cx="39024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S6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8" name=""/>
          <p:cNvGrpSpPr/>
          <p:nvPr/>
        </p:nvGrpSpPr>
        <p:grpSpPr>
          <a:xfrm>
            <a:off x="4494240" y="3511440"/>
            <a:ext cx="390240" cy="266400"/>
            <a:chOff x="4494240" y="3511440"/>
            <a:chExt cx="390240" cy="266400"/>
          </a:xfrm>
        </p:grpSpPr>
        <p:sp>
          <p:nvSpPr>
            <p:cNvPr id="189" name=""/>
            <p:cNvSpPr/>
            <p:nvPr/>
          </p:nvSpPr>
          <p:spPr>
            <a:xfrm>
              <a:off x="4527720" y="3511440"/>
              <a:ext cx="26604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190" name=""/>
            <p:cNvSpPr/>
            <p:nvPr/>
          </p:nvSpPr>
          <p:spPr>
            <a:xfrm>
              <a:off x="4494240" y="3514680"/>
              <a:ext cx="39024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S4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91" name=""/>
          <p:cNvSpPr/>
          <p:nvPr/>
        </p:nvSpPr>
        <p:spPr>
          <a:xfrm flipV="1">
            <a:off x="5394240" y="2903040"/>
            <a:ext cx="1800" cy="24987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" name=""/>
          <p:cNvSpPr/>
          <p:nvPr/>
        </p:nvSpPr>
        <p:spPr>
          <a:xfrm flipV="1">
            <a:off x="6151680" y="3286080"/>
            <a:ext cx="7920" cy="211608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3" name=""/>
          <p:cNvSpPr/>
          <p:nvPr/>
        </p:nvSpPr>
        <p:spPr>
          <a:xfrm flipV="1">
            <a:off x="6780240" y="3287880"/>
            <a:ext cx="1440" cy="211608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" name=""/>
          <p:cNvSpPr/>
          <p:nvPr/>
        </p:nvSpPr>
        <p:spPr>
          <a:xfrm flipV="1">
            <a:off x="7472520" y="2373480"/>
            <a:ext cx="1440" cy="303048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" name=""/>
          <p:cNvSpPr/>
          <p:nvPr/>
        </p:nvSpPr>
        <p:spPr>
          <a:xfrm flipV="1">
            <a:off x="8434440" y="4109760"/>
            <a:ext cx="1440" cy="1292040"/>
          </a:xfrm>
          <a:prstGeom prst="line">
            <a:avLst/>
          </a:prstGeom>
          <a:ln w="36720">
            <a:solidFill>
              <a:srgbClr val="009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6" name=""/>
          <p:cNvSpPr/>
          <p:nvPr/>
        </p:nvSpPr>
        <p:spPr>
          <a:xfrm flipV="1">
            <a:off x="8886960" y="4657680"/>
            <a:ext cx="1440" cy="744480"/>
          </a:xfrm>
          <a:prstGeom prst="line">
            <a:avLst/>
          </a:prstGeom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" name=""/>
          <p:cNvSpPr/>
          <p:nvPr/>
        </p:nvSpPr>
        <p:spPr>
          <a:xfrm flipV="1">
            <a:off x="9570960" y="4657680"/>
            <a:ext cx="1800" cy="744480"/>
          </a:xfrm>
          <a:prstGeom prst="line">
            <a:avLst/>
          </a:prstGeom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" name=""/>
          <p:cNvSpPr/>
          <p:nvPr/>
        </p:nvSpPr>
        <p:spPr>
          <a:xfrm>
            <a:off x="8886960" y="4660920"/>
            <a:ext cx="684000" cy="1440"/>
          </a:xfrm>
          <a:prstGeom prst="line">
            <a:avLst/>
          </a:prstGeom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" name=""/>
          <p:cNvSpPr/>
          <p:nvPr/>
        </p:nvSpPr>
        <p:spPr>
          <a:xfrm flipV="1">
            <a:off x="9210600" y="4106520"/>
            <a:ext cx="1800" cy="539640"/>
          </a:xfrm>
          <a:prstGeom prst="line">
            <a:avLst/>
          </a:prstGeom>
          <a:ln w="36720">
            <a:solidFill>
              <a:srgbClr val="009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" name=""/>
          <p:cNvSpPr/>
          <p:nvPr/>
        </p:nvSpPr>
        <p:spPr>
          <a:xfrm>
            <a:off x="8418600" y="4097160"/>
            <a:ext cx="792000" cy="12960"/>
          </a:xfrm>
          <a:prstGeom prst="line">
            <a:avLst/>
          </a:prstGeom>
          <a:ln w="36720">
            <a:solidFill>
              <a:srgbClr val="009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3840" bIns="-338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" name=""/>
          <p:cNvSpPr/>
          <p:nvPr/>
        </p:nvSpPr>
        <p:spPr>
          <a:xfrm flipV="1">
            <a:off x="8837640" y="2371680"/>
            <a:ext cx="1440" cy="17337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" name=""/>
          <p:cNvSpPr/>
          <p:nvPr/>
        </p:nvSpPr>
        <p:spPr>
          <a:xfrm>
            <a:off x="7483320" y="2368440"/>
            <a:ext cx="1354320" cy="79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8880" bIns="-3888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" name=""/>
          <p:cNvSpPr/>
          <p:nvPr/>
        </p:nvSpPr>
        <p:spPr>
          <a:xfrm>
            <a:off x="6159600" y="3292560"/>
            <a:ext cx="620640" cy="14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" name=""/>
          <p:cNvSpPr/>
          <p:nvPr/>
        </p:nvSpPr>
        <p:spPr>
          <a:xfrm flipV="1">
            <a:off x="6475320" y="2916000"/>
            <a:ext cx="1800" cy="3985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5" name=""/>
          <p:cNvSpPr/>
          <p:nvPr/>
        </p:nvSpPr>
        <p:spPr>
          <a:xfrm>
            <a:off x="5394240" y="2908440"/>
            <a:ext cx="1079640" cy="1260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" name=""/>
          <p:cNvSpPr/>
          <p:nvPr/>
        </p:nvSpPr>
        <p:spPr>
          <a:xfrm flipV="1">
            <a:off x="5913360" y="1091880"/>
            <a:ext cx="1800" cy="18255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" name=""/>
          <p:cNvSpPr/>
          <p:nvPr/>
        </p:nvSpPr>
        <p:spPr>
          <a:xfrm flipV="1">
            <a:off x="8116920" y="1092240"/>
            <a:ext cx="1440" cy="12859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8" name=""/>
          <p:cNvSpPr/>
          <p:nvPr/>
        </p:nvSpPr>
        <p:spPr>
          <a:xfrm>
            <a:off x="5913360" y="1096920"/>
            <a:ext cx="2205000" cy="205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6280" bIns="-2628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" name=""/>
          <p:cNvSpPr/>
          <p:nvPr/>
        </p:nvSpPr>
        <p:spPr>
          <a:xfrm flipV="1">
            <a:off x="7015320" y="819000"/>
            <a:ext cx="1440" cy="3002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" name=""/>
          <p:cNvSpPr/>
          <p:nvPr/>
        </p:nvSpPr>
        <p:spPr>
          <a:xfrm>
            <a:off x="8717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9401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8285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518940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598176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659304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731376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3475080" y="1062000"/>
            <a:ext cx="914040" cy="914040"/>
          </a:xfrm>
          <a:prstGeom prst="ellipse">
            <a:avLst/>
          </a:prstGeom>
          <a:noFill/>
          <a:ln w="18360">
            <a:solidFill>
              <a:srgbClr val="ff00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" name=""/>
          <p:cNvSpPr/>
          <p:nvPr/>
        </p:nvSpPr>
        <p:spPr>
          <a:xfrm>
            <a:off x="2890800" y="861840"/>
            <a:ext cx="1553760" cy="1554120"/>
          </a:xfrm>
          <a:prstGeom prst="ellipse">
            <a:avLst/>
          </a:prstGeom>
          <a:noFill/>
          <a:ln w="18360">
            <a:solidFill>
              <a:srgbClr val="0095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" name=""/>
          <p:cNvSpPr/>
          <p:nvPr/>
        </p:nvSpPr>
        <p:spPr>
          <a:xfrm>
            <a:off x="5114880" y="4076640"/>
            <a:ext cx="4754520" cy="1800"/>
          </a:xfrm>
          <a:prstGeom prst="line">
            <a:avLst/>
          </a:prstGeom>
          <a:ln w="18360">
            <a:solidFill>
              <a:srgbClr val="0000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" descr=""/>
          <p:cNvPicPr/>
          <p:nvPr/>
        </p:nvPicPr>
        <p:blipFill>
          <a:blip r:embed="rId1"/>
          <a:stretch/>
        </p:blipFill>
        <p:spPr>
          <a:xfrm>
            <a:off x="7954920" y="55440"/>
            <a:ext cx="2103120" cy="536400"/>
          </a:xfrm>
          <a:prstGeom prst="rect">
            <a:avLst/>
          </a:prstGeom>
          <a:ln w="0">
            <a:noFill/>
          </a:ln>
        </p:spPr>
      </p:pic>
      <p:pic>
        <p:nvPicPr>
          <p:cNvPr id="221" name="" descr=""/>
          <p:cNvPicPr/>
          <p:nvPr/>
        </p:nvPicPr>
        <p:blipFill>
          <a:blip r:embed="rId2"/>
          <a:stretch/>
        </p:blipFill>
        <p:spPr>
          <a:xfrm>
            <a:off x="58680" y="77760"/>
            <a:ext cx="1277640" cy="452160"/>
          </a:xfrm>
          <a:prstGeom prst="rect">
            <a:avLst/>
          </a:prstGeom>
          <a:ln w="0">
            <a:noFill/>
          </a:ln>
        </p:spPr>
      </p:pic>
      <p:sp>
        <p:nvSpPr>
          <p:cNvPr id="222" name=""/>
          <p:cNvSpPr/>
          <p:nvPr/>
        </p:nvSpPr>
        <p:spPr>
          <a:xfrm>
            <a:off x="2254320" y="61920"/>
            <a:ext cx="525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Agglomerative hierarchical clustering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182520" y="731880"/>
            <a:ext cx="4754160" cy="4663800"/>
          </a:xfrm>
          <a:prstGeom prst="rect">
            <a:avLst/>
          </a:prstGeom>
          <a:noFill/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" name=""/>
          <p:cNvSpPr/>
          <p:nvPr/>
        </p:nvSpPr>
        <p:spPr>
          <a:xfrm>
            <a:off x="5114880" y="731880"/>
            <a:ext cx="4754160" cy="4663800"/>
          </a:xfrm>
          <a:prstGeom prst="rect">
            <a:avLst/>
          </a:prstGeom>
          <a:noFill/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pSp>
        <p:nvGrpSpPr>
          <p:cNvPr id="225" name=""/>
          <p:cNvGrpSpPr/>
          <p:nvPr/>
        </p:nvGrpSpPr>
        <p:grpSpPr>
          <a:xfrm>
            <a:off x="642960" y="3149640"/>
            <a:ext cx="390240" cy="266400"/>
            <a:chOff x="642960" y="3149640"/>
            <a:chExt cx="390240" cy="266400"/>
          </a:xfrm>
        </p:grpSpPr>
        <p:sp>
          <p:nvSpPr>
            <p:cNvPr id="226" name=""/>
            <p:cNvSpPr/>
            <p:nvPr/>
          </p:nvSpPr>
          <p:spPr>
            <a:xfrm>
              <a:off x="676440" y="3149640"/>
              <a:ext cx="26604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27" name=""/>
            <p:cNvSpPr/>
            <p:nvPr/>
          </p:nvSpPr>
          <p:spPr>
            <a:xfrm>
              <a:off x="642960" y="3152880"/>
              <a:ext cx="39024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S3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8" name=""/>
          <p:cNvGrpSpPr/>
          <p:nvPr/>
        </p:nvGrpSpPr>
        <p:grpSpPr>
          <a:xfrm>
            <a:off x="1614600" y="3654360"/>
            <a:ext cx="389880" cy="266400"/>
            <a:chOff x="1614600" y="3654360"/>
            <a:chExt cx="389880" cy="266400"/>
          </a:xfrm>
        </p:grpSpPr>
        <p:sp>
          <p:nvSpPr>
            <p:cNvPr id="229" name=""/>
            <p:cNvSpPr/>
            <p:nvPr/>
          </p:nvSpPr>
          <p:spPr>
            <a:xfrm>
              <a:off x="1647720" y="365436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30" name=""/>
            <p:cNvSpPr/>
            <p:nvPr/>
          </p:nvSpPr>
          <p:spPr>
            <a:xfrm>
              <a:off x="1614600" y="365760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S2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1" name=""/>
          <p:cNvGrpSpPr/>
          <p:nvPr/>
        </p:nvGrpSpPr>
        <p:grpSpPr>
          <a:xfrm>
            <a:off x="318960" y="4807080"/>
            <a:ext cx="390240" cy="266040"/>
            <a:chOff x="318960" y="4807080"/>
            <a:chExt cx="390240" cy="266040"/>
          </a:xfrm>
        </p:grpSpPr>
        <p:sp>
          <p:nvSpPr>
            <p:cNvPr id="232" name=""/>
            <p:cNvSpPr/>
            <p:nvPr/>
          </p:nvSpPr>
          <p:spPr>
            <a:xfrm>
              <a:off x="351000" y="4807080"/>
              <a:ext cx="266040" cy="26604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33" name=""/>
            <p:cNvSpPr/>
            <p:nvPr/>
          </p:nvSpPr>
          <p:spPr>
            <a:xfrm>
              <a:off x="318960" y="4809960"/>
              <a:ext cx="39024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S1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4" name=""/>
          <p:cNvGrpSpPr/>
          <p:nvPr/>
        </p:nvGrpSpPr>
        <p:grpSpPr>
          <a:xfrm>
            <a:off x="2873520" y="1609560"/>
            <a:ext cx="389880" cy="266400"/>
            <a:chOff x="2873520" y="1609560"/>
            <a:chExt cx="389880" cy="266400"/>
          </a:xfrm>
        </p:grpSpPr>
        <p:sp>
          <p:nvSpPr>
            <p:cNvPr id="235" name=""/>
            <p:cNvSpPr/>
            <p:nvPr/>
          </p:nvSpPr>
          <p:spPr>
            <a:xfrm>
              <a:off x="2906640" y="160956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36" name=""/>
            <p:cNvSpPr/>
            <p:nvPr/>
          </p:nvSpPr>
          <p:spPr>
            <a:xfrm>
              <a:off x="2873520" y="161280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S5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7" name=""/>
          <p:cNvGrpSpPr/>
          <p:nvPr/>
        </p:nvGrpSpPr>
        <p:grpSpPr>
          <a:xfrm>
            <a:off x="3911760" y="1347840"/>
            <a:ext cx="389880" cy="266400"/>
            <a:chOff x="3911760" y="1347840"/>
            <a:chExt cx="389880" cy="266400"/>
          </a:xfrm>
        </p:grpSpPr>
        <p:sp>
          <p:nvSpPr>
            <p:cNvPr id="238" name=""/>
            <p:cNvSpPr/>
            <p:nvPr/>
          </p:nvSpPr>
          <p:spPr>
            <a:xfrm>
              <a:off x="3944880" y="134784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39" name=""/>
            <p:cNvSpPr/>
            <p:nvPr/>
          </p:nvSpPr>
          <p:spPr>
            <a:xfrm>
              <a:off x="3911760" y="134784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S7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0" name=""/>
          <p:cNvGrpSpPr/>
          <p:nvPr/>
        </p:nvGrpSpPr>
        <p:grpSpPr>
          <a:xfrm>
            <a:off x="3549600" y="1335240"/>
            <a:ext cx="390240" cy="266040"/>
            <a:chOff x="3549600" y="1335240"/>
            <a:chExt cx="390240" cy="266040"/>
          </a:xfrm>
        </p:grpSpPr>
        <p:sp>
          <p:nvSpPr>
            <p:cNvPr id="241" name=""/>
            <p:cNvSpPr/>
            <p:nvPr/>
          </p:nvSpPr>
          <p:spPr>
            <a:xfrm>
              <a:off x="3583080" y="1335240"/>
              <a:ext cx="266400" cy="26604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42" name=""/>
            <p:cNvSpPr/>
            <p:nvPr/>
          </p:nvSpPr>
          <p:spPr>
            <a:xfrm>
              <a:off x="3549600" y="1338120"/>
              <a:ext cx="39024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S6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3" name=""/>
          <p:cNvGrpSpPr/>
          <p:nvPr/>
        </p:nvGrpSpPr>
        <p:grpSpPr>
          <a:xfrm>
            <a:off x="4494240" y="3511440"/>
            <a:ext cx="390240" cy="266400"/>
            <a:chOff x="4494240" y="3511440"/>
            <a:chExt cx="390240" cy="266400"/>
          </a:xfrm>
        </p:grpSpPr>
        <p:sp>
          <p:nvSpPr>
            <p:cNvPr id="244" name=""/>
            <p:cNvSpPr/>
            <p:nvPr/>
          </p:nvSpPr>
          <p:spPr>
            <a:xfrm>
              <a:off x="4527720" y="3511440"/>
              <a:ext cx="26604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45" name=""/>
            <p:cNvSpPr/>
            <p:nvPr/>
          </p:nvSpPr>
          <p:spPr>
            <a:xfrm>
              <a:off x="4494240" y="3514680"/>
              <a:ext cx="39024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S4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46" name=""/>
          <p:cNvSpPr/>
          <p:nvPr/>
        </p:nvSpPr>
        <p:spPr>
          <a:xfrm flipV="1">
            <a:off x="5394240" y="2903040"/>
            <a:ext cx="1800" cy="24987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" name=""/>
          <p:cNvSpPr/>
          <p:nvPr/>
        </p:nvSpPr>
        <p:spPr>
          <a:xfrm flipV="1">
            <a:off x="6151680" y="3286080"/>
            <a:ext cx="7920" cy="2116080"/>
          </a:xfrm>
          <a:prstGeom prst="line">
            <a:avLst/>
          </a:prstGeom>
          <a:ln w="3672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" name=""/>
          <p:cNvSpPr/>
          <p:nvPr/>
        </p:nvSpPr>
        <p:spPr>
          <a:xfrm flipV="1">
            <a:off x="6780240" y="3287880"/>
            <a:ext cx="1440" cy="2116080"/>
          </a:xfrm>
          <a:prstGeom prst="line">
            <a:avLst/>
          </a:prstGeom>
          <a:ln w="3672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" name=""/>
          <p:cNvSpPr/>
          <p:nvPr/>
        </p:nvSpPr>
        <p:spPr>
          <a:xfrm flipV="1">
            <a:off x="7472520" y="2373480"/>
            <a:ext cx="1440" cy="303048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" name=""/>
          <p:cNvSpPr/>
          <p:nvPr/>
        </p:nvSpPr>
        <p:spPr>
          <a:xfrm flipV="1">
            <a:off x="8434440" y="4109760"/>
            <a:ext cx="1440" cy="1292040"/>
          </a:xfrm>
          <a:prstGeom prst="line">
            <a:avLst/>
          </a:prstGeom>
          <a:ln w="36720">
            <a:solidFill>
              <a:srgbClr val="009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" name=""/>
          <p:cNvSpPr/>
          <p:nvPr/>
        </p:nvSpPr>
        <p:spPr>
          <a:xfrm flipV="1">
            <a:off x="8886960" y="4657680"/>
            <a:ext cx="1440" cy="744480"/>
          </a:xfrm>
          <a:prstGeom prst="line">
            <a:avLst/>
          </a:prstGeom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" name=""/>
          <p:cNvSpPr/>
          <p:nvPr/>
        </p:nvSpPr>
        <p:spPr>
          <a:xfrm flipV="1">
            <a:off x="9570960" y="4657680"/>
            <a:ext cx="1800" cy="744480"/>
          </a:xfrm>
          <a:prstGeom prst="line">
            <a:avLst/>
          </a:prstGeom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" name=""/>
          <p:cNvSpPr/>
          <p:nvPr/>
        </p:nvSpPr>
        <p:spPr>
          <a:xfrm>
            <a:off x="8886960" y="4660920"/>
            <a:ext cx="684000" cy="1440"/>
          </a:xfrm>
          <a:prstGeom prst="line">
            <a:avLst/>
          </a:prstGeom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" name=""/>
          <p:cNvSpPr/>
          <p:nvPr/>
        </p:nvSpPr>
        <p:spPr>
          <a:xfrm flipV="1">
            <a:off x="9210600" y="4106520"/>
            <a:ext cx="1800" cy="539640"/>
          </a:xfrm>
          <a:prstGeom prst="line">
            <a:avLst/>
          </a:prstGeom>
          <a:ln w="36720">
            <a:solidFill>
              <a:srgbClr val="009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" name=""/>
          <p:cNvSpPr/>
          <p:nvPr/>
        </p:nvSpPr>
        <p:spPr>
          <a:xfrm>
            <a:off x="8418600" y="4097160"/>
            <a:ext cx="792000" cy="12960"/>
          </a:xfrm>
          <a:prstGeom prst="line">
            <a:avLst/>
          </a:prstGeom>
          <a:ln w="36720">
            <a:solidFill>
              <a:srgbClr val="009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3840" bIns="-338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" name=""/>
          <p:cNvSpPr/>
          <p:nvPr/>
        </p:nvSpPr>
        <p:spPr>
          <a:xfrm flipV="1">
            <a:off x="8837640" y="2371680"/>
            <a:ext cx="1440" cy="17337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7" name=""/>
          <p:cNvSpPr/>
          <p:nvPr/>
        </p:nvSpPr>
        <p:spPr>
          <a:xfrm>
            <a:off x="7483320" y="2368440"/>
            <a:ext cx="1354320" cy="79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8880" bIns="-3888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" name=""/>
          <p:cNvSpPr/>
          <p:nvPr/>
        </p:nvSpPr>
        <p:spPr>
          <a:xfrm>
            <a:off x="6159600" y="3292560"/>
            <a:ext cx="620640" cy="1440"/>
          </a:xfrm>
          <a:prstGeom prst="line">
            <a:avLst/>
          </a:prstGeom>
          <a:ln w="3672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" name=""/>
          <p:cNvSpPr/>
          <p:nvPr/>
        </p:nvSpPr>
        <p:spPr>
          <a:xfrm flipV="1">
            <a:off x="6475320" y="2916000"/>
            <a:ext cx="1800" cy="3985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" name=""/>
          <p:cNvSpPr/>
          <p:nvPr/>
        </p:nvSpPr>
        <p:spPr>
          <a:xfrm>
            <a:off x="5394240" y="2908440"/>
            <a:ext cx="1079640" cy="1260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" name=""/>
          <p:cNvSpPr/>
          <p:nvPr/>
        </p:nvSpPr>
        <p:spPr>
          <a:xfrm flipV="1">
            <a:off x="5913360" y="1091880"/>
            <a:ext cx="1800" cy="18255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" name=""/>
          <p:cNvSpPr/>
          <p:nvPr/>
        </p:nvSpPr>
        <p:spPr>
          <a:xfrm flipV="1">
            <a:off x="8116920" y="1092240"/>
            <a:ext cx="1440" cy="12859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" name=""/>
          <p:cNvSpPr/>
          <p:nvPr/>
        </p:nvSpPr>
        <p:spPr>
          <a:xfrm>
            <a:off x="5913360" y="1096920"/>
            <a:ext cx="2205000" cy="205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6280" bIns="-2628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" name=""/>
          <p:cNvSpPr/>
          <p:nvPr/>
        </p:nvSpPr>
        <p:spPr>
          <a:xfrm flipV="1">
            <a:off x="7015320" y="819000"/>
            <a:ext cx="1440" cy="3002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" name=""/>
          <p:cNvSpPr/>
          <p:nvPr/>
        </p:nvSpPr>
        <p:spPr>
          <a:xfrm>
            <a:off x="8717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"/>
          <p:cNvSpPr/>
          <p:nvPr/>
        </p:nvSpPr>
        <p:spPr>
          <a:xfrm>
            <a:off x="9401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8285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518940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"/>
          <p:cNvSpPr/>
          <p:nvPr/>
        </p:nvSpPr>
        <p:spPr>
          <a:xfrm>
            <a:off x="598176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659304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"/>
          <p:cNvSpPr/>
          <p:nvPr/>
        </p:nvSpPr>
        <p:spPr>
          <a:xfrm>
            <a:off x="731376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3475080" y="1062000"/>
            <a:ext cx="914040" cy="914040"/>
          </a:xfrm>
          <a:prstGeom prst="ellipse">
            <a:avLst/>
          </a:prstGeom>
          <a:noFill/>
          <a:ln w="18360">
            <a:solidFill>
              <a:srgbClr val="ff00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" name=""/>
          <p:cNvSpPr/>
          <p:nvPr/>
        </p:nvSpPr>
        <p:spPr>
          <a:xfrm>
            <a:off x="2890800" y="861840"/>
            <a:ext cx="1553760" cy="1554120"/>
          </a:xfrm>
          <a:prstGeom prst="ellipse">
            <a:avLst/>
          </a:prstGeom>
          <a:noFill/>
          <a:ln w="18360">
            <a:solidFill>
              <a:srgbClr val="0095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" name=""/>
          <p:cNvSpPr/>
          <p:nvPr/>
        </p:nvSpPr>
        <p:spPr>
          <a:xfrm>
            <a:off x="5114880" y="3284640"/>
            <a:ext cx="4754520" cy="1440"/>
          </a:xfrm>
          <a:prstGeom prst="line">
            <a:avLst/>
          </a:prstGeom>
          <a:ln w="18360">
            <a:solidFill>
              <a:srgbClr val="0000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" name=""/>
          <p:cNvSpPr/>
          <p:nvPr/>
        </p:nvSpPr>
        <p:spPr>
          <a:xfrm>
            <a:off x="568440" y="2784600"/>
            <a:ext cx="1463040" cy="1463040"/>
          </a:xfrm>
          <a:prstGeom prst="ellipse">
            <a:avLst/>
          </a:prstGeom>
          <a:noFill/>
          <a:ln w="18360">
            <a:solidFill>
              <a:srgbClr val="ff950e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" descr=""/>
          <p:cNvPicPr/>
          <p:nvPr/>
        </p:nvPicPr>
        <p:blipFill>
          <a:blip r:embed="rId1"/>
          <a:stretch/>
        </p:blipFill>
        <p:spPr>
          <a:xfrm>
            <a:off x="7954920" y="55440"/>
            <a:ext cx="2103120" cy="536400"/>
          </a:xfrm>
          <a:prstGeom prst="rect">
            <a:avLst/>
          </a:prstGeom>
          <a:ln w="0">
            <a:noFill/>
          </a:ln>
        </p:spPr>
      </p:pic>
      <p:pic>
        <p:nvPicPr>
          <p:cNvPr id="277" name="" descr=""/>
          <p:cNvPicPr/>
          <p:nvPr/>
        </p:nvPicPr>
        <p:blipFill>
          <a:blip r:embed="rId2"/>
          <a:stretch/>
        </p:blipFill>
        <p:spPr>
          <a:xfrm>
            <a:off x="58680" y="77760"/>
            <a:ext cx="1277640" cy="452160"/>
          </a:xfrm>
          <a:prstGeom prst="rect">
            <a:avLst/>
          </a:prstGeom>
          <a:ln w="0">
            <a:noFill/>
          </a:ln>
        </p:spPr>
      </p:pic>
      <p:sp>
        <p:nvSpPr>
          <p:cNvPr id="278" name=""/>
          <p:cNvSpPr/>
          <p:nvPr/>
        </p:nvSpPr>
        <p:spPr>
          <a:xfrm>
            <a:off x="2254320" y="61920"/>
            <a:ext cx="525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Agglomerative hierarchical clustering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182520" y="731880"/>
            <a:ext cx="4754160" cy="4663800"/>
          </a:xfrm>
          <a:prstGeom prst="rect">
            <a:avLst/>
          </a:prstGeom>
          <a:noFill/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" name=""/>
          <p:cNvSpPr/>
          <p:nvPr/>
        </p:nvSpPr>
        <p:spPr>
          <a:xfrm>
            <a:off x="5114880" y="731880"/>
            <a:ext cx="4754160" cy="4663800"/>
          </a:xfrm>
          <a:prstGeom prst="rect">
            <a:avLst/>
          </a:prstGeom>
          <a:noFill/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pSp>
        <p:nvGrpSpPr>
          <p:cNvPr id="281" name=""/>
          <p:cNvGrpSpPr/>
          <p:nvPr/>
        </p:nvGrpSpPr>
        <p:grpSpPr>
          <a:xfrm>
            <a:off x="642960" y="3149640"/>
            <a:ext cx="390240" cy="266400"/>
            <a:chOff x="642960" y="3149640"/>
            <a:chExt cx="390240" cy="266400"/>
          </a:xfrm>
        </p:grpSpPr>
        <p:sp>
          <p:nvSpPr>
            <p:cNvPr id="282" name=""/>
            <p:cNvSpPr/>
            <p:nvPr/>
          </p:nvSpPr>
          <p:spPr>
            <a:xfrm>
              <a:off x="676440" y="3149640"/>
              <a:ext cx="26604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83" name=""/>
            <p:cNvSpPr/>
            <p:nvPr/>
          </p:nvSpPr>
          <p:spPr>
            <a:xfrm>
              <a:off x="642960" y="3152880"/>
              <a:ext cx="39024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S3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4" name=""/>
          <p:cNvGrpSpPr/>
          <p:nvPr/>
        </p:nvGrpSpPr>
        <p:grpSpPr>
          <a:xfrm>
            <a:off x="1614600" y="3654360"/>
            <a:ext cx="389880" cy="266400"/>
            <a:chOff x="1614600" y="3654360"/>
            <a:chExt cx="389880" cy="266400"/>
          </a:xfrm>
        </p:grpSpPr>
        <p:sp>
          <p:nvSpPr>
            <p:cNvPr id="285" name=""/>
            <p:cNvSpPr/>
            <p:nvPr/>
          </p:nvSpPr>
          <p:spPr>
            <a:xfrm>
              <a:off x="1647720" y="365436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86" name=""/>
            <p:cNvSpPr/>
            <p:nvPr/>
          </p:nvSpPr>
          <p:spPr>
            <a:xfrm>
              <a:off x="1614600" y="365760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S2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7" name=""/>
          <p:cNvGrpSpPr/>
          <p:nvPr/>
        </p:nvGrpSpPr>
        <p:grpSpPr>
          <a:xfrm>
            <a:off x="318960" y="4807080"/>
            <a:ext cx="390240" cy="266040"/>
            <a:chOff x="318960" y="4807080"/>
            <a:chExt cx="390240" cy="266040"/>
          </a:xfrm>
        </p:grpSpPr>
        <p:sp>
          <p:nvSpPr>
            <p:cNvPr id="288" name=""/>
            <p:cNvSpPr/>
            <p:nvPr/>
          </p:nvSpPr>
          <p:spPr>
            <a:xfrm>
              <a:off x="351000" y="4807080"/>
              <a:ext cx="266040" cy="26604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89" name=""/>
            <p:cNvSpPr/>
            <p:nvPr/>
          </p:nvSpPr>
          <p:spPr>
            <a:xfrm>
              <a:off x="318960" y="4809960"/>
              <a:ext cx="39024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S1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0" name=""/>
          <p:cNvGrpSpPr/>
          <p:nvPr/>
        </p:nvGrpSpPr>
        <p:grpSpPr>
          <a:xfrm>
            <a:off x="2873520" y="1609560"/>
            <a:ext cx="389880" cy="266400"/>
            <a:chOff x="2873520" y="1609560"/>
            <a:chExt cx="389880" cy="266400"/>
          </a:xfrm>
        </p:grpSpPr>
        <p:sp>
          <p:nvSpPr>
            <p:cNvPr id="291" name=""/>
            <p:cNvSpPr/>
            <p:nvPr/>
          </p:nvSpPr>
          <p:spPr>
            <a:xfrm>
              <a:off x="2906640" y="160956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92" name=""/>
            <p:cNvSpPr/>
            <p:nvPr/>
          </p:nvSpPr>
          <p:spPr>
            <a:xfrm>
              <a:off x="2873520" y="161280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S5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3" name=""/>
          <p:cNvGrpSpPr/>
          <p:nvPr/>
        </p:nvGrpSpPr>
        <p:grpSpPr>
          <a:xfrm>
            <a:off x="3911760" y="1347840"/>
            <a:ext cx="389880" cy="266400"/>
            <a:chOff x="3911760" y="1347840"/>
            <a:chExt cx="389880" cy="266400"/>
          </a:xfrm>
        </p:grpSpPr>
        <p:sp>
          <p:nvSpPr>
            <p:cNvPr id="294" name=""/>
            <p:cNvSpPr/>
            <p:nvPr/>
          </p:nvSpPr>
          <p:spPr>
            <a:xfrm>
              <a:off x="3944880" y="1347840"/>
              <a:ext cx="26640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95" name=""/>
            <p:cNvSpPr/>
            <p:nvPr/>
          </p:nvSpPr>
          <p:spPr>
            <a:xfrm>
              <a:off x="3911760" y="1347840"/>
              <a:ext cx="38988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S7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6" name=""/>
          <p:cNvGrpSpPr/>
          <p:nvPr/>
        </p:nvGrpSpPr>
        <p:grpSpPr>
          <a:xfrm>
            <a:off x="3549600" y="1335240"/>
            <a:ext cx="390240" cy="266040"/>
            <a:chOff x="3549600" y="1335240"/>
            <a:chExt cx="390240" cy="266040"/>
          </a:xfrm>
        </p:grpSpPr>
        <p:sp>
          <p:nvSpPr>
            <p:cNvPr id="297" name=""/>
            <p:cNvSpPr/>
            <p:nvPr/>
          </p:nvSpPr>
          <p:spPr>
            <a:xfrm>
              <a:off x="3583080" y="1335240"/>
              <a:ext cx="266400" cy="26604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98" name=""/>
            <p:cNvSpPr/>
            <p:nvPr/>
          </p:nvSpPr>
          <p:spPr>
            <a:xfrm>
              <a:off x="3549600" y="1338120"/>
              <a:ext cx="390240" cy="25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S6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9" name=""/>
          <p:cNvGrpSpPr/>
          <p:nvPr/>
        </p:nvGrpSpPr>
        <p:grpSpPr>
          <a:xfrm>
            <a:off x="4494240" y="3511440"/>
            <a:ext cx="390240" cy="266400"/>
            <a:chOff x="4494240" y="3511440"/>
            <a:chExt cx="390240" cy="266400"/>
          </a:xfrm>
        </p:grpSpPr>
        <p:sp>
          <p:nvSpPr>
            <p:cNvPr id="300" name=""/>
            <p:cNvSpPr/>
            <p:nvPr/>
          </p:nvSpPr>
          <p:spPr>
            <a:xfrm>
              <a:off x="4527720" y="3511440"/>
              <a:ext cx="266040" cy="266400"/>
            </a:xfrm>
            <a:prstGeom prst="ellipse">
              <a:avLst/>
            </a:prstGeom>
            <a:solidFill>
              <a:srgbClr val="729fcf"/>
            </a:solidFill>
            <a:ln w="936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6800" bIns="46800" anchor="ctr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</a:tabLst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01" name=""/>
            <p:cNvSpPr/>
            <p:nvPr/>
          </p:nvSpPr>
          <p:spPr>
            <a:xfrm>
              <a:off x="4494240" y="3514680"/>
              <a:ext cx="39024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93000"/>
                </a:lnSpc>
                <a:spcBef>
                  <a:spcPts val="11"/>
                </a:spcBef>
                <a:spcAft>
                  <a:spcPts val="11"/>
                </a:spcAft>
                <a:tabLst>
                  <a:tab algn="l" pos="0"/>
                  <a:tab algn="l" pos="457200"/>
                  <a:tab algn="l" pos="914400"/>
                  <a:tab algn="l" pos="1371600"/>
                  <a:tab algn="l" pos="1828800"/>
                  <a:tab algn="l" pos="2286000"/>
                  <a:tab algn="l" pos="2743200"/>
                  <a:tab algn="l" pos="3200400"/>
                  <a:tab algn="l" pos="3657600"/>
                  <a:tab algn="l" pos="4114800"/>
                  <a:tab algn="l" pos="4572000"/>
                  <a:tab algn="l" pos="5029200"/>
                  <a:tab algn="l" pos="5486400"/>
                  <a:tab algn="l" pos="5943600"/>
                  <a:tab algn="l" pos="6400800"/>
                  <a:tab algn="l" pos="6858000"/>
                  <a:tab algn="l" pos="7315200"/>
                  <a:tab algn="l" pos="7772400"/>
                  <a:tab algn="l" pos="8229600"/>
                  <a:tab algn="l" pos="8686800"/>
                  <a:tab algn="l" pos="9144000"/>
                  <a:tab algn="l" pos="9601200"/>
                  <a:tab algn="l" pos="10058400"/>
                  <a:tab algn="l" pos="10515600"/>
                </a:tabLst>
              </a:pPr>
              <a:r>
                <a:rPr b="1" lang="en-US" sz="12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S4</a:t>
              </a:r>
              <a:endParaRPr b="0" lang="en-US" sz="1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02" name=""/>
          <p:cNvSpPr/>
          <p:nvPr/>
        </p:nvSpPr>
        <p:spPr>
          <a:xfrm flipV="1">
            <a:off x="5394240" y="2903040"/>
            <a:ext cx="1800" cy="2498760"/>
          </a:xfrm>
          <a:prstGeom prst="line">
            <a:avLst/>
          </a:prstGeom>
          <a:ln w="36720">
            <a:solidFill>
              <a:srgbClr val="aec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3" name=""/>
          <p:cNvSpPr/>
          <p:nvPr/>
        </p:nvSpPr>
        <p:spPr>
          <a:xfrm flipV="1">
            <a:off x="6151680" y="3286080"/>
            <a:ext cx="7920" cy="2116080"/>
          </a:xfrm>
          <a:prstGeom prst="line">
            <a:avLst/>
          </a:prstGeom>
          <a:ln w="3672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" name=""/>
          <p:cNvSpPr/>
          <p:nvPr/>
        </p:nvSpPr>
        <p:spPr>
          <a:xfrm flipV="1">
            <a:off x="6780240" y="3287880"/>
            <a:ext cx="1440" cy="2116080"/>
          </a:xfrm>
          <a:prstGeom prst="line">
            <a:avLst/>
          </a:prstGeom>
          <a:ln w="3672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" name=""/>
          <p:cNvSpPr/>
          <p:nvPr/>
        </p:nvSpPr>
        <p:spPr>
          <a:xfrm flipV="1">
            <a:off x="7472520" y="2373480"/>
            <a:ext cx="1440" cy="303048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" name=""/>
          <p:cNvSpPr/>
          <p:nvPr/>
        </p:nvSpPr>
        <p:spPr>
          <a:xfrm flipV="1">
            <a:off x="8434440" y="4109760"/>
            <a:ext cx="1440" cy="1292040"/>
          </a:xfrm>
          <a:prstGeom prst="line">
            <a:avLst/>
          </a:prstGeom>
          <a:ln w="36720">
            <a:solidFill>
              <a:srgbClr val="009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" name=""/>
          <p:cNvSpPr/>
          <p:nvPr/>
        </p:nvSpPr>
        <p:spPr>
          <a:xfrm flipV="1">
            <a:off x="8886960" y="4657680"/>
            <a:ext cx="1440" cy="744480"/>
          </a:xfrm>
          <a:prstGeom prst="line">
            <a:avLst/>
          </a:prstGeom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" name=""/>
          <p:cNvSpPr/>
          <p:nvPr/>
        </p:nvSpPr>
        <p:spPr>
          <a:xfrm flipV="1">
            <a:off x="9570960" y="4657680"/>
            <a:ext cx="1800" cy="744480"/>
          </a:xfrm>
          <a:prstGeom prst="line">
            <a:avLst/>
          </a:prstGeom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" name=""/>
          <p:cNvSpPr/>
          <p:nvPr/>
        </p:nvSpPr>
        <p:spPr>
          <a:xfrm>
            <a:off x="8886960" y="4660920"/>
            <a:ext cx="684000" cy="1440"/>
          </a:xfrm>
          <a:prstGeom prst="line">
            <a:avLst/>
          </a:prstGeom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" name=""/>
          <p:cNvSpPr/>
          <p:nvPr/>
        </p:nvSpPr>
        <p:spPr>
          <a:xfrm flipV="1">
            <a:off x="9210600" y="4106520"/>
            <a:ext cx="1800" cy="539640"/>
          </a:xfrm>
          <a:prstGeom prst="line">
            <a:avLst/>
          </a:prstGeom>
          <a:ln w="36720">
            <a:solidFill>
              <a:srgbClr val="009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" name=""/>
          <p:cNvSpPr/>
          <p:nvPr/>
        </p:nvSpPr>
        <p:spPr>
          <a:xfrm>
            <a:off x="8418600" y="4097160"/>
            <a:ext cx="792000" cy="12960"/>
          </a:xfrm>
          <a:prstGeom prst="line">
            <a:avLst/>
          </a:prstGeom>
          <a:ln w="36720">
            <a:solidFill>
              <a:srgbClr val="009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3840" bIns="-3384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" name=""/>
          <p:cNvSpPr/>
          <p:nvPr/>
        </p:nvSpPr>
        <p:spPr>
          <a:xfrm flipV="1">
            <a:off x="8837640" y="2371680"/>
            <a:ext cx="1440" cy="17337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" name=""/>
          <p:cNvSpPr/>
          <p:nvPr/>
        </p:nvSpPr>
        <p:spPr>
          <a:xfrm>
            <a:off x="7483320" y="2368440"/>
            <a:ext cx="1354320" cy="79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8880" bIns="-3888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4" name=""/>
          <p:cNvSpPr/>
          <p:nvPr/>
        </p:nvSpPr>
        <p:spPr>
          <a:xfrm>
            <a:off x="6159600" y="3292560"/>
            <a:ext cx="620640" cy="1440"/>
          </a:xfrm>
          <a:prstGeom prst="line">
            <a:avLst/>
          </a:prstGeom>
          <a:ln w="36720">
            <a:solidFill>
              <a:srgbClr val="ff95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" name=""/>
          <p:cNvSpPr/>
          <p:nvPr/>
        </p:nvSpPr>
        <p:spPr>
          <a:xfrm flipV="1">
            <a:off x="6475320" y="2916000"/>
            <a:ext cx="1800" cy="398520"/>
          </a:xfrm>
          <a:prstGeom prst="line">
            <a:avLst/>
          </a:prstGeom>
          <a:ln w="36720">
            <a:solidFill>
              <a:srgbClr val="aec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" name=""/>
          <p:cNvSpPr/>
          <p:nvPr/>
        </p:nvSpPr>
        <p:spPr>
          <a:xfrm>
            <a:off x="5394240" y="2908440"/>
            <a:ext cx="1079640" cy="12600"/>
          </a:xfrm>
          <a:prstGeom prst="line">
            <a:avLst/>
          </a:prstGeom>
          <a:ln w="36720">
            <a:solidFill>
              <a:srgbClr val="aec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" name=""/>
          <p:cNvSpPr/>
          <p:nvPr/>
        </p:nvSpPr>
        <p:spPr>
          <a:xfrm flipV="1">
            <a:off x="5913360" y="1091880"/>
            <a:ext cx="1800" cy="182556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" name=""/>
          <p:cNvSpPr/>
          <p:nvPr/>
        </p:nvSpPr>
        <p:spPr>
          <a:xfrm flipV="1">
            <a:off x="8116920" y="1092240"/>
            <a:ext cx="1440" cy="12859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" name=""/>
          <p:cNvSpPr/>
          <p:nvPr/>
        </p:nvSpPr>
        <p:spPr>
          <a:xfrm>
            <a:off x="5913360" y="1096920"/>
            <a:ext cx="2205000" cy="2052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6280" bIns="-2628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" name=""/>
          <p:cNvSpPr/>
          <p:nvPr/>
        </p:nvSpPr>
        <p:spPr>
          <a:xfrm flipV="1">
            <a:off x="7015320" y="819000"/>
            <a:ext cx="1440" cy="3002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" name=""/>
          <p:cNvSpPr/>
          <p:nvPr/>
        </p:nvSpPr>
        <p:spPr>
          <a:xfrm>
            <a:off x="8717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>
            <a:off x="9401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8285040" y="537228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"/>
          <p:cNvSpPr/>
          <p:nvPr/>
        </p:nvSpPr>
        <p:spPr>
          <a:xfrm>
            <a:off x="518940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"/>
          <p:cNvSpPr/>
          <p:nvPr/>
        </p:nvSpPr>
        <p:spPr>
          <a:xfrm>
            <a:off x="598176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>
            <a:off x="659304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>
            <a:off x="7313760" y="5367240"/>
            <a:ext cx="36792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S4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"/>
          <p:cNvSpPr/>
          <p:nvPr/>
        </p:nvSpPr>
        <p:spPr>
          <a:xfrm>
            <a:off x="3475080" y="1062000"/>
            <a:ext cx="914040" cy="914040"/>
          </a:xfrm>
          <a:prstGeom prst="ellipse">
            <a:avLst/>
          </a:prstGeom>
          <a:noFill/>
          <a:ln w="18360">
            <a:solidFill>
              <a:srgbClr val="ff00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" name=""/>
          <p:cNvSpPr/>
          <p:nvPr/>
        </p:nvSpPr>
        <p:spPr>
          <a:xfrm>
            <a:off x="2890800" y="861840"/>
            <a:ext cx="1553760" cy="1554120"/>
          </a:xfrm>
          <a:prstGeom prst="ellipse">
            <a:avLst/>
          </a:prstGeom>
          <a:noFill/>
          <a:ln w="18360">
            <a:solidFill>
              <a:srgbClr val="0095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" name=""/>
          <p:cNvSpPr/>
          <p:nvPr/>
        </p:nvSpPr>
        <p:spPr>
          <a:xfrm>
            <a:off x="5114880" y="2889360"/>
            <a:ext cx="4754520" cy="1440"/>
          </a:xfrm>
          <a:prstGeom prst="line">
            <a:avLst/>
          </a:prstGeom>
          <a:ln w="18360">
            <a:solidFill>
              <a:srgbClr val="0000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" name=""/>
          <p:cNvSpPr/>
          <p:nvPr/>
        </p:nvSpPr>
        <p:spPr>
          <a:xfrm>
            <a:off x="568440" y="2784600"/>
            <a:ext cx="1463040" cy="1463040"/>
          </a:xfrm>
          <a:prstGeom prst="ellipse">
            <a:avLst/>
          </a:prstGeom>
          <a:noFill/>
          <a:ln w="18360">
            <a:solidFill>
              <a:srgbClr val="ff950e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" name=""/>
          <p:cNvSpPr/>
          <p:nvPr/>
        </p:nvSpPr>
        <p:spPr>
          <a:xfrm>
            <a:off x="-108000" y="2743200"/>
            <a:ext cx="2560320" cy="2598480"/>
          </a:xfrm>
          <a:prstGeom prst="ellipse">
            <a:avLst/>
          </a:prstGeom>
          <a:noFill/>
          <a:ln w="18360">
            <a:solidFill>
              <a:srgbClr val="aecf00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" descr=""/>
          <p:cNvPicPr/>
          <p:nvPr/>
        </p:nvPicPr>
        <p:blipFill>
          <a:blip r:embed="rId1"/>
          <a:stretch/>
        </p:blipFill>
        <p:spPr>
          <a:xfrm>
            <a:off x="9360" y="3240"/>
            <a:ext cx="10078920" cy="5668560"/>
          </a:xfrm>
          <a:prstGeom prst="rect">
            <a:avLst/>
          </a:prstGeom>
          <a:ln w="0">
            <a:noFill/>
          </a:ln>
        </p:spPr>
      </p:pic>
      <p:sp>
        <p:nvSpPr>
          <p:cNvPr id="334" name=""/>
          <p:cNvSpPr/>
          <p:nvPr/>
        </p:nvSpPr>
        <p:spPr>
          <a:xfrm>
            <a:off x="4865760" y="1208160"/>
            <a:ext cx="517176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euc_dist_23 = sqrt ((2-5)^2 + (5-3)^2) = 3.605551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" descr=""/>
          <p:cNvPicPr/>
          <p:nvPr/>
        </p:nvPicPr>
        <p:blipFill>
          <a:blip r:embed="rId1"/>
          <a:stretch/>
        </p:blipFill>
        <p:spPr>
          <a:xfrm>
            <a:off x="9360" y="3240"/>
            <a:ext cx="10078920" cy="5668560"/>
          </a:xfrm>
          <a:prstGeom prst="rect">
            <a:avLst/>
          </a:prstGeom>
          <a:ln w="0">
            <a:noFill/>
          </a:ln>
        </p:spPr>
      </p:pic>
      <p:sp>
        <p:nvSpPr>
          <p:cNvPr id="336" name=""/>
          <p:cNvSpPr/>
          <p:nvPr/>
        </p:nvSpPr>
        <p:spPr>
          <a:xfrm>
            <a:off x="4865760" y="1208160"/>
            <a:ext cx="517176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euc_dist_23 = sqrt ((2-5)^2 + (5-3)^2) = 3.605551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"/>
          <p:cNvSpPr/>
          <p:nvPr/>
        </p:nvSpPr>
        <p:spPr>
          <a:xfrm>
            <a:off x="1336680" y="822240"/>
            <a:ext cx="5138280" cy="24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ff3333"/>
                </a:solidFill>
                <a:latin typeface="Arial"/>
                <a:ea typeface="DejaVu Sans"/>
              </a:rPr>
              <a:t>Add sample to cluster by: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1) Closest neighbor in cluster (single linkage)</a:t>
            </a:r>
            <a:br>
              <a:rPr sz="1800"/>
            </a:b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2) Farthest neighbor in cluster (complete linkage)</a:t>
            </a:r>
            <a:br>
              <a:rPr sz="1800"/>
            </a:b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3) Median / mean of cluster (UPGMA / UPGMC)</a:t>
            </a:r>
            <a:br>
              <a:rPr sz="1800"/>
            </a:b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4) Least change in variation (Ward)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"/>
          <p:cNvSpPr/>
          <p:nvPr/>
        </p:nvSpPr>
        <p:spPr>
          <a:xfrm>
            <a:off x="1328760" y="3944880"/>
            <a:ext cx="5895720" cy="13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ff3333"/>
                </a:solidFill>
                <a:latin typeface="Arial"/>
                <a:ea typeface="DejaVu Sans"/>
              </a:rPr>
              <a:t>Disadvantages of hierachical clustering (no matter type):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Very sensitive to noise in data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9" name="" descr=""/>
          <p:cNvPicPr/>
          <p:nvPr/>
        </p:nvPicPr>
        <p:blipFill>
          <a:blip r:embed="rId1"/>
          <a:stretch/>
        </p:blipFill>
        <p:spPr>
          <a:xfrm>
            <a:off x="7954920" y="55440"/>
            <a:ext cx="2103120" cy="536400"/>
          </a:xfrm>
          <a:prstGeom prst="rect">
            <a:avLst/>
          </a:prstGeom>
          <a:ln w="0">
            <a:noFill/>
          </a:ln>
        </p:spPr>
      </p:pic>
      <p:pic>
        <p:nvPicPr>
          <p:cNvPr id="340" name="" descr=""/>
          <p:cNvPicPr/>
          <p:nvPr/>
        </p:nvPicPr>
        <p:blipFill>
          <a:blip r:embed="rId2"/>
          <a:stretch/>
        </p:blipFill>
        <p:spPr>
          <a:xfrm>
            <a:off x="58680" y="77760"/>
            <a:ext cx="1277640" cy="452160"/>
          </a:xfrm>
          <a:prstGeom prst="rect">
            <a:avLst/>
          </a:prstGeom>
          <a:ln w="0">
            <a:noFill/>
          </a:ln>
        </p:spPr>
      </p:pic>
      <p:sp>
        <p:nvSpPr>
          <p:cNvPr id="341" name=""/>
          <p:cNvSpPr/>
          <p:nvPr/>
        </p:nvSpPr>
        <p:spPr>
          <a:xfrm>
            <a:off x="2254320" y="61920"/>
            <a:ext cx="525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Types of hierarchical clustering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9" dur="indefinite" restart="never" nodeType="tmRoot">
          <p:childTnLst>
            <p:seq>
              <p:cTn id="20" dur="indefinite" nodeType="mainSeq">
                <p:childTnLst>
                  <p:par>
                    <p:cTn id="21" dur="indefinite" fill="hold">
                      <p:stCondLst>
                        <p:cond delay="indefinite"/>
                      </p:stCondLst>
                      <p:childTnLst>
                        <p:par>
                          <p:cTn id="22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23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"/>
          <p:cNvSpPr/>
          <p:nvPr/>
        </p:nvSpPr>
        <p:spPr>
          <a:xfrm>
            <a:off x="1809720" y="1682640"/>
            <a:ext cx="62244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7040" bIns="45000" anchor="t">
            <a:noAutofit/>
          </a:bodyPr>
          <a:p>
            <a:pPr algn="ctr"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3600" spc="-1" strike="noStrike">
                <a:solidFill>
                  <a:srgbClr val="0066cc"/>
                </a:solidFill>
                <a:latin typeface="Arial"/>
                <a:ea typeface="DejaVu Sans"/>
              </a:rPr>
              <a:t>Partitioning clustering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3" name="" descr=""/>
          <p:cNvPicPr/>
          <p:nvPr/>
        </p:nvPicPr>
        <p:blipFill>
          <a:blip r:embed="rId1"/>
          <a:stretch/>
        </p:blipFill>
        <p:spPr>
          <a:xfrm>
            <a:off x="7954920" y="55440"/>
            <a:ext cx="2103120" cy="536400"/>
          </a:xfrm>
          <a:prstGeom prst="rect">
            <a:avLst/>
          </a:prstGeom>
          <a:ln w="0">
            <a:noFill/>
          </a:ln>
        </p:spPr>
      </p:pic>
      <p:pic>
        <p:nvPicPr>
          <p:cNvPr id="344" name="" descr=""/>
          <p:cNvPicPr/>
          <p:nvPr/>
        </p:nvPicPr>
        <p:blipFill>
          <a:blip r:embed="rId2"/>
          <a:stretch/>
        </p:blipFill>
        <p:spPr>
          <a:xfrm>
            <a:off x="58680" y="77760"/>
            <a:ext cx="1277640" cy="45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" descr=""/>
          <p:cNvPicPr/>
          <p:nvPr/>
        </p:nvPicPr>
        <p:blipFill>
          <a:blip r:embed="rId1"/>
          <a:srcRect l="0" t="11233" r="4669" b="3286"/>
          <a:stretch/>
        </p:blipFill>
        <p:spPr>
          <a:xfrm>
            <a:off x="1413000" y="784080"/>
            <a:ext cx="6109920" cy="4846320"/>
          </a:xfrm>
          <a:prstGeom prst="rect">
            <a:avLst/>
          </a:prstGeom>
          <a:ln w="0">
            <a:noFill/>
          </a:ln>
        </p:spPr>
      </p:pic>
      <p:pic>
        <p:nvPicPr>
          <p:cNvPr id="346" name="" descr=""/>
          <p:cNvPicPr/>
          <p:nvPr/>
        </p:nvPicPr>
        <p:blipFill>
          <a:blip r:embed="rId2"/>
          <a:stretch/>
        </p:blipFill>
        <p:spPr>
          <a:xfrm>
            <a:off x="7954920" y="55440"/>
            <a:ext cx="2103120" cy="536400"/>
          </a:xfrm>
          <a:prstGeom prst="rect">
            <a:avLst/>
          </a:prstGeom>
          <a:ln w="0">
            <a:noFill/>
          </a:ln>
        </p:spPr>
      </p:pic>
      <p:pic>
        <p:nvPicPr>
          <p:cNvPr id="347" name="" descr=""/>
          <p:cNvPicPr/>
          <p:nvPr/>
        </p:nvPicPr>
        <p:blipFill>
          <a:blip r:embed="rId3"/>
          <a:stretch/>
        </p:blipFill>
        <p:spPr>
          <a:xfrm>
            <a:off x="58680" y="77760"/>
            <a:ext cx="1277640" cy="452160"/>
          </a:xfrm>
          <a:prstGeom prst="rect">
            <a:avLst/>
          </a:prstGeom>
          <a:ln w="0">
            <a:noFill/>
          </a:ln>
        </p:spPr>
      </p:pic>
      <p:sp>
        <p:nvSpPr>
          <p:cNvPr id="348" name=""/>
          <p:cNvSpPr/>
          <p:nvPr/>
        </p:nvSpPr>
        <p:spPr>
          <a:xfrm>
            <a:off x="2254320" y="61920"/>
            <a:ext cx="525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Partitioning principle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 flipH="1">
            <a:off x="3846600" y="639720"/>
            <a:ext cx="2660400" cy="4846680"/>
          </a:xfrm>
          <a:prstGeom prst="line">
            <a:avLst/>
          </a:prstGeom>
          <a:ln w="36720">
            <a:solidFill>
              <a:srgbClr val="ff420e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0" name=""/>
          <p:cNvSpPr/>
          <p:nvPr/>
        </p:nvSpPr>
        <p:spPr>
          <a:xfrm>
            <a:off x="1890720" y="2835360"/>
            <a:ext cx="5761080" cy="1440"/>
          </a:xfrm>
          <a:prstGeom prst="line">
            <a:avLst/>
          </a:prstGeom>
          <a:ln w="36720">
            <a:solidFill>
              <a:srgbClr val="ff420e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360" bIns="-4536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1" name=""/>
          <p:cNvSpPr/>
          <p:nvPr/>
        </p:nvSpPr>
        <p:spPr>
          <a:xfrm>
            <a:off x="7902720" y="2343240"/>
            <a:ext cx="182844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ff420e"/>
                </a:solidFill>
                <a:latin typeface="Arial"/>
                <a:ea typeface="DejaVu Sans"/>
              </a:rPr>
              <a:t>No dendrogram!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7883640" y="1189080"/>
            <a:ext cx="1879200" cy="85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009500"/>
                </a:solidFill>
                <a:latin typeface="Arial"/>
                <a:ea typeface="DejaVu Sans"/>
              </a:rPr>
              <a:t>Assign points to</a:t>
            </a:r>
            <a:br>
              <a:rPr sz="1800"/>
            </a:br>
            <a:r>
              <a:rPr b="0" lang="en-US" sz="1800" spc="-1" strike="noStrike">
                <a:solidFill>
                  <a:srgbClr val="009500"/>
                </a:solidFill>
                <a:latin typeface="Arial"/>
                <a:ea typeface="DejaVu Sans"/>
              </a:rPr>
              <a:t>K = 2, 3, 4, 5, …</a:t>
            </a:r>
            <a:br>
              <a:rPr sz="1800"/>
            </a:br>
            <a:r>
              <a:rPr b="0" lang="en-US" sz="1800" spc="-1" strike="noStrike">
                <a:solidFill>
                  <a:srgbClr val="009500"/>
                </a:solidFill>
                <a:latin typeface="Arial"/>
                <a:ea typeface="DejaVu Sans"/>
              </a:rPr>
              <a:t>groups (clusters)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7974000" y="3774960"/>
            <a:ext cx="205848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K-means, C-means, PAM, GMM, ...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5" dur="indefinite" restart="never" nodeType="tmRoot">
          <p:childTnLst>
            <p:seq>
              <p:cTn id="26" dur="indefinite" nodeType="mainSeq">
                <p:childTnLst>
                  <p:par>
                    <p:cTn id="27" dur="indefinite" fill="hold">
                      <p:stCondLst>
                        <p:cond delay="indefinite"/>
                      </p:stCondLst>
                      <p:childTnLst>
                        <p:par>
                          <p:cTn id="28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29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dur="indefinite" fill="hold">
                      <p:stCondLst>
                        <p:cond delay="indefinite"/>
                      </p:stCondLst>
                      <p:childTnLst>
                        <p:par>
                          <p:cTn id="32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33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4" name="" descr=""/>
          <p:cNvPicPr/>
          <p:nvPr/>
        </p:nvPicPr>
        <p:blipFill>
          <a:blip r:embed="rId1"/>
          <a:stretch/>
        </p:blipFill>
        <p:spPr>
          <a:xfrm>
            <a:off x="9360" y="3240"/>
            <a:ext cx="10078920" cy="5668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5" name="" descr=""/>
          <p:cNvPicPr/>
          <p:nvPr/>
        </p:nvPicPr>
        <p:blipFill>
          <a:blip r:embed="rId1"/>
          <a:stretch/>
        </p:blipFill>
        <p:spPr>
          <a:xfrm>
            <a:off x="9360" y="3240"/>
            <a:ext cx="10078920" cy="5668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6" name="" descr=""/>
          <p:cNvPicPr/>
          <p:nvPr/>
        </p:nvPicPr>
        <p:blipFill>
          <a:blip r:embed="rId1"/>
          <a:stretch/>
        </p:blipFill>
        <p:spPr>
          <a:xfrm>
            <a:off x="22320" y="650880"/>
            <a:ext cx="4089600" cy="2995920"/>
          </a:xfrm>
          <a:prstGeom prst="rect">
            <a:avLst/>
          </a:prstGeom>
          <a:ln w="0">
            <a:noFill/>
          </a:ln>
        </p:spPr>
      </p:pic>
      <p:pic>
        <p:nvPicPr>
          <p:cNvPr id="357" name="" descr=""/>
          <p:cNvPicPr/>
          <p:nvPr/>
        </p:nvPicPr>
        <p:blipFill>
          <a:blip r:embed="rId2"/>
          <a:stretch/>
        </p:blipFill>
        <p:spPr>
          <a:xfrm>
            <a:off x="7955280" y="55440"/>
            <a:ext cx="2103480" cy="536760"/>
          </a:xfrm>
          <a:prstGeom prst="rect">
            <a:avLst/>
          </a:prstGeom>
          <a:ln w="0">
            <a:noFill/>
          </a:ln>
        </p:spPr>
      </p:pic>
      <p:pic>
        <p:nvPicPr>
          <p:cNvPr id="358" name="" descr=""/>
          <p:cNvPicPr/>
          <p:nvPr/>
        </p:nvPicPr>
        <p:blipFill>
          <a:blip r:embed="rId3"/>
          <a:stretch/>
        </p:blipFill>
        <p:spPr>
          <a:xfrm>
            <a:off x="58680" y="77760"/>
            <a:ext cx="1278000" cy="452520"/>
          </a:xfrm>
          <a:prstGeom prst="rect">
            <a:avLst/>
          </a:prstGeom>
          <a:ln w="0">
            <a:noFill/>
          </a:ln>
        </p:spPr>
      </p:pic>
      <p:sp>
        <p:nvSpPr>
          <p:cNvPr id="359" name=""/>
          <p:cNvSpPr/>
          <p:nvPr/>
        </p:nvSpPr>
        <p:spPr>
          <a:xfrm>
            <a:off x="2254320" y="61920"/>
            <a:ext cx="525636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Gaussian Mixture Model (GMM)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326880" y="3681720"/>
            <a:ext cx="34660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009500"/>
                </a:solidFill>
                <a:latin typeface="Arial"/>
              </a:rPr>
              <a:t>GMM is a </a:t>
            </a:r>
            <a:r>
              <a:rPr b="0" lang="en-US" sz="1800" spc="-1" strike="noStrike">
                <a:solidFill>
                  <a:srgbClr val="009500"/>
                </a:solidFill>
                <a:latin typeface="Arial"/>
              </a:rPr>
              <a:t>probabilistic </a:t>
            </a:r>
            <a:r>
              <a:rPr b="0" lang="en-US" sz="1800" spc="-1" strike="noStrike">
                <a:solidFill>
                  <a:srgbClr val="009500"/>
                </a:solidFill>
                <a:latin typeface="Arial"/>
              </a:rPr>
              <a:t>clustering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1" name="" descr=""/>
          <p:cNvPicPr/>
          <p:nvPr/>
        </p:nvPicPr>
        <p:blipFill>
          <a:blip r:embed="rId4"/>
          <a:srcRect l="22596" t="25750" r="14821" b="30702"/>
          <a:stretch/>
        </p:blipFill>
        <p:spPr>
          <a:xfrm>
            <a:off x="4184640" y="1446120"/>
            <a:ext cx="5855040" cy="2291040"/>
          </a:xfrm>
          <a:prstGeom prst="rect">
            <a:avLst/>
          </a:prstGeom>
          <a:ln w="0">
            <a:noFill/>
          </a:ln>
        </p:spPr>
      </p:pic>
      <p:sp>
        <p:nvSpPr>
          <p:cNvPr id="362" name=""/>
          <p:cNvSpPr/>
          <p:nvPr/>
        </p:nvSpPr>
        <p:spPr>
          <a:xfrm>
            <a:off x="5022720" y="822240"/>
            <a:ext cx="44042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Expectation-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Maximization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(EM) algorithm: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>
            <a:off x="2125800" y="4412160"/>
            <a:ext cx="6632640" cy="8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ff3333"/>
                </a:solidFill>
                <a:latin typeface="Arial"/>
              </a:rPr>
              <a:t>Disadvantages of partitioning clustering (no </a:t>
            </a:r>
            <a:r>
              <a:rPr b="0" lang="en-US" sz="1800" spc="-1" strike="noStrike">
                <a:solidFill>
                  <a:srgbClr val="ff3333"/>
                </a:solidFill>
                <a:latin typeface="Arial"/>
              </a:rPr>
              <a:t>matter type):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1) Assumes spherical / ellipsoidal symmetry of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clusters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2) Number of clusters has to be defined a-priori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35" dur="indefinite" restart="never" nodeType="tmRoot">
          <p:childTnLst>
            <p:seq>
              <p:cTn id="36" dur="indefinite" nodeType="mainSeq">
                <p:childTnLst>
                  <p:par>
                    <p:cTn id="37" dur="indefinite" fill="hold">
                      <p:stCondLst>
                        <p:cond delay="indefinite"/>
                      </p:stCondLst>
                      <p:childTnLst>
                        <p:par>
                          <p:cTn id="38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39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dur="indefinite" fill="hold">
                      <p:stCondLst>
                        <p:cond delay="indefinite"/>
                      </p:stCondLst>
                      <p:childTnLst>
                        <p:par>
                          <p:cTn id="42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43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dur="indefinite" fill="hold">
                      <p:stCondLst>
                        <p:cond delay="indefinite"/>
                      </p:stCondLst>
                      <p:childTnLst>
                        <p:par>
                          <p:cTn id="48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49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4" name="" descr=""/>
          <p:cNvPicPr/>
          <p:nvPr/>
        </p:nvPicPr>
        <p:blipFill>
          <a:blip r:embed="rId1"/>
          <a:srcRect l="22585" t="15724" r="12451" b="68682"/>
          <a:stretch/>
        </p:blipFill>
        <p:spPr>
          <a:xfrm>
            <a:off x="4389480" y="642960"/>
            <a:ext cx="5669280" cy="765000"/>
          </a:xfrm>
          <a:prstGeom prst="rect">
            <a:avLst/>
          </a:prstGeom>
          <a:ln w="0">
            <a:noFill/>
          </a:ln>
        </p:spPr>
      </p:pic>
      <p:pic>
        <p:nvPicPr>
          <p:cNvPr id="365" name="" descr=""/>
          <p:cNvPicPr/>
          <p:nvPr/>
        </p:nvPicPr>
        <p:blipFill>
          <a:blip r:embed="rId2"/>
          <a:srcRect l="23490" t="14460" r="13006" b="1673"/>
          <a:stretch/>
        </p:blipFill>
        <p:spPr>
          <a:xfrm>
            <a:off x="36360" y="460440"/>
            <a:ext cx="4298040" cy="2599200"/>
          </a:xfrm>
          <a:prstGeom prst="rect">
            <a:avLst/>
          </a:prstGeom>
          <a:ln w="0">
            <a:noFill/>
          </a:ln>
        </p:spPr>
      </p:pic>
      <p:pic>
        <p:nvPicPr>
          <p:cNvPr id="366" name="" descr=""/>
          <p:cNvPicPr/>
          <p:nvPr/>
        </p:nvPicPr>
        <p:blipFill>
          <a:blip r:embed="rId3"/>
          <a:stretch/>
        </p:blipFill>
        <p:spPr>
          <a:xfrm>
            <a:off x="7955280" y="20520"/>
            <a:ext cx="2103480" cy="479520"/>
          </a:xfrm>
          <a:prstGeom prst="rect">
            <a:avLst/>
          </a:prstGeom>
          <a:ln w="0">
            <a:noFill/>
          </a:ln>
        </p:spPr>
      </p:pic>
      <p:pic>
        <p:nvPicPr>
          <p:cNvPr id="367" name="" descr=""/>
          <p:cNvPicPr/>
          <p:nvPr/>
        </p:nvPicPr>
        <p:blipFill>
          <a:blip r:embed="rId4"/>
          <a:stretch/>
        </p:blipFill>
        <p:spPr>
          <a:xfrm>
            <a:off x="58680" y="42840"/>
            <a:ext cx="1278000" cy="417600"/>
          </a:xfrm>
          <a:prstGeom prst="rect">
            <a:avLst/>
          </a:prstGeom>
          <a:ln w="0">
            <a:noFill/>
          </a:ln>
        </p:spPr>
      </p:pic>
      <p:sp>
        <p:nvSpPr>
          <p:cNvPr id="368" name=""/>
          <p:cNvSpPr/>
          <p:nvPr/>
        </p:nvSpPr>
        <p:spPr>
          <a:xfrm>
            <a:off x="2254320" y="-9360"/>
            <a:ext cx="525636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GMM from scratch in Python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9" name="" descr=""/>
          <p:cNvPicPr/>
          <p:nvPr/>
        </p:nvPicPr>
        <p:blipFill>
          <a:blip r:embed="rId5"/>
          <a:srcRect l="22585" t="14460" r="12096" b="14576"/>
          <a:stretch/>
        </p:blipFill>
        <p:spPr>
          <a:xfrm>
            <a:off x="36360" y="3059640"/>
            <a:ext cx="4298040" cy="2587680"/>
          </a:xfrm>
          <a:prstGeom prst="rect">
            <a:avLst/>
          </a:prstGeom>
          <a:ln w="0">
            <a:noFill/>
          </a:ln>
        </p:spPr>
      </p:pic>
      <p:pic>
        <p:nvPicPr>
          <p:cNvPr id="370" name="" descr=""/>
          <p:cNvPicPr/>
          <p:nvPr/>
        </p:nvPicPr>
        <p:blipFill>
          <a:blip r:embed="rId6"/>
          <a:srcRect l="22585" t="11237" r="12096" b="1064"/>
          <a:stretch/>
        </p:blipFill>
        <p:spPr>
          <a:xfrm>
            <a:off x="4395960" y="1384200"/>
            <a:ext cx="5680440" cy="4290120"/>
          </a:xfrm>
          <a:prstGeom prst="rect">
            <a:avLst/>
          </a:prstGeom>
          <a:ln w="0">
            <a:noFill/>
          </a:ln>
        </p:spPr>
      </p:pic>
      <p:sp>
        <p:nvSpPr>
          <p:cNvPr id="371" name=""/>
          <p:cNvSpPr/>
          <p:nvPr/>
        </p:nvSpPr>
        <p:spPr>
          <a:xfrm>
            <a:off x="4699080" y="463680"/>
            <a:ext cx="509760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93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Coding Expectation-Maximization (EM) algorithm from scratch in Python: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51" dur="indefinite" restart="never" nodeType="tmRoot">
          <p:childTnLst>
            <p:seq>
              <p:cTn id="52" dur="indefinite" nodeType="mainSeq">
                <p:childTnLst>
                  <p:par>
                    <p:cTn id="53" dur="indefinite" fill="hold">
                      <p:stCondLst>
                        <p:cond delay="indefinite"/>
                      </p:stCondLst>
                      <p:childTnLst>
                        <p:par>
                          <p:cTn id="54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55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dur="indefinite" fill="hold">
                      <p:stCondLst>
                        <p:cond delay="indefinite"/>
                      </p:stCondLst>
                      <p:childTnLst>
                        <p:par>
                          <p:cTn id="60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61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" descr=""/>
          <p:cNvPicPr/>
          <p:nvPr/>
        </p:nvPicPr>
        <p:blipFill>
          <a:blip r:embed="rId1"/>
          <a:stretch/>
        </p:blipFill>
        <p:spPr>
          <a:xfrm>
            <a:off x="36360" y="574560"/>
            <a:ext cx="3256560" cy="2458080"/>
          </a:xfrm>
          <a:prstGeom prst="rect">
            <a:avLst/>
          </a:prstGeom>
          <a:ln w="0">
            <a:noFill/>
          </a:ln>
        </p:spPr>
      </p:pic>
      <p:pic>
        <p:nvPicPr>
          <p:cNvPr id="373" name="" descr=""/>
          <p:cNvPicPr/>
          <p:nvPr/>
        </p:nvPicPr>
        <p:blipFill>
          <a:blip r:embed="rId2"/>
          <a:stretch/>
        </p:blipFill>
        <p:spPr>
          <a:xfrm>
            <a:off x="3390840" y="576360"/>
            <a:ext cx="3234240" cy="2441880"/>
          </a:xfrm>
          <a:prstGeom prst="rect">
            <a:avLst/>
          </a:prstGeom>
          <a:ln w="0">
            <a:noFill/>
          </a:ln>
        </p:spPr>
      </p:pic>
      <p:pic>
        <p:nvPicPr>
          <p:cNvPr id="374" name="" descr=""/>
          <p:cNvPicPr/>
          <p:nvPr/>
        </p:nvPicPr>
        <p:blipFill>
          <a:blip r:embed="rId3"/>
          <a:stretch/>
        </p:blipFill>
        <p:spPr>
          <a:xfrm>
            <a:off x="6777360" y="547560"/>
            <a:ext cx="3291120" cy="2470680"/>
          </a:xfrm>
          <a:prstGeom prst="rect">
            <a:avLst/>
          </a:prstGeom>
          <a:ln w="0">
            <a:noFill/>
          </a:ln>
        </p:spPr>
      </p:pic>
      <p:pic>
        <p:nvPicPr>
          <p:cNvPr id="375" name="" descr=""/>
          <p:cNvPicPr/>
          <p:nvPr/>
        </p:nvPicPr>
        <p:blipFill>
          <a:blip r:embed="rId4"/>
          <a:stretch/>
        </p:blipFill>
        <p:spPr>
          <a:xfrm>
            <a:off x="3365640" y="3129480"/>
            <a:ext cx="3291120" cy="2468880"/>
          </a:xfrm>
          <a:prstGeom prst="rect">
            <a:avLst/>
          </a:prstGeom>
          <a:ln w="0">
            <a:noFill/>
          </a:ln>
        </p:spPr>
      </p:pic>
      <p:pic>
        <p:nvPicPr>
          <p:cNvPr id="376" name="" descr=""/>
          <p:cNvPicPr/>
          <p:nvPr/>
        </p:nvPicPr>
        <p:blipFill>
          <a:blip r:embed="rId5"/>
          <a:stretch/>
        </p:blipFill>
        <p:spPr>
          <a:xfrm>
            <a:off x="6766200" y="3115080"/>
            <a:ext cx="3285000" cy="2465640"/>
          </a:xfrm>
          <a:prstGeom prst="rect">
            <a:avLst/>
          </a:prstGeom>
          <a:ln w="0">
            <a:noFill/>
          </a:ln>
        </p:spPr>
      </p:pic>
      <p:pic>
        <p:nvPicPr>
          <p:cNvPr id="377" name="" descr=""/>
          <p:cNvPicPr/>
          <p:nvPr/>
        </p:nvPicPr>
        <p:blipFill>
          <a:blip r:embed="rId6"/>
          <a:stretch/>
        </p:blipFill>
        <p:spPr>
          <a:xfrm>
            <a:off x="6480" y="3115080"/>
            <a:ext cx="3284640" cy="2465640"/>
          </a:xfrm>
          <a:prstGeom prst="rect">
            <a:avLst/>
          </a:prstGeom>
          <a:ln w="0">
            <a:noFill/>
          </a:ln>
        </p:spPr>
      </p:pic>
      <p:pic>
        <p:nvPicPr>
          <p:cNvPr id="378" name="" descr=""/>
          <p:cNvPicPr/>
          <p:nvPr/>
        </p:nvPicPr>
        <p:blipFill>
          <a:blip r:embed="rId7"/>
          <a:stretch/>
        </p:blipFill>
        <p:spPr>
          <a:xfrm>
            <a:off x="7955280" y="20520"/>
            <a:ext cx="2103480" cy="536760"/>
          </a:xfrm>
          <a:prstGeom prst="rect">
            <a:avLst/>
          </a:prstGeom>
          <a:ln w="0">
            <a:noFill/>
          </a:ln>
        </p:spPr>
      </p:pic>
      <p:pic>
        <p:nvPicPr>
          <p:cNvPr id="379" name="" descr=""/>
          <p:cNvPicPr/>
          <p:nvPr/>
        </p:nvPicPr>
        <p:blipFill>
          <a:blip r:embed="rId8"/>
          <a:stretch/>
        </p:blipFill>
        <p:spPr>
          <a:xfrm>
            <a:off x="58680" y="77760"/>
            <a:ext cx="1278000" cy="45252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/>
          <p:nvPr/>
        </p:nvSpPr>
        <p:spPr>
          <a:xfrm>
            <a:off x="2254320" y="27000"/>
            <a:ext cx="525636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spcBef>
                <a:spcPts val="11"/>
              </a:spcBef>
              <a:spcAft>
                <a:spcPts val="11"/>
              </a:spcAft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GMM: iteration by iteration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63" dur="indefinite" restart="never" nodeType="tmRoot">
          <p:childTnLst>
            <p:seq>
              <p:cTn id="64" dur="indefinite" nodeType="mainSeq">
                <p:childTnLst>
                  <p:par>
                    <p:cTn id="65" dur="indefinite" fill="hold">
                      <p:stCondLst>
                        <p:cond delay="indefinite"/>
                      </p:stCondLst>
                      <p:childTnLst>
                        <p:par>
                          <p:cTn id="66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67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dur="indefinite" fill="hold">
                      <p:stCondLst>
                        <p:cond delay="indefinite"/>
                      </p:stCondLst>
                      <p:childTnLst>
                        <p:par>
                          <p:cTn id="70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71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dur="indefinite" fill="hold">
                      <p:stCondLst>
                        <p:cond delay="indefinite"/>
                      </p:stCondLst>
                      <p:childTnLst>
                        <p:par>
                          <p:cTn id="74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75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dur="indefinite" fill="hold">
                      <p:stCondLst>
                        <p:cond delay="indefinite"/>
                      </p:stCondLst>
                      <p:childTnLst>
                        <p:par>
                          <p:cTn id="78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79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dur="indefinite" fill="hold">
                      <p:stCondLst>
                        <p:cond delay="indefinite"/>
                      </p:stCondLst>
                      <p:childTnLst>
                        <p:par>
                          <p:cTn id="82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83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"/>
          <p:cNvSpPr/>
          <p:nvPr/>
        </p:nvSpPr>
        <p:spPr>
          <a:xfrm>
            <a:off x="1809720" y="1395360"/>
            <a:ext cx="6224400" cy="21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77040" bIns="45000" anchor="t">
            <a:noAutofit/>
          </a:bodyPr>
          <a:p>
            <a:pPr algn="ctr"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1" lang="en-US" sz="3600" spc="-1" strike="noStrike">
                <a:solidFill>
                  <a:srgbClr val="0066cc"/>
                </a:solidFill>
                <a:latin typeface="Arial"/>
                <a:ea typeface="DejaVu Sans"/>
              </a:rPr>
              <a:t>Clustering time series data: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br>
              <a:rPr sz="3600"/>
            </a:br>
            <a:r>
              <a:rPr b="1" lang="en-US" sz="3600" spc="-1" strike="noStrike">
                <a:solidFill>
                  <a:srgbClr val="0066cc"/>
                </a:solidFill>
                <a:latin typeface="Arial"/>
                <a:ea typeface="DejaVu Sans"/>
              </a:rPr>
              <a:t>examples from epidemiology</a:t>
            </a:r>
            <a:br>
              <a:rPr sz="3600"/>
            </a:br>
            <a:r>
              <a:rPr b="1" lang="en-US" sz="3600" spc="-1" strike="noStrike">
                <a:solidFill>
                  <a:srgbClr val="0066cc"/>
                </a:solidFill>
                <a:latin typeface="Arial"/>
                <a:ea typeface="DejaVu Sans"/>
              </a:rPr>
              <a:t>and marine ecology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2" name="" descr=""/>
          <p:cNvPicPr/>
          <p:nvPr/>
        </p:nvPicPr>
        <p:blipFill>
          <a:blip r:embed="rId1"/>
          <a:stretch/>
        </p:blipFill>
        <p:spPr>
          <a:xfrm>
            <a:off x="7954920" y="55440"/>
            <a:ext cx="2103120" cy="536400"/>
          </a:xfrm>
          <a:prstGeom prst="rect">
            <a:avLst/>
          </a:prstGeom>
          <a:ln w="0">
            <a:noFill/>
          </a:ln>
        </p:spPr>
      </p:pic>
      <p:pic>
        <p:nvPicPr>
          <p:cNvPr id="383" name="" descr=""/>
          <p:cNvPicPr/>
          <p:nvPr/>
        </p:nvPicPr>
        <p:blipFill>
          <a:blip r:embed="rId2"/>
          <a:stretch/>
        </p:blipFill>
        <p:spPr>
          <a:xfrm>
            <a:off x="58680" y="77760"/>
            <a:ext cx="1277640" cy="45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" descr=""/>
          <p:cNvPicPr/>
          <p:nvPr/>
        </p:nvPicPr>
        <p:blipFill>
          <a:blip r:embed="rId1"/>
          <a:srcRect l="811" t="37032" r="46563" b="3286"/>
          <a:stretch/>
        </p:blipFill>
        <p:spPr>
          <a:xfrm>
            <a:off x="19080" y="555480"/>
            <a:ext cx="5741640" cy="3662280"/>
          </a:xfrm>
          <a:prstGeom prst="rect">
            <a:avLst/>
          </a:prstGeom>
          <a:ln w="0">
            <a:noFill/>
          </a:ln>
        </p:spPr>
      </p:pic>
      <p:pic>
        <p:nvPicPr>
          <p:cNvPr id="385" name="" descr=""/>
          <p:cNvPicPr/>
          <p:nvPr/>
        </p:nvPicPr>
        <p:blipFill>
          <a:blip r:embed="rId2"/>
          <a:srcRect l="55234" t="9624" r="307" b="33925"/>
          <a:stretch/>
        </p:blipFill>
        <p:spPr>
          <a:xfrm>
            <a:off x="5851440" y="2743200"/>
            <a:ext cx="4205160" cy="2912760"/>
          </a:xfrm>
          <a:prstGeom prst="rect">
            <a:avLst/>
          </a:prstGeom>
          <a:ln w="0">
            <a:noFill/>
          </a:ln>
        </p:spPr>
      </p:pic>
      <p:pic>
        <p:nvPicPr>
          <p:cNvPr id="386" name="" descr=""/>
          <p:cNvPicPr/>
          <p:nvPr/>
        </p:nvPicPr>
        <p:blipFill>
          <a:blip r:embed="rId3"/>
          <a:stretch/>
        </p:blipFill>
        <p:spPr>
          <a:xfrm>
            <a:off x="93600" y="73080"/>
            <a:ext cx="1277640" cy="452160"/>
          </a:xfrm>
          <a:prstGeom prst="rect">
            <a:avLst/>
          </a:prstGeom>
          <a:ln w="0">
            <a:noFill/>
          </a:ln>
        </p:spPr>
      </p:pic>
      <p:sp>
        <p:nvSpPr>
          <p:cNvPr id="387" name=""/>
          <p:cNvSpPr/>
          <p:nvPr/>
        </p:nvSpPr>
        <p:spPr>
          <a:xfrm>
            <a:off x="2141640" y="31680"/>
            <a:ext cx="5257440" cy="4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Foraging activity of harbour porpoises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8" name="" descr=""/>
          <p:cNvPicPr/>
          <p:nvPr/>
        </p:nvPicPr>
        <p:blipFill>
          <a:blip r:embed="rId4"/>
          <a:srcRect l="30744" t="19297" r="26608" b="40371"/>
          <a:stretch/>
        </p:blipFill>
        <p:spPr>
          <a:xfrm>
            <a:off x="5776920" y="549360"/>
            <a:ext cx="4296960" cy="2221920"/>
          </a:xfrm>
          <a:prstGeom prst="rect">
            <a:avLst/>
          </a:prstGeom>
          <a:ln w="0">
            <a:noFill/>
          </a:ln>
        </p:spPr>
      </p:pic>
      <p:pic>
        <p:nvPicPr>
          <p:cNvPr id="389" name="" descr=""/>
          <p:cNvPicPr/>
          <p:nvPr/>
        </p:nvPicPr>
        <p:blipFill>
          <a:blip r:embed="rId5"/>
          <a:stretch/>
        </p:blipFill>
        <p:spPr>
          <a:xfrm>
            <a:off x="7954920" y="20520"/>
            <a:ext cx="2103120" cy="536400"/>
          </a:xfrm>
          <a:prstGeom prst="rect">
            <a:avLst/>
          </a:prstGeom>
          <a:ln w="0">
            <a:noFill/>
          </a:ln>
        </p:spPr>
      </p:pic>
      <p:sp>
        <p:nvSpPr>
          <p:cNvPr id="390" name=""/>
          <p:cNvSpPr/>
          <p:nvPr/>
        </p:nvSpPr>
        <p:spPr>
          <a:xfrm>
            <a:off x="584280" y="4992840"/>
            <a:ext cx="147924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200" spc="-1" strike="noStrike">
                <a:solidFill>
                  <a:srgbClr val="ff6347"/>
                </a:solidFill>
                <a:latin typeface="Arial"/>
                <a:ea typeface="DejaVu Sans"/>
              </a:rPr>
              <a:t>Foraging activity of harbour porpoises is time series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 flipV="1">
            <a:off x="1328760" y="4017600"/>
            <a:ext cx="682560" cy="965160"/>
          </a:xfrm>
          <a:prstGeom prst="line">
            <a:avLst/>
          </a:prstGeom>
          <a:ln w="18360">
            <a:solidFill>
              <a:srgbClr val="ff634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2" name="" descr=""/>
          <p:cNvPicPr/>
          <p:nvPr/>
        </p:nvPicPr>
        <p:blipFill>
          <a:blip r:embed="rId1"/>
          <a:stretch/>
        </p:blipFill>
        <p:spPr>
          <a:xfrm>
            <a:off x="93600" y="73080"/>
            <a:ext cx="1277640" cy="452160"/>
          </a:xfrm>
          <a:prstGeom prst="rect">
            <a:avLst/>
          </a:prstGeom>
          <a:ln w="0">
            <a:noFill/>
          </a:ln>
        </p:spPr>
      </p:pic>
      <p:sp>
        <p:nvSpPr>
          <p:cNvPr id="393" name=""/>
          <p:cNvSpPr/>
          <p:nvPr/>
        </p:nvSpPr>
        <p:spPr>
          <a:xfrm>
            <a:off x="2141640" y="31680"/>
            <a:ext cx="5257440" cy="4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Covid Symptom Study Sweden (CSSS)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4" name="" descr=""/>
          <p:cNvPicPr/>
          <p:nvPr/>
        </p:nvPicPr>
        <p:blipFill>
          <a:blip r:embed="rId2"/>
          <a:stretch/>
        </p:blipFill>
        <p:spPr>
          <a:xfrm>
            <a:off x="7954920" y="20520"/>
            <a:ext cx="2103120" cy="536400"/>
          </a:xfrm>
          <a:prstGeom prst="rect">
            <a:avLst/>
          </a:prstGeom>
          <a:ln w="0">
            <a:noFill/>
          </a:ln>
        </p:spPr>
      </p:pic>
      <p:pic>
        <p:nvPicPr>
          <p:cNvPr id="395" name="" descr=""/>
          <p:cNvPicPr/>
          <p:nvPr/>
        </p:nvPicPr>
        <p:blipFill>
          <a:blip r:embed="rId3"/>
          <a:srcRect l="0" t="0" r="0" b="24388"/>
          <a:stretch/>
        </p:blipFill>
        <p:spPr>
          <a:xfrm>
            <a:off x="92160" y="581040"/>
            <a:ext cx="5974920" cy="2838240"/>
          </a:xfrm>
          <a:prstGeom prst="rect">
            <a:avLst/>
          </a:prstGeom>
          <a:ln w="0">
            <a:noFill/>
          </a:ln>
        </p:spPr>
      </p:pic>
      <p:pic>
        <p:nvPicPr>
          <p:cNvPr id="396" name="" descr=""/>
          <p:cNvPicPr/>
          <p:nvPr/>
        </p:nvPicPr>
        <p:blipFill>
          <a:blip r:embed="rId4"/>
          <a:srcRect l="12386" t="7783" r="36805" b="18026"/>
          <a:stretch/>
        </p:blipFill>
        <p:spPr>
          <a:xfrm>
            <a:off x="1963800" y="3456000"/>
            <a:ext cx="2652120" cy="2177640"/>
          </a:xfrm>
          <a:prstGeom prst="rect">
            <a:avLst/>
          </a:prstGeom>
          <a:ln w="0">
            <a:noFill/>
          </a:ln>
        </p:spPr>
      </p:pic>
      <p:pic>
        <p:nvPicPr>
          <p:cNvPr id="397" name="" descr=""/>
          <p:cNvPicPr/>
          <p:nvPr/>
        </p:nvPicPr>
        <p:blipFill>
          <a:blip r:embed="rId5"/>
          <a:srcRect l="12386" t="7783" r="524" b="30919"/>
          <a:stretch/>
        </p:blipFill>
        <p:spPr>
          <a:xfrm>
            <a:off x="4608360" y="3435480"/>
            <a:ext cx="5456160" cy="2193480"/>
          </a:xfrm>
          <a:prstGeom prst="rect">
            <a:avLst/>
          </a:prstGeom>
          <a:ln w="0">
            <a:noFill/>
          </a:ln>
        </p:spPr>
      </p:pic>
      <p:pic>
        <p:nvPicPr>
          <p:cNvPr id="398" name="" descr=""/>
          <p:cNvPicPr/>
          <p:nvPr/>
        </p:nvPicPr>
        <p:blipFill>
          <a:blip r:embed="rId6"/>
          <a:srcRect l="18953" t="25071" r="41124" b="21270"/>
          <a:stretch/>
        </p:blipFill>
        <p:spPr>
          <a:xfrm>
            <a:off x="6199200" y="565200"/>
            <a:ext cx="3727080" cy="2817360"/>
          </a:xfrm>
          <a:prstGeom prst="rect">
            <a:avLst/>
          </a:prstGeom>
          <a:ln w="0">
            <a:noFill/>
          </a:ln>
        </p:spPr>
      </p:pic>
      <p:sp>
        <p:nvSpPr>
          <p:cNvPr id="399" name=""/>
          <p:cNvSpPr/>
          <p:nvPr/>
        </p:nvSpPr>
        <p:spPr>
          <a:xfrm>
            <a:off x="77760" y="4129200"/>
            <a:ext cx="147924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200" spc="-1" strike="noStrike">
                <a:solidFill>
                  <a:srgbClr val="ff6347"/>
                </a:solidFill>
                <a:latin typeface="Arial"/>
                <a:ea typeface="DejaVu Sans"/>
              </a:rPr>
              <a:t>Covid prevalence in Sweden in time</a:t>
            </a:r>
            <a:br>
              <a:rPr sz="1200"/>
            </a:br>
            <a:r>
              <a:rPr b="0" lang="en-US" sz="1200" spc="-1" strike="noStrike">
                <a:solidFill>
                  <a:srgbClr val="ff6347"/>
                </a:solidFill>
                <a:latin typeface="Arial"/>
                <a:ea typeface="DejaVu Sans"/>
              </a:rPr>
              <a:t>is time series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 flipV="1">
            <a:off x="822240" y="2738520"/>
            <a:ext cx="822240" cy="1380960"/>
          </a:xfrm>
          <a:prstGeom prst="line">
            <a:avLst/>
          </a:prstGeom>
          <a:ln w="18360">
            <a:solidFill>
              <a:srgbClr val="ff634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" descr=""/>
          <p:cNvPicPr/>
          <p:nvPr/>
        </p:nvPicPr>
        <p:blipFill>
          <a:blip r:embed="rId1"/>
          <a:stretch/>
        </p:blipFill>
        <p:spPr>
          <a:xfrm>
            <a:off x="1314360" y="568440"/>
            <a:ext cx="6746760" cy="4984200"/>
          </a:xfrm>
          <a:prstGeom prst="rect">
            <a:avLst/>
          </a:prstGeom>
          <a:ln w="0">
            <a:noFill/>
          </a:ln>
        </p:spPr>
      </p:pic>
      <p:pic>
        <p:nvPicPr>
          <p:cNvPr id="402" name="" descr=""/>
          <p:cNvPicPr/>
          <p:nvPr/>
        </p:nvPicPr>
        <p:blipFill>
          <a:blip r:embed="rId2"/>
          <a:stretch/>
        </p:blipFill>
        <p:spPr>
          <a:xfrm>
            <a:off x="93600" y="73080"/>
            <a:ext cx="1277640" cy="452160"/>
          </a:xfrm>
          <a:prstGeom prst="rect">
            <a:avLst/>
          </a:prstGeom>
          <a:ln w="0">
            <a:noFill/>
          </a:ln>
        </p:spPr>
      </p:pic>
      <p:sp>
        <p:nvSpPr>
          <p:cNvPr id="403" name=""/>
          <p:cNvSpPr/>
          <p:nvPr/>
        </p:nvSpPr>
        <p:spPr>
          <a:xfrm>
            <a:off x="2284560" y="31680"/>
            <a:ext cx="5257440" cy="4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Dynamic Time Warping (DTW)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2473200" y="896760"/>
            <a:ext cx="395892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57600" bIns="45000" anchor="t">
            <a:noAutofit/>
          </a:bodyPr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Euclidean distance between ts1 and ts2: 26.96 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Euclidean distance between ts1 and ts3: 23.19 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"/>
          <p:cNvSpPr/>
          <p:nvPr/>
        </p:nvSpPr>
        <p:spPr>
          <a:xfrm>
            <a:off x="2800440" y="4749840"/>
            <a:ext cx="34714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57600" bIns="45000" anchor="t">
            <a:noAutofit/>
          </a:bodyPr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DTW distance between ts1 and ts2: 17.93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DTW distance between ts1 and ts3: 21.55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2103480" y="2011320"/>
            <a:ext cx="1440" cy="1279440"/>
          </a:xfrm>
          <a:prstGeom prst="line">
            <a:avLst/>
          </a:prstGeom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7" name=""/>
          <p:cNvSpPr/>
          <p:nvPr/>
        </p:nvSpPr>
        <p:spPr>
          <a:xfrm flipV="1">
            <a:off x="2103480" y="3192480"/>
            <a:ext cx="274680" cy="108000"/>
          </a:xfrm>
          <a:prstGeom prst="line">
            <a:avLst/>
          </a:prstGeom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8" name=""/>
          <p:cNvSpPr/>
          <p:nvPr/>
        </p:nvSpPr>
        <p:spPr>
          <a:xfrm>
            <a:off x="2063880" y="1968480"/>
            <a:ext cx="91440" cy="91800"/>
          </a:xfrm>
          <a:prstGeom prst="ellipse">
            <a:avLst/>
          </a:prstGeom>
          <a:solidFill>
            <a:srgbClr val="ff0000"/>
          </a:solidFill>
          <a:ln w="93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18720" bIns="18720" anchor="ctr">
            <a:noAutofit/>
          </a:bodyPr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9" name=""/>
          <p:cNvSpPr/>
          <p:nvPr/>
        </p:nvSpPr>
        <p:spPr>
          <a:xfrm>
            <a:off x="2048040" y="3236760"/>
            <a:ext cx="91440" cy="91800"/>
          </a:xfrm>
          <a:prstGeom prst="ellipse">
            <a:avLst/>
          </a:prstGeom>
          <a:solidFill>
            <a:srgbClr val="ff0000"/>
          </a:solidFill>
          <a:ln w="93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18720" bIns="18720" anchor="ctr">
            <a:noAutofit/>
          </a:bodyPr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0" name=""/>
          <p:cNvSpPr/>
          <p:nvPr/>
        </p:nvSpPr>
        <p:spPr>
          <a:xfrm>
            <a:off x="2351160" y="3156120"/>
            <a:ext cx="91800" cy="91440"/>
          </a:xfrm>
          <a:prstGeom prst="ellipse">
            <a:avLst/>
          </a:prstGeom>
          <a:solidFill>
            <a:srgbClr val="ff0000"/>
          </a:solidFill>
          <a:ln w="93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18360" bIns="18360" anchor="ctr">
            <a:noAutofit/>
          </a:bodyPr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1" name=""/>
          <p:cNvSpPr/>
          <p:nvPr/>
        </p:nvSpPr>
        <p:spPr>
          <a:xfrm>
            <a:off x="1006560" y="2103480"/>
            <a:ext cx="1096920" cy="457200"/>
          </a:xfrm>
          <a:prstGeom prst="line">
            <a:avLst/>
          </a:prstGeom>
          <a:ln w="936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2" name=""/>
          <p:cNvSpPr/>
          <p:nvPr/>
        </p:nvSpPr>
        <p:spPr>
          <a:xfrm>
            <a:off x="419040" y="1665360"/>
            <a:ext cx="96156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400" spc="-1" strike="noStrike">
                <a:solidFill>
                  <a:srgbClr val="ff0000"/>
                </a:solidFill>
                <a:latin typeface="Arial"/>
                <a:ea typeface="DejaVu Sans"/>
              </a:rPr>
              <a:t>Euclidean</a:t>
            </a:r>
            <a:br>
              <a:rPr sz="1400"/>
            </a:br>
            <a:r>
              <a:rPr b="0" lang="en-US" sz="1400" spc="-1" strike="noStrike">
                <a:solidFill>
                  <a:srgbClr val="ff0000"/>
                </a:solidFill>
                <a:latin typeface="Arial"/>
                <a:ea typeface="DejaVu Sans"/>
              </a:rPr>
              <a:t>neighbors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"/>
          <p:cNvSpPr/>
          <p:nvPr/>
        </p:nvSpPr>
        <p:spPr>
          <a:xfrm flipH="1">
            <a:off x="2185560" y="1884240"/>
            <a:ext cx="290520" cy="1371600"/>
          </a:xfrm>
          <a:prstGeom prst="line">
            <a:avLst/>
          </a:prstGeom>
          <a:ln w="936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Autofit/>
          </a:bodyPr>
          <a:p>
            <a:pPr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4" name=""/>
          <p:cNvSpPr/>
          <p:nvPr/>
        </p:nvSpPr>
        <p:spPr>
          <a:xfrm>
            <a:off x="2076480" y="1414440"/>
            <a:ext cx="96156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 algn="ctr"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400" spc="-1" strike="noStrike">
                <a:solidFill>
                  <a:srgbClr val="ff0000"/>
                </a:solidFill>
                <a:latin typeface="Arial"/>
                <a:ea typeface="DejaVu Sans"/>
              </a:rPr>
              <a:t>DTW</a:t>
            </a:r>
            <a:br>
              <a:rPr sz="1400"/>
            </a:br>
            <a:r>
              <a:rPr b="0" lang="en-US" sz="1400" spc="-1" strike="noStrike">
                <a:solidFill>
                  <a:srgbClr val="ff0000"/>
                </a:solidFill>
                <a:latin typeface="Arial"/>
                <a:ea typeface="DejaVu Sans"/>
              </a:rPr>
              <a:t>neighbors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5" name="" descr=""/>
          <p:cNvPicPr/>
          <p:nvPr/>
        </p:nvPicPr>
        <p:blipFill>
          <a:blip r:embed="rId3"/>
          <a:stretch/>
        </p:blipFill>
        <p:spPr>
          <a:xfrm>
            <a:off x="7954920" y="19080"/>
            <a:ext cx="2103120" cy="536040"/>
          </a:xfrm>
          <a:prstGeom prst="rect">
            <a:avLst/>
          </a:prstGeom>
          <a:ln w="0">
            <a:noFill/>
          </a:ln>
        </p:spPr>
      </p:pic>
      <p:pic>
        <p:nvPicPr>
          <p:cNvPr id="416" name="" descr=""/>
          <p:cNvPicPr/>
          <p:nvPr/>
        </p:nvPicPr>
        <p:blipFill>
          <a:blip r:embed="rId4"/>
          <a:srcRect l="41411" t="24843" r="38618" b="34824"/>
          <a:stretch/>
        </p:blipFill>
        <p:spPr>
          <a:xfrm>
            <a:off x="8102520" y="623880"/>
            <a:ext cx="1941120" cy="2118960"/>
          </a:xfrm>
          <a:prstGeom prst="rect">
            <a:avLst/>
          </a:prstGeom>
          <a:ln w="0">
            <a:noFill/>
          </a:ln>
        </p:spPr>
      </p:pic>
      <p:sp>
        <p:nvSpPr>
          <p:cNvPr id="417" name=""/>
          <p:cNvSpPr/>
          <p:nvPr/>
        </p:nvSpPr>
        <p:spPr>
          <a:xfrm>
            <a:off x="8520120" y="2746440"/>
            <a:ext cx="117756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57600" bIns="45000" anchor="t">
            <a:noAutofit/>
          </a:bodyPr>
          <a:p>
            <a:pPr algn="ctr">
              <a:lnSpc>
                <a:spcPct val="93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cumulative</a:t>
            </a:r>
            <a:br>
              <a:rPr sz="1400"/>
            </a:b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cost matrix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5" dur="indefinite" restart="never" nodeType="tmRoot">
          <p:childTnLst>
            <p:seq>
              <p:cTn id="86" dur="indefinite" nodeType="mainSeq">
                <p:childTnLst>
                  <p:par>
                    <p:cTn id="87" dur="indefinite" fill="hold">
                      <p:stCondLst>
                        <p:cond delay="indefinite"/>
                      </p:stCondLst>
                      <p:childTnLst>
                        <p:par>
                          <p:cTn id="88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89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dur="indefinite" fill="hold">
                      <p:stCondLst>
                        <p:cond delay="indefinite"/>
                      </p:stCondLst>
                      <p:childTnLst>
                        <p:par>
                          <p:cTn id="92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93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dur="indefinite" fill="hold">
                      <p:stCondLst>
                        <p:cond delay="indefinite"/>
                      </p:stCondLst>
                      <p:childTnLst>
                        <p:par>
                          <p:cTn id="96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97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dur="indefinite" fill="hold">
                      <p:stCondLst>
                        <p:cond delay="indefinite"/>
                      </p:stCondLst>
                      <p:childTnLst>
                        <p:par>
                          <p:cTn id="100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101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dur="indefinite" fill="hold">
                      <p:stCondLst>
                        <p:cond delay="indefinite"/>
                      </p:stCondLst>
                      <p:childTnLst>
                        <p:par>
                          <p:cTn id="104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105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dur="indefinite" fill="hold">
                      <p:stCondLst>
                        <p:cond delay="indefinite"/>
                      </p:stCondLst>
                      <p:childTnLst>
                        <p:par>
                          <p:cTn id="116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117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dur="indefinite" fill="hold">
                      <p:stCondLst>
                        <p:cond delay="indefinite"/>
                      </p:stCondLst>
                      <p:childTnLst>
                        <p:par>
                          <p:cTn id="126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127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8" name="" descr=""/>
          <p:cNvPicPr/>
          <p:nvPr/>
        </p:nvPicPr>
        <p:blipFill>
          <a:blip r:embed="rId1"/>
          <a:stretch/>
        </p:blipFill>
        <p:spPr>
          <a:xfrm>
            <a:off x="93600" y="73080"/>
            <a:ext cx="1277640" cy="452160"/>
          </a:xfrm>
          <a:prstGeom prst="rect">
            <a:avLst/>
          </a:prstGeom>
          <a:ln w="0">
            <a:noFill/>
          </a:ln>
        </p:spPr>
      </p:pic>
      <p:sp>
        <p:nvSpPr>
          <p:cNvPr id="419" name=""/>
          <p:cNvSpPr/>
          <p:nvPr/>
        </p:nvSpPr>
        <p:spPr>
          <a:xfrm>
            <a:off x="2241720" y="42840"/>
            <a:ext cx="5257440" cy="4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CSSS: DTW pairwise similarity matrix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0" name="" descr=""/>
          <p:cNvPicPr/>
          <p:nvPr/>
        </p:nvPicPr>
        <p:blipFill>
          <a:blip r:embed="rId2"/>
          <a:srcRect l="29618" t="17753" r="25014" b="38992"/>
          <a:stretch/>
        </p:blipFill>
        <p:spPr>
          <a:xfrm>
            <a:off x="1185840" y="822240"/>
            <a:ext cx="7279920" cy="3903480"/>
          </a:xfrm>
          <a:prstGeom prst="rect">
            <a:avLst/>
          </a:prstGeom>
          <a:ln w="0">
            <a:noFill/>
          </a:ln>
        </p:spPr>
      </p:pic>
      <p:pic>
        <p:nvPicPr>
          <p:cNvPr id="421" name="" descr=""/>
          <p:cNvPicPr/>
          <p:nvPr/>
        </p:nvPicPr>
        <p:blipFill>
          <a:blip r:embed="rId3"/>
          <a:stretch/>
        </p:blipFill>
        <p:spPr>
          <a:xfrm>
            <a:off x="7954920" y="19080"/>
            <a:ext cx="2103120" cy="536040"/>
          </a:xfrm>
          <a:prstGeom prst="rect">
            <a:avLst/>
          </a:prstGeom>
          <a:ln w="0">
            <a:noFill/>
          </a:ln>
        </p:spPr>
      </p:pic>
      <p:pic>
        <p:nvPicPr>
          <p:cNvPr id="422" name="" descr=""/>
          <p:cNvPicPr/>
          <p:nvPr/>
        </p:nvPicPr>
        <p:blipFill>
          <a:blip r:embed="rId4"/>
          <a:srcRect l="31325" t="14463" r="29502" b="10234"/>
          <a:stretch/>
        </p:blipFill>
        <p:spPr>
          <a:xfrm>
            <a:off x="9167760" y="617400"/>
            <a:ext cx="615600" cy="72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" descr=""/>
          <p:cNvPicPr/>
          <p:nvPr/>
        </p:nvPicPr>
        <p:blipFill>
          <a:blip r:embed="rId1"/>
          <a:stretch/>
        </p:blipFill>
        <p:spPr>
          <a:xfrm>
            <a:off x="4987800" y="1027080"/>
            <a:ext cx="5090760" cy="3638160"/>
          </a:xfrm>
          <a:prstGeom prst="rect">
            <a:avLst/>
          </a:prstGeom>
          <a:ln w="0">
            <a:noFill/>
          </a:ln>
        </p:spPr>
      </p:pic>
      <p:pic>
        <p:nvPicPr>
          <p:cNvPr id="424" name="" descr=""/>
          <p:cNvPicPr/>
          <p:nvPr/>
        </p:nvPicPr>
        <p:blipFill>
          <a:blip r:embed="rId2"/>
          <a:stretch/>
        </p:blipFill>
        <p:spPr>
          <a:xfrm>
            <a:off x="36360" y="1020600"/>
            <a:ext cx="4951080" cy="3625560"/>
          </a:xfrm>
          <a:prstGeom prst="rect">
            <a:avLst/>
          </a:prstGeom>
          <a:ln w="0">
            <a:noFill/>
          </a:ln>
        </p:spPr>
      </p:pic>
      <p:pic>
        <p:nvPicPr>
          <p:cNvPr id="425" name="" descr=""/>
          <p:cNvPicPr/>
          <p:nvPr/>
        </p:nvPicPr>
        <p:blipFill>
          <a:blip r:embed="rId3"/>
          <a:stretch/>
        </p:blipFill>
        <p:spPr>
          <a:xfrm>
            <a:off x="93600" y="73080"/>
            <a:ext cx="1277640" cy="452160"/>
          </a:xfrm>
          <a:prstGeom prst="rect">
            <a:avLst/>
          </a:prstGeom>
          <a:ln w="0">
            <a:noFill/>
          </a:ln>
        </p:spPr>
      </p:pic>
      <p:sp>
        <p:nvSpPr>
          <p:cNvPr id="426" name=""/>
          <p:cNvSpPr/>
          <p:nvPr/>
        </p:nvSpPr>
        <p:spPr>
          <a:xfrm>
            <a:off x="2241720" y="42840"/>
            <a:ext cx="5257440" cy="4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DTW Based Dimension Reduction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>
            <a:off x="4278240" y="2322360"/>
            <a:ext cx="821880" cy="549000"/>
          </a:xfrm>
          <a:prstGeom prst="ellipse">
            <a:avLst/>
          </a:prstGeom>
          <a:noFill/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8" name=""/>
          <p:cNvSpPr/>
          <p:nvPr/>
        </p:nvSpPr>
        <p:spPr>
          <a:xfrm>
            <a:off x="5394240" y="1224000"/>
            <a:ext cx="914040" cy="601200"/>
          </a:xfrm>
          <a:prstGeom prst="ellipse">
            <a:avLst/>
          </a:prstGeom>
          <a:noFill/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29" name="" descr=""/>
          <p:cNvPicPr/>
          <p:nvPr/>
        </p:nvPicPr>
        <p:blipFill>
          <a:blip r:embed="rId4"/>
          <a:stretch/>
        </p:blipFill>
        <p:spPr>
          <a:xfrm>
            <a:off x="7954920" y="19080"/>
            <a:ext cx="2103120" cy="536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1" dur="indefinite" restart="never" nodeType="tmRoot">
          <p:childTnLst>
            <p:seq>
              <p:cTn id="132" dur="indefinite" nodeType="mainSeq">
                <p:childTnLst>
                  <p:par>
                    <p:cTn id="133" dur="indefinite" fill="hold">
                      <p:stCondLst>
                        <p:cond delay="indefinite"/>
                      </p:stCondLst>
                      <p:childTnLst>
                        <p:par>
                          <p:cTn id="134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135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" name="" descr=""/>
          <p:cNvPicPr/>
          <p:nvPr/>
        </p:nvPicPr>
        <p:blipFill>
          <a:blip r:embed="rId1"/>
          <a:stretch/>
        </p:blipFill>
        <p:spPr>
          <a:xfrm>
            <a:off x="93600" y="73080"/>
            <a:ext cx="1277640" cy="452160"/>
          </a:xfrm>
          <a:prstGeom prst="rect">
            <a:avLst/>
          </a:prstGeom>
          <a:ln w="0">
            <a:noFill/>
          </a:ln>
        </p:spPr>
      </p:pic>
      <p:pic>
        <p:nvPicPr>
          <p:cNvPr id="431" name="" descr=""/>
          <p:cNvPicPr/>
          <p:nvPr/>
        </p:nvPicPr>
        <p:blipFill>
          <a:blip r:embed="rId2"/>
          <a:stretch/>
        </p:blipFill>
        <p:spPr>
          <a:xfrm>
            <a:off x="2416320" y="549360"/>
            <a:ext cx="5235120" cy="5063760"/>
          </a:xfrm>
          <a:prstGeom prst="rect">
            <a:avLst/>
          </a:prstGeom>
          <a:ln w="0">
            <a:noFill/>
          </a:ln>
        </p:spPr>
      </p:pic>
      <p:sp>
        <p:nvSpPr>
          <p:cNvPr id="432" name=""/>
          <p:cNvSpPr/>
          <p:nvPr/>
        </p:nvSpPr>
        <p:spPr>
          <a:xfrm>
            <a:off x="2205000" y="17640"/>
            <a:ext cx="5257440" cy="45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CSSS: covid19 trajectory clustering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4262400" y="2433600"/>
            <a:ext cx="1553760" cy="1463400"/>
          </a:xfrm>
          <a:prstGeom prst="rect">
            <a:avLst/>
          </a:prstGeom>
          <a:noFill/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4" name=""/>
          <p:cNvSpPr/>
          <p:nvPr/>
        </p:nvSpPr>
        <p:spPr>
          <a:xfrm>
            <a:off x="5816520" y="3895560"/>
            <a:ext cx="1041120" cy="950760"/>
          </a:xfrm>
          <a:prstGeom prst="rect">
            <a:avLst/>
          </a:prstGeom>
          <a:noFill/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5" name=""/>
          <p:cNvSpPr/>
          <p:nvPr/>
        </p:nvSpPr>
        <p:spPr>
          <a:xfrm>
            <a:off x="3749760" y="1920960"/>
            <a:ext cx="549000" cy="512280"/>
          </a:xfrm>
          <a:prstGeom prst="rect">
            <a:avLst/>
          </a:prstGeom>
          <a:noFill/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6" name=""/>
          <p:cNvSpPr/>
          <p:nvPr/>
        </p:nvSpPr>
        <p:spPr>
          <a:xfrm>
            <a:off x="3382920" y="1584360"/>
            <a:ext cx="364680" cy="336240"/>
          </a:xfrm>
          <a:prstGeom prst="rect">
            <a:avLst/>
          </a:prstGeom>
          <a:noFill/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37" name="" descr=""/>
          <p:cNvPicPr/>
          <p:nvPr/>
        </p:nvPicPr>
        <p:blipFill>
          <a:blip r:embed="rId3"/>
          <a:stretch/>
        </p:blipFill>
        <p:spPr>
          <a:xfrm>
            <a:off x="7954920" y="19080"/>
            <a:ext cx="2103120" cy="536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9" dur="indefinite" restart="never" nodeType="tmRoot">
          <p:childTnLst>
            <p:seq>
              <p:cTn id="140" dur="indefinite" nodeType="mainSeq">
                <p:childTnLst>
                  <p:par>
                    <p:cTn id="141" dur="indefinite" fill="hold">
                      <p:stCondLst>
                        <p:cond delay="indefinite"/>
                      </p:stCondLst>
                      <p:childTnLst>
                        <p:par>
                          <p:cTn id="142" dur="indefinite" fill="hold">
                            <p:stCondLst>
                              <p:cond delay="0"/>
                            </p:stCondLst>
                            <p:childTnLst>
                              <p:par>
                                <p:cTn id="143" dur="indefinite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dur="indefinite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8" name="" descr=""/>
          <p:cNvPicPr/>
          <p:nvPr/>
        </p:nvPicPr>
        <p:blipFill>
          <a:blip r:embed="rId1"/>
          <a:stretch/>
        </p:blipFill>
        <p:spPr>
          <a:xfrm>
            <a:off x="93600" y="73080"/>
            <a:ext cx="1277640" cy="452160"/>
          </a:xfrm>
          <a:prstGeom prst="rect">
            <a:avLst/>
          </a:prstGeom>
          <a:ln w="0">
            <a:noFill/>
          </a:ln>
        </p:spPr>
      </p:pic>
      <p:pic>
        <p:nvPicPr>
          <p:cNvPr id="439" name="" descr=""/>
          <p:cNvPicPr/>
          <p:nvPr/>
        </p:nvPicPr>
        <p:blipFill>
          <a:blip r:embed="rId2"/>
          <a:stretch/>
        </p:blipFill>
        <p:spPr>
          <a:xfrm>
            <a:off x="1279440" y="520560"/>
            <a:ext cx="6941880" cy="5071680"/>
          </a:xfrm>
          <a:prstGeom prst="rect">
            <a:avLst/>
          </a:prstGeom>
          <a:ln w="0">
            <a:noFill/>
          </a:ln>
        </p:spPr>
      </p:pic>
      <p:sp>
        <p:nvSpPr>
          <p:cNvPr id="440" name=""/>
          <p:cNvSpPr/>
          <p:nvPr/>
        </p:nvSpPr>
        <p:spPr>
          <a:xfrm>
            <a:off x="2297160" y="3670200"/>
            <a:ext cx="1445760" cy="2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headache, sore_throat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2270160" y="1008000"/>
            <a:ext cx="1828440" cy="3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loss_of_smell, skipped_meals, </a:t>
            </a:r>
            <a:br>
              <a:rPr sz="1000"/>
            </a:b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unusual_muscle_pains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"/>
          <p:cNvSpPr/>
          <p:nvPr/>
        </p:nvSpPr>
        <p:spPr>
          <a:xfrm>
            <a:off x="5668920" y="2225520"/>
            <a:ext cx="23191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eye_soreness, dizzy_light_headed,</a:t>
            </a:r>
            <a:br>
              <a:rPr sz="1000"/>
            </a:b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hoarse_voice, fever, persistent_cough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>
            <a:off x="2162160" y="27000"/>
            <a:ext cx="5257440" cy="4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64800" bIns="45000" anchor="t">
            <a:noAutofit/>
          </a:bodyPr>
          <a:p>
            <a:pPr algn="ctr">
              <a:lnSpc>
                <a:spcPct val="94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600" spc="-1" strike="noStrike">
                <a:solidFill>
                  <a:srgbClr val="0066cc"/>
                </a:solidFill>
                <a:latin typeface="Arial"/>
                <a:ea typeface="DejaVu Sans"/>
              </a:rPr>
              <a:t>Covid19 Trajectory Clustering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"/>
          <p:cNvSpPr/>
          <p:nvPr/>
        </p:nvSpPr>
        <p:spPr>
          <a:xfrm>
            <a:off x="5614920" y="3549600"/>
            <a:ext cx="1445760" cy="2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shortness_of_breath, fatigue, delirium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5" name="" descr=""/>
          <p:cNvPicPr/>
          <p:nvPr/>
        </p:nvPicPr>
        <p:blipFill>
          <a:blip r:embed="rId3"/>
          <a:stretch/>
        </p:blipFill>
        <p:spPr>
          <a:xfrm>
            <a:off x="7954920" y="19080"/>
            <a:ext cx="2103120" cy="536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2026-09-28T11:52:29Z</dcterms:created>
  <dc:creator/>
  <dc:description/>
  <dc:language>en-US</dc:language>
  <cp:lastModifiedBy/>
  <dcterms:modified xsi:type="dcterms:W3CDTF">2026-09-30T11:47:15Z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