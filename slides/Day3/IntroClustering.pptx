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7.png" ContentType="image/png"/>
  <Override PartName="/ppt/media/image16.png" ContentType="image/png"/>
  <Override PartName="/ppt/media/image1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20.png" ContentType="image/png"/>
  <Override PartName="/ppt/media/image2.jpeg" ContentType="image/jpe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60CA8-C2AC-40B1-BBF1-466C6352B1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3659F9-0525-40A9-9708-AA66110C5C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D3986CD-16E9-4C17-83FE-F58054F395D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.jpeg"/><Relationship Id="rId6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2.jpe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58680" y="103320"/>
            <a:ext cx="1278000" cy="452160"/>
          </a:xfrm>
          <a:prstGeom prst="rect">
            <a:avLst/>
          </a:prstGeom>
          <a:ln w="0">
            <a:noFill/>
          </a:ln>
        </p:spPr>
      </p:pic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8137440" y="81000"/>
            <a:ext cx="1920960" cy="536400"/>
          </a:xfrm>
          <a:prstGeom prst="rect">
            <a:avLst/>
          </a:prstGeom>
          <a:ln w="0">
            <a:noFill/>
          </a:ln>
        </p:spPr>
      </p:pic>
      <p:sp>
        <p:nvSpPr>
          <p:cNvPr id="11" name=""/>
          <p:cNvSpPr/>
          <p:nvPr/>
        </p:nvSpPr>
        <p:spPr>
          <a:xfrm>
            <a:off x="426960" y="660240"/>
            <a:ext cx="89614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84600" bIns="45000" anchor="t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3465a4"/>
                </a:solidFill>
                <a:latin typeface="Arial"/>
              </a:rPr>
              <a:t>Introduction to Clustering </a:t>
            </a:r>
            <a:r>
              <a:rPr b="1" lang="en-US" sz="2800" spc="-1" strike="noStrike">
                <a:solidFill>
                  <a:srgbClr val="3465a4"/>
                </a:solidFill>
                <a:latin typeface="Arial"/>
              </a:rPr>
              <a:t>Complex Data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Nikolay Oskolkov, Group Leader (PI) at NIRI, Riga, Latvia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7332840" y="5351400"/>
            <a:ext cx="27223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Image adapted from www.stratio.com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8508960" y="2316240"/>
            <a:ext cx="134460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@NikolayOskolkov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3"/>
          <a:srcRect l="58398" t="18655" r="0" b="20725"/>
          <a:stretch/>
        </p:blipFill>
        <p:spPr>
          <a:xfrm>
            <a:off x="9236160" y="1665360"/>
            <a:ext cx="779400" cy="638280"/>
          </a:xfrm>
          <a:prstGeom prst="rect">
            <a:avLst/>
          </a:prstGeom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8339040" y="4960800"/>
            <a:ext cx="17668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Personal homepage: 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https://nikolay-oskolkov.com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4"/>
          <a:srcRect l="11567" t="14531" r="7772" b="12490"/>
          <a:stretch/>
        </p:blipFill>
        <p:spPr>
          <a:xfrm>
            <a:off x="8726400" y="4021200"/>
            <a:ext cx="1005120" cy="909720"/>
          </a:xfrm>
          <a:prstGeom prst="rect">
            <a:avLst/>
          </a:prstGeom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8410680" y="3578400"/>
            <a:ext cx="16095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@oskolkov.bsky.social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5"/>
          <a:stretch/>
        </p:blipFill>
        <p:spPr>
          <a:xfrm>
            <a:off x="8777160" y="2673360"/>
            <a:ext cx="911520" cy="90000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6"/>
          <a:stretch/>
        </p:blipFill>
        <p:spPr>
          <a:xfrm>
            <a:off x="843120" y="1714680"/>
            <a:ext cx="7510320" cy="3497040"/>
          </a:xfrm>
          <a:prstGeom prst="rect">
            <a:avLst/>
          </a:prstGeom>
          <a:ln w="0">
            <a:noFill/>
          </a:ln>
        </p:spPr>
      </p:pic>
      <p:pic>
        <p:nvPicPr>
          <p:cNvPr id="20" name="" descr=""/>
          <p:cNvPicPr/>
          <p:nvPr/>
        </p:nvPicPr>
        <p:blipFill>
          <a:blip r:embed="rId7"/>
          <a:srcRect l="0" t="18655" r="56191" b="20725"/>
          <a:stretch/>
        </p:blipFill>
        <p:spPr>
          <a:xfrm>
            <a:off x="8354880" y="1665360"/>
            <a:ext cx="820800" cy="638280"/>
          </a:xfrm>
          <a:prstGeom prst="rect">
            <a:avLst/>
          </a:prstGeom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rcRect l="0" t="3503" r="2320" b="8807"/>
          <a:stretch/>
        </p:blipFill>
        <p:spPr>
          <a:xfrm>
            <a:off x="6229440" y="988920"/>
            <a:ext cx="3382920" cy="189864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58680" y="73080"/>
            <a:ext cx="1278000" cy="452520"/>
          </a:xfrm>
          <a:prstGeom prst="rect">
            <a:avLst/>
          </a:prstGeom>
          <a:ln w="0">
            <a:noFill/>
          </a:ln>
        </p:spPr>
      </p:pic>
      <p:pic>
        <p:nvPicPr>
          <p:cNvPr id="23" name="" descr=""/>
          <p:cNvPicPr/>
          <p:nvPr/>
        </p:nvPicPr>
        <p:blipFill>
          <a:blip r:embed="rId3"/>
          <a:stretch/>
        </p:blipFill>
        <p:spPr>
          <a:xfrm>
            <a:off x="7954920" y="50760"/>
            <a:ext cx="2103480" cy="536760"/>
          </a:xfrm>
          <a:prstGeom prst="rect">
            <a:avLst/>
          </a:prstGeom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2160720" y="1908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Exploratory data analysis (EDA): </a:t>
            </a:r>
            <a:br>
              <a:rPr sz="2600"/>
            </a:b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dimensionality reduction and 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4"/>
          <a:srcRect l="5572" t="7762" r="1151" b="23893"/>
          <a:stretch/>
        </p:blipFill>
        <p:spPr>
          <a:xfrm>
            <a:off x="6359400" y="2857680"/>
            <a:ext cx="3291120" cy="1698480"/>
          </a:xfrm>
          <a:prstGeom prst="rect">
            <a:avLst/>
          </a:prstGeom>
          <a:ln w="0">
            <a:noFill/>
          </a:ln>
        </p:spPr>
      </p:pic>
      <p:pic>
        <p:nvPicPr>
          <p:cNvPr id="26" name="" descr=""/>
          <p:cNvPicPr/>
          <p:nvPr/>
        </p:nvPicPr>
        <p:blipFill>
          <a:blip r:embed="rId5"/>
          <a:srcRect l="0" t="8322" r="2323" b="2879"/>
          <a:stretch/>
        </p:blipFill>
        <p:spPr>
          <a:xfrm>
            <a:off x="38160" y="973080"/>
            <a:ext cx="4716360" cy="3598920"/>
          </a:xfrm>
          <a:prstGeom prst="rect">
            <a:avLst/>
          </a:prstGeom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635040" y="4699080"/>
            <a:ext cx="36990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Dimension reduction: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data pre-processing + visualization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999040" y="4664160"/>
            <a:ext cx="390852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Cluster analysis: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formal grouping of data points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based on their similarity or difference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6"/>
          <a:srcRect l="7564" t="12847" r="8144" b="21027"/>
          <a:stretch/>
        </p:blipFill>
        <p:spPr>
          <a:xfrm>
            <a:off x="5010120" y="2746440"/>
            <a:ext cx="1004760" cy="64440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/>
          <p:nvPr/>
        </p:nvSpPr>
        <p:spPr>
          <a:xfrm>
            <a:off x="4849920" y="3478320"/>
            <a:ext cx="12826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09500"/>
                </a:solidFill>
                <a:latin typeface="Arial"/>
              </a:rPr>
              <a:t>Working</a:t>
            </a:r>
            <a:br>
              <a:rPr sz="1400"/>
            </a:br>
            <a:r>
              <a:rPr b="1" lang="en-US" sz="1400" spc="-1" strike="noStrike">
                <a:solidFill>
                  <a:srgbClr val="009500"/>
                </a:solidFill>
                <a:latin typeface="Arial"/>
              </a:rPr>
              <a:t>hand in hand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1895400" y="15840"/>
            <a:ext cx="578484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3000" bIns="45000" anchor="t">
            <a:noAutofit/>
          </a:bodyPr>
          <a:p>
            <a:pPr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Cluster analysis logic and distance metric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7956720" y="7920"/>
            <a:ext cx="2103120" cy="536760"/>
          </a:xfrm>
          <a:prstGeom prst="rect">
            <a:avLst/>
          </a:prstGeom>
          <a:ln w="0">
            <a:noFill/>
          </a:ln>
        </p:spPr>
      </p:pic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60480" y="31680"/>
            <a:ext cx="1277640" cy="452520"/>
          </a:xfrm>
          <a:prstGeom prst="rect">
            <a:avLst/>
          </a:prstGeom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3"/>
          <a:srcRect l="5348" t="16073" r="58362" b="33928"/>
          <a:stretch/>
        </p:blipFill>
        <p:spPr>
          <a:xfrm>
            <a:off x="81000" y="735120"/>
            <a:ext cx="5578560" cy="4322520"/>
          </a:xfrm>
          <a:prstGeom prst="rect">
            <a:avLst/>
          </a:prstGeom>
          <a:ln w="0">
            <a:noFill/>
          </a:ln>
        </p:spPr>
      </p:pic>
      <p:sp>
        <p:nvSpPr>
          <p:cNvPr id="35" name=""/>
          <p:cNvSpPr/>
          <p:nvPr/>
        </p:nvSpPr>
        <p:spPr>
          <a:xfrm>
            <a:off x="816120" y="1041480"/>
            <a:ext cx="1603080" cy="2468520"/>
          </a:xfrm>
          <a:prstGeom prst="ellipse">
            <a:avLst/>
          </a:prstGeom>
          <a:noFill/>
          <a:ln w="1836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478240" y="1698480"/>
            <a:ext cx="1096920" cy="1737000"/>
          </a:xfrm>
          <a:prstGeom prst="ellipse">
            <a:avLst/>
          </a:prstGeom>
          <a:noFill/>
          <a:ln w="18360">
            <a:solidFill>
              <a:srgbClr val="0095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703680" y="1606680"/>
            <a:ext cx="1352520" cy="2011320"/>
          </a:xfrm>
          <a:prstGeom prst="ellipse">
            <a:avLst/>
          </a:prstGeom>
          <a:noFill/>
          <a:ln w="18360">
            <a:solidFill>
              <a:srgbClr val="4b1f6f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4"/>
          <a:srcRect l="34376" t="19300" r="25707" b="3286"/>
          <a:stretch/>
        </p:blipFill>
        <p:spPr>
          <a:xfrm>
            <a:off x="5759280" y="731880"/>
            <a:ext cx="4191120" cy="4572000"/>
          </a:xfrm>
          <a:prstGeom prst="rect">
            <a:avLst/>
          </a:prstGeom>
          <a:ln w="0"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>
                      <p:stCondLst>
                        <p:cond delay="indefinite"/>
                      </p:stCondLst>
                      <p:childTnLst>
                        <p:par>
                          <p:cTn id="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dur="indefinite" fill="hold">
                      <p:stCondLst>
                        <p:cond delay="indefinite"/>
                      </p:stCondLst>
                      <p:childTnLst>
                        <p:par>
                          <p:cTn id="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dur="indefinite" fill="hold">
                      <p:stCondLst>
                        <p:cond delay="indefinite"/>
                      </p:stCondLst>
                      <p:childTnLst>
                        <p:par>
                          <p:cTn id="1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dur="indefinite" fill="hold">
                      <p:stCondLst>
                        <p:cond delay="indefinite"/>
                      </p:stCondLst>
                      <p:childTnLst>
                        <p:par>
                          <p:cTn id="1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420840" y="509760"/>
            <a:ext cx="9285120" cy="4778280"/>
          </a:xfrm>
          <a:prstGeom prst="rect">
            <a:avLst/>
          </a:prstGeom>
          <a:ln w="0">
            <a:noFill/>
          </a:ln>
        </p:spPr>
      </p:pic>
      <p:sp>
        <p:nvSpPr>
          <p:cNvPr id="40" name=""/>
          <p:cNvSpPr/>
          <p:nvPr/>
        </p:nvSpPr>
        <p:spPr>
          <a:xfrm>
            <a:off x="1644480" y="15840"/>
            <a:ext cx="614556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3000" bIns="45000" anchor="t">
            <a:noAutofit/>
          </a:bodyPr>
          <a:p>
            <a:pPr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Huge variety of clustering methods available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63600" y="5324400"/>
            <a:ext cx="9296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ff0000"/>
                </a:solidFill>
                <a:latin typeface="Arial"/>
                <a:ea typeface="Droid Sans Fallback"/>
              </a:rPr>
              <a:t>1) Hierarchical Clustering, 2) Partitioning Clustering, 3) Density-Based Clustering, 4) Graph-Based Clustering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7956720" y="7920"/>
            <a:ext cx="2103120" cy="536760"/>
          </a:xfrm>
          <a:prstGeom prst="rect">
            <a:avLst/>
          </a:prstGeom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3"/>
          <a:stretch/>
        </p:blipFill>
        <p:spPr>
          <a:xfrm>
            <a:off x="60480" y="31680"/>
            <a:ext cx="1277640" cy="452520"/>
          </a:xfrm>
          <a:prstGeom prst="rect">
            <a:avLst/>
          </a:prstGeom>
          <a:ln w="0"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1809720" y="1682640"/>
            <a:ext cx="622476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</a:rPr>
              <a:t>Hierarchical clustering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2252520" y="61920"/>
            <a:ext cx="5256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What is hierarchical clustering?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3"/>
          <a:srcRect l="0" t="3503" r="2320" b="8807"/>
          <a:stretch/>
        </p:blipFill>
        <p:spPr>
          <a:xfrm>
            <a:off x="1724040" y="1320840"/>
            <a:ext cx="6445080" cy="3618000"/>
          </a:xfrm>
          <a:prstGeom prst="rect">
            <a:avLst/>
          </a:prstGeom>
          <a:ln w="0">
            <a:noFill/>
          </a:ln>
        </p:spPr>
      </p:pic>
      <p:sp>
        <p:nvSpPr>
          <p:cNvPr id="51" name=""/>
          <p:cNvSpPr/>
          <p:nvPr/>
        </p:nvSpPr>
        <p:spPr>
          <a:xfrm>
            <a:off x="644400" y="665280"/>
            <a:ext cx="843120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9500"/>
                </a:solidFill>
                <a:latin typeface="Arial"/>
              </a:rPr>
              <a:t>Clusters are nested (higher-ranked clusters contain lower-ranked clusters),</a:t>
            </a:r>
            <a:br>
              <a:rPr sz="1800"/>
            </a:br>
            <a:r>
              <a:rPr b="0" lang="en-US" sz="1800" spc="-1" strike="noStrike">
                <a:solidFill>
                  <a:srgbClr val="009500"/>
                </a:solidFill>
                <a:latin typeface="Arial"/>
              </a:rPr>
              <a:t>in other words tree-like structure (dendrogram)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68440" y="4991040"/>
            <a:ext cx="897552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There are agglomerative (bottom-up approach) and divisive (top-down approach)</a:t>
            </a: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types of hierarchical clustering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/>
          <p:nvPr/>
        </p:nvSpPr>
        <p:spPr>
          <a:xfrm>
            <a:off x="2254320" y="6192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Agglomerative hierarchical 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8252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11488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" name=""/>
          <p:cNvGrpSpPr/>
          <p:nvPr/>
        </p:nvGrpSpPr>
        <p:grpSpPr>
          <a:xfrm>
            <a:off x="642960" y="3149640"/>
            <a:ext cx="390600" cy="266760"/>
            <a:chOff x="642960" y="3149640"/>
            <a:chExt cx="390600" cy="266760"/>
          </a:xfrm>
        </p:grpSpPr>
        <p:sp>
          <p:nvSpPr>
            <p:cNvPr id="59" name=""/>
            <p:cNvSpPr/>
            <p:nvPr/>
          </p:nvSpPr>
          <p:spPr>
            <a:xfrm>
              <a:off x="676440" y="31496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642960" y="31528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S3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" name=""/>
          <p:cNvGrpSpPr/>
          <p:nvPr/>
        </p:nvGrpSpPr>
        <p:grpSpPr>
          <a:xfrm>
            <a:off x="1614600" y="3654360"/>
            <a:ext cx="390240" cy="266760"/>
            <a:chOff x="1614600" y="3654360"/>
            <a:chExt cx="390240" cy="266760"/>
          </a:xfrm>
        </p:grpSpPr>
        <p:sp>
          <p:nvSpPr>
            <p:cNvPr id="62" name=""/>
            <p:cNvSpPr/>
            <p:nvPr/>
          </p:nvSpPr>
          <p:spPr>
            <a:xfrm>
              <a:off x="1647720" y="36543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1614600" y="36576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S2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" name=""/>
          <p:cNvGrpSpPr/>
          <p:nvPr/>
        </p:nvGrpSpPr>
        <p:grpSpPr>
          <a:xfrm>
            <a:off x="318960" y="4807080"/>
            <a:ext cx="390600" cy="266400"/>
            <a:chOff x="318960" y="4807080"/>
            <a:chExt cx="390600" cy="266400"/>
          </a:xfrm>
        </p:grpSpPr>
        <p:sp>
          <p:nvSpPr>
            <p:cNvPr id="65" name=""/>
            <p:cNvSpPr/>
            <p:nvPr/>
          </p:nvSpPr>
          <p:spPr>
            <a:xfrm>
              <a:off x="351000" y="4807080"/>
              <a:ext cx="26640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318960" y="480996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S1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" name=""/>
          <p:cNvGrpSpPr/>
          <p:nvPr/>
        </p:nvGrpSpPr>
        <p:grpSpPr>
          <a:xfrm>
            <a:off x="2873520" y="1609560"/>
            <a:ext cx="390240" cy="266760"/>
            <a:chOff x="2873520" y="1609560"/>
            <a:chExt cx="390240" cy="266760"/>
          </a:xfrm>
        </p:grpSpPr>
        <p:sp>
          <p:nvSpPr>
            <p:cNvPr id="68" name=""/>
            <p:cNvSpPr/>
            <p:nvPr/>
          </p:nvSpPr>
          <p:spPr>
            <a:xfrm>
              <a:off x="2906640" y="16095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2873520" y="16128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S5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" name=""/>
          <p:cNvGrpSpPr/>
          <p:nvPr/>
        </p:nvGrpSpPr>
        <p:grpSpPr>
          <a:xfrm>
            <a:off x="3911760" y="1347840"/>
            <a:ext cx="390240" cy="266760"/>
            <a:chOff x="3911760" y="1347840"/>
            <a:chExt cx="390240" cy="266760"/>
          </a:xfrm>
        </p:grpSpPr>
        <p:sp>
          <p:nvSpPr>
            <p:cNvPr id="71" name=""/>
            <p:cNvSpPr/>
            <p:nvPr/>
          </p:nvSpPr>
          <p:spPr>
            <a:xfrm>
              <a:off x="3944880" y="134784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911760" y="134784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S7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" name=""/>
          <p:cNvGrpSpPr/>
          <p:nvPr/>
        </p:nvGrpSpPr>
        <p:grpSpPr>
          <a:xfrm>
            <a:off x="3549600" y="1335240"/>
            <a:ext cx="390600" cy="266400"/>
            <a:chOff x="3549600" y="1335240"/>
            <a:chExt cx="390600" cy="266400"/>
          </a:xfrm>
        </p:grpSpPr>
        <p:sp>
          <p:nvSpPr>
            <p:cNvPr id="74" name=""/>
            <p:cNvSpPr/>
            <p:nvPr/>
          </p:nvSpPr>
          <p:spPr>
            <a:xfrm>
              <a:off x="3583080" y="1335240"/>
              <a:ext cx="26676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3549600" y="133812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S6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" name=""/>
          <p:cNvGrpSpPr/>
          <p:nvPr/>
        </p:nvGrpSpPr>
        <p:grpSpPr>
          <a:xfrm>
            <a:off x="4494240" y="3511440"/>
            <a:ext cx="390600" cy="266760"/>
            <a:chOff x="4494240" y="3511440"/>
            <a:chExt cx="390600" cy="266760"/>
          </a:xfrm>
        </p:grpSpPr>
        <p:sp>
          <p:nvSpPr>
            <p:cNvPr id="77" name=""/>
            <p:cNvSpPr/>
            <p:nvPr/>
          </p:nvSpPr>
          <p:spPr>
            <a:xfrm>
              <a:off x="4527720" y="35114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4494240" y="35146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S4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9" name=""/>
          <p:cNvSpPr/>
          <p:nvPr/>
        </p:nvSpPr>
        <p:spPr>
          <a:xfrm flipV="1">
            <a:off x="5394240" y="2903040"/>
            <a:ext cx="1800" cy="2498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6151680" y="3286080"/>
            <a:ext cx="7920" cy="21160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6780240" y="3287880"/>
            <a:ext cx="1440" cy="21160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V="1">
            <a:off x="7472520" y="2373480"/>
            <a:ext cx="1440" cy="30304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 flipV="1">
            <a:off x="8434440" y="4109760"/>
            <a:ext cx="1440" cy="12920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V="1">
            <a:off x="8886960" y="4657680"/>
            <a:ext cx="1440" cy="7444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9570960" y="4657680"/>
            <a:ext cx="1800" cy="7444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8886960" y="4660920"/>
            <a:ext cx="684000" cy="14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 flipV="1">
            <a:off x="9210600" y="4106520"/>
            <a:ext cx="1800" cy="5396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8418600" y="4097160"/>
            <a:ext cx="792000" cy="129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3840" bIns="-3384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flipV="1">
            <a:off x="8837640" y="2371680"/>
            <a:ext cx="1440" cy="1733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483320" y="2368440"/>
            <a:ext cx="1354320" cy="7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159600" y="3292560"/>
            <a:ext cx="620640" cy="14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6475320" y="2916000"/>
            <a:ext cx="1800" cy="398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394240" y="2908440"/>
            <a:ext cx="1079640" cy="1260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 flipV="1">
            <a:off x="5913360" y="1091880"/>
            <a:ext cx="1800" cy="18255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 flipV="1">
            <a:off x="8116920" y="1092240"/>
            <a:ext cx="1440" cy="1285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913360" y="1096920"/>
            <a:ext cx="2205000" cy="20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 flipV="1">
            <a:off x="7015320" y="819000"/>
            <a:ext cx="1440" cy="300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717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401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285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18940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981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59304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313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114880" y="5121360"/>
            <a:ext cx="4754520" cy="1440"/>
          </a:xfrm>
          <a:prstGeom prst="line">
            <a:avLst/>
          </a:prstGeom>
          <a:ln w="1836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2254320" y="6192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Agglomerative hierarchical 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8252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11488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" name=""/>
          <p:cNvGrpSpPr/>
          <p:nvPr/>
        </p:nvGrpSpPr>
        <p:grpSpPr>
          <a:xfrm>
            <a:off x="642960" y="3149640"/>
            <a:ext cx="390600" cy="266760"/>
            <a:chOff x="642960" y="3149640"/>
            <a:chExt cx="390600" cy="266760"/>
          </a:xfrm>
        </p:grpSpPr>
        <p:sp>
          <p:nvSpPr>
            <p:cNvPr id="112" name=""/>
            <p:cNvSpPr/>
            <p:nvPr/>
          </p:nvSpPr>
          <p:spPr>
            <a:xfrm>
              <a:off x="676440" y="31496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642960" y="31528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S3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" name=""/>
          <p:cNvGrpSpPr/>
          <p:nvPr/>
        </p:nvGrpSpPr>
        <p:grpSpPr>
          <a:xfrm>
            <a:off x="1614600" y="3654360"/>
            <a:ext cx="390240" cy="266760"/>
            <a:chOff x="1614600" y="3654360"/>
            <a:chExt cx="390240" cy="266760"/>
          </a:xfrm>
        </p:grpSpPr>
        <p:sp>
          <p:nvSpPr>
            <p:cNvPr id="115" name=""/>
            <p:cNvSpPr/>
            <p:nvPr/>
          </p:nvSpPr>
          <p:spPr>
            <a:xfrm>
              <a:off x="1647720" y="36543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1614600" y="36576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S2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7" name=""/>
          <p:cNvGrpSpPr/>
          <p:nvPr/>
        </p:nvGrpSpPr>
        <p:grpSpPr>
          <a:xfrm>
            <a:off x="318960" y="4807080"/>
            <a:ext cx="390600" cy="266400"/>
            <a:chOff x="318960" y="4807080"/>
            <a:chExt cx="390600" cy="266400"/>
          </a:xfrm>
        </p:grpSpPr>
        <p:sp>
          <p:nvSpPr>
            <p:cNvPr id="118" name=""/>
            <p:cNvSpPr/>
            <p:nvPr/>
          </p:nvSpPr>
          <p:spPr>
            <a:xfrm>
              <a:off x="351000" y="4807080"/>
              <a:ext cx="26640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318960" y="480996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S1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" name=""/>
          <p:cNvGrpSpPr/>
          <p:nvPr/>
        </p:nvGrpSpPr>
        <p:grpSpPr>
          <a:xfrm>
            <a:off x="2873520" y="1609560"/>
            <a:ext cx="390240" cy="266760"/>
            <a:chOff x="2873520" y="1609560"/>
            <a:chExt cx="390240" cy="266760"/>
          </a:xfrm>
        </p:grpSpPr>
        <p:sp>
          <p:nvSpPr>
            <p:cNvPr id="121" name=""/>
            <p:cNvSpPr/>
            <p:nvPr/>
          </p:nvSpPr>
          <p:spPr>
            <a:xfrm>
              <a:off x="2906640" y="16095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2873520" y="16128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S5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" name=""/>
          <p:cNvGrpSpPr/>
          <p:nvPr/>
        </p:nvGrpSpPr>
        <p:grpSpPr>
          <a:xfrm>
            <a:off x="3911760" y="1347840"/>
            <a:ext cx="390240" cy="266760"/>
            <a:chOff x="3911760" y="1347840"/>
            <a:chExt cx="390240" cy="266760"/>
          </a:xfrm>
        </p:grpSpPr>
        <p:sp>
          <p:nvSpPr>
            <p:cNvPr id="124" name=""/>
            <p:cNvSpPr/>
            <p:nvPr/>
          </p:nvSpPr>
          <p:spPr>
            <a:xfrm>
              <a:off x="3944880" y="134784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3911760" y="134784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S7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" name=""/>
          <p:cNvGrpSpPr/>
          <p:nvPr/>
        </p:nvGrpSpPr>
        <p:grpSpPr>
          <a:xfrm>
            <a:off x="3549600" y="1335240"/>
            <a:ext cx="390600" cy="266400"/>
            <a:chOff x="3549600" y="1335240"/>
            <a:chExt cx="390600" cy="266400"/>
          </a:xfrm>
        </p:grpSpPr>
        <p:sp>
          <p:nvSpPr>
            <p:cNvPr id="127" name=""/>
            <p:cNvSpPr/>
            <p:nvPr/>
          </p:nvSpPr>
          <p:spPr>
            <a:xfrm>
              <a:off x="3583080" y="1335240"/>
              <a:ext cx="26676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3549600" y="133812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S6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" name=""/>
          <p:cNvGrpSpPr/>
          <p:nvPr/>
        </p:nvGrpSpPr>
        <p:grpSpPr>
          <a:xfrm>
            <a:off x="4494240" y="3511440"/>
            <a:ext cx="390600" cy="266760"/>
            <a:chOff x="4494240" y="3511440"/>
            <a:chExt cx="390600" cy="266760"/>
          </a:xfrm>
        </p:grpSpPr>
        <p:sp>
          <p:nvSpPr>
            <p:cNvPr id="130" name=""/>
            <p:cNvSpPr/>
            <p:nvPr/>
          </p:nvSpPr>
          <p:spPr>
            <a:xfrm>
              <a:off x="4527720" y="35114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4494240" y="35146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S4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2" name=""/>
          <p:cNvSpPr/>
          <p:nvPr/>
        </p:nvSpPr>
        <p:spPr>
          <a:xfrm flipV="1">
            <a:off x="5394240" y="2903040"/>
            <a:ext cx="1800" cy="2498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6151680" y="3286080"/>
            <a:ext cx="7920" cy="21160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 flipV="1">
            <a:off x="6780240" y="3287880"/>
            <a:ext cx="1440" cy="21160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 flipV="1">
            <a:off x="7472520" y="2373480"/>
            <a:ext cx="1440" cy="30304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 flipV="1">
            <a:off x="8434440" y="4109760"/>
            <a:ext cx="1440" cy="12920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 flipV="1">
            <a:off x="8886960" y="4657680"/>
            <a:ext cx="144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 flipV="1">
            <a:off x="9570960" y="4657680"/>
            <a:ext cx="180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8886960" y="4660920"/>
            <a:ext cx="684000" cy="144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 flipV="1">
            <a:off x="9210600" y="4106520"/>
            <a:ext cx="1800" cy="5396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8418600" y="4097160"/>
            <a:ext cx="792000" cy="129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3840" bIns="-3384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 flipV="1">
            <a:off x="8837640" y="2371680"/>
            <a:ext cx="1440" cy="1733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483320" y="2368440"/>
            <a:ext cx="1354320" cy="7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159600" y="3292560"/>
            <a:ext cx="620640" cy="14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 flipV="1">
            <a:off x="6475320" y="2916000"/>
            <a:ext cx="1800" cy="398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394240" y="2908440"/>
            <a:ext cx="1079640" cy="1260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 flipV="1">
            <a:off x="5913360" y="1091880"/>
            <a:ext cx="1800" cy="18255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8116920" y="1092240"/>
            <a:ext cx="1440" cy="1285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5913360" y="1096920"/>
            <a:ext cx="2205000" cy="20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7015320" y="819000"/>
            <a:ext cx="1440" cy="300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8717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9401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8285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18940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981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59304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313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475080" y="1062000"/>
            <a:ext cx="914400" cy="914400"/>
          </a:xfrm>
          <a:prstGeom prst="ellipse">
            <a:avLst/>
          </a:prstGeom>
          <a:noFill/>
          <a:ln w="1836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114880" y="4653000"/>
            <a:ext cx="4754520" cy="1440"/>
          </a:xfrm>
          <a:prstGeom prst="line">
            <a:avLst/>
          </a:prstGeom>
          <a:ln w="1836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162" name=""/>
          <p:cNvSpPr/>
          <p:nvPr/>
        </p:nvSpPr>
        <p:spPr>
          <a:xfrm>
            <a:off x="2254320" y="6192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Agglomerative hierarchical 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8252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511488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5" name=""/>
          <p:cNvGrpSpPr/>
          <p:nvPr/>
        </p:nvGrpSpPr>
        <p:grpSpPr>
          <a:xfrm>
            <a:off x="642960" y="3149640"/>
            <a:ext cx="390600" cy="266760"/>
            <a:chOff x="642960" y="3149640"/>
            <a:chExt cx="390600" cy="266760"/>
          </a:xfrm>
        </p:grpSpPr>
        <p:sp>
          <p:nvSpPr>
            <p:cNvPr id="166" name=""/>
            <p:cNvSpPr/>
            <p:nvPr/>
          </p:nvSpPr>
          <p:spPr>
            <a:xfrm>
              <a:off x="676440" y="31496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642960" y="31528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S3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" name=""/>
          <p:cNvGrpSpPr/>
          <p:nvPr/>
        </p:nvGrpSpPr>
        <p:grpSpPr>
          <a:xfrm>
            <a:off x="1614600" y="3654360"/>
            <a:ext cx="390240" cy="266760"/>
            <a:chOff x="1614600" y="3654360"/>
            <a:chExt cx="390240" cy="266760"/>
          </a:xfrm>
        </p:grpSpPr>
        <p:sp>
          <p:nvSpPr>
            <p:cNvPr id="169" name=""/>
            <p:cNvSpPr/>
            <p:nvPr/>
          </p:nvSpPr>
          <p:spPr>
            <a:xfrm>
              <a:off x="1647720" y="36543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1614600" y="36576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S2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" name=""/>
          <p:cNvGrpSpPr/>
          <p:nvPr/>
        </p:nvGrpSpPr>
        <p:grpSpPr>
          <a:xfrm>
            <a:off x="318960" y="4807080"/>
            <a:ext cx="390600" cy="266400"/>
            <a:chOff x="318960" y="4807080"/>
            <a:chExt cx="390600" cy="266400"/>
          </a:xfrm>
        </p:grpSpPr>
        <p:sp>
          <p:nvSpPr>
            <p:cNvPr id="172" name=""/>
            <p:cNvSpPr/>
            <p:nvPr/>
          </p:nvSpPr>
          <p:spPr>
            <a:xfrm>
              <a:off x="351000" y="4807080"/>
              <a:ext cx="26640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318960" y="480996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S1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" name=""/>
          <p:cNvGrpSpPr/>
          <p:nvPr/>
        </p:nvGrpSpPr>
        <p:grpSpPr>
          <a:xfrm>
            <a:off x="2873520" y="1609560"/>
            <a:ext cx="390240" cy="266760"/>
            <a:chOff x="2873520" y="1609560"/>
            <a:chExt cx="390240" cy="266760"/>
          </a:xfrm>
        </p:grpSpPr>
        <p:sp>
          <p:nvSpPr>
            <p:cNvPr id="175" name=""/>
            <p:cNvSpPr/>
            <p:nvPr/>
          </p:nvSpPr>
          <p:spPr>
            <a:xfrm>
              <a:off x="2906640" y="16095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2873520" y="16128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S5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" name=""/>
          <p:cNvGrpSpPr/>
          <p:nvPr/>
        </p:nvGrpSpPr>
        <p:grpSpPr>
          <a:xfrm>
            <a:off x="3911760" y="1347840"/>
            <a:ext cx="390240" cy="266760"/>
            <a:chOff x="3911760" y="1347840"/>
            <a:chExt cx="390240" cy="266760"/>
          </a:xfrm>
        </p:grpSpPr>
        <p:sp>
          <p:nvSpPr>
            <p:cNvPr id="178" name=""/>
            <p:cNvSpPr/>
            <p:nvPr/>
          </p:nvSpPr>
          <p:spPr>
            <a:xfrm>
              <a:off x="3944880" y="134784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3911760" y="134784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S7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" name=""/>
          <p:cNvGrpSpPr/>
          <p:nvPr/>
        </p:nvGrpSpPr>
        <p:grpSpPr>
          <a:xfrm>
            <a:off x="3549600" y="1335240"/>
            <a:ext cx="390600" cy="266400"/>
            <a:chOff x="3549600" y="1335240"/>
            <a:chExt cx="390600" cy="266400"/>
          </a:xfrm>
        </p:grpSpPr>
        <p:sp>
          <p:nvSpPr>
            <p:cNvPr id="181" name=""/>
            <p:cNvSpPr/>
            <p:nvPr/>
          </p:nvSpPr>
          <p:spPr>
            <a:xfrm>
              <a:off x="3583080" y="1335240"/>
              <a:ext cx="26676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3549600" y="133812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S6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3" name=""/>
          <p:cNvGrpSpPr/>
          <p:nvPr/>
        </p:nvGrpSpPr>
        <p:grpSpPr>
          <a:xfrm>
            <a:off x="4494240" y="3511440"/>
            <a:ext cx="390600" cy="266760"/>
            <a:chOff x="4494240" y="3511440"/>
            <a:chExt cx="390600" cy="266760"/>
          </a:xfrm>
        </p:grpSpPr>
        <p:sp>
          <p:nvSpPr>
            <p:cNvPr id="184" name=""/>
            <p:cNvSpPr/>
            <p:nvPr/>
          </p:nvSpPr>
          <p:spPr>
            <a:xfrm>
              <a:off x="4527720" y="35114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4494240" y="35146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S4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6" name=""/>
          <p:cNvSpPr/>
          <p:nvPr/>
        </p:nvSpPr>
        <p:spPr>
          <a:xfrm flipV="1">
            <a:off x="5394240" y="2903040"/>
            <a:ext cx="1800" cy="2498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 flipV="1">
            <a:off x="6151680" y="3286080"/>
            <a:ext cx="7920" cy="21160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 flipV="1">
            <a:off x="6780240" y="3287880"/>
            <a:ext cx="1440" cy="21160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7472520" y="2373480"/>
            <a:ext cx="1440" cy="30304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 flipV="1">
            <a:off x="8434440" y="4109760"/>
            <a:ext cx="1440" cy="129204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 flipV="1">
            <a:off x="8886960" y="4657680"/>
            <a:ext cx="144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9570960" y="4657680"/>
            <a:ext cx="180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8886960" y="4660920"/>
            <a:ext cx="684000" cy="144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9210600" y="4106520"/>
            <a:ext cx="1800" cy="53964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8418600" y="4097160"/>
            <a:ext cx="792000" cy="1296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3840" bIns="-3384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 flipV="1">
            <a:off x="8837640" y="2371680"/>
            <a:ext cx="1440" cy="1733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483320" y="2368440"/>
            <a:ext cx="1354320" cy="7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159600" y="3292560"/>
            <a:ext cx="620640" cy="14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 flipV="1">
            <a:off x="6475320" y="2916000"/>
            <a:ext cx="1800" cy="398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394240" y="2908440"/>
            <a:ext cx="1079640" cy="1260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 flipV="1">
            <a:off x="5913360" y="1091880"/>
            <a:ext cx="1800" cy="18255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 flipV="1">
            <a:off x="8116920" y="1092240"/>
            <a:ext cx="1440" cy="1285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913360" y="1096920"/>
            <a:ext cx="2205000" cy="20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7015320" y="819000"/>
            <a:ext cx="1440" cy="300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8717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9401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8285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18940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981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59304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313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475080" y="1062000"/>
            <a:ext cx="914400" cy="914400"/>
          </a:xfrm>
          <a:prstGeom prst="ellipse">
            <a:avLst/>
          </a:prstGeom>
          <a:noFill/>
          <a:ln w="1836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2890800" y="861840"/>
            <a:ext cx="1554120" cy="1554480"/>
          </a:xfrm>
          <a:prstGeom prst="ellipse">
            <a:avLst/>
          </a:prstGeom>
          <a:noFill/>
          <a:ln w="18360">
            <a:solidFill>
              <a:srgbClr val="0095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114880" y="4076640"/>
            <a:ext cx="4754520" cy="1800"/>
          </a:xfrm>
          <a:prstGeom prst="line">
            <a:avLst/>
          </a:prstGeom>
          <a:ln w="1836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216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217" name=""/>
          <p:cNvSpPr/>
          <p:nvPr/>
        </p:nvSpPr>
        <p:spPr>
          <a:xfrm>
            <a:off x="2254320" y="6192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Agglomerative hierarchical 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8252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11488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0" name=""/>
          <p:cNvGrpSpPr/>
          <p:nvPr/>
        </p:nvGrpSpPr>
        <p:grpSpPr>
          <a:xfrm>
            <a:off x="642960" y="3149640"/>
            <a:ext cx="390600" cy="266760"/>
            <a:chOff x="642960" y="3149640"/>
            <a:chExt cx="390600" cy="266760"/>
          </a:xfrm>
        </p:grpSpPr>
        <p:sp>
          <p:nvSpPr>
            <p:cNvPr id="221" name=""/>
            <p:cNvSpPr/>
            <p:nvPr/>
          </p:nvSpPr>
          <p:spPr>
            <a:xfrm>
              <a:off x="676440" y="31496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642960" y="31528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S3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" name=""/>
          <p:cNvGrpSpPr/>
          <p:nvPr/>
        </p:nvGrpSpPr>
        <p:grpSpPr>
          <a:xfrm>
            <a:off x="1614600" y="3654360"/>
            <a:ext cx="390240" cy="266760"/>
            <a:chOff x="1614600" y="3654360"/>
            <a:chExt cx="390240" cy="266760"/>
          </a:xfrm>
        </p:grpSpPr>
        <p:sp>
          <p:nvSpPr>
            <p:cNvPr id="224" name=""/>
            <p:cNvSpPr/>
            <p:nvPr/>
          </p:nvSpPr>
          <p:spPr>
            <a:xfrm>
              <a:off x="1647720" y="36543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1614600" y="36576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S2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" name=""/>
          <p:cNvGrpSpPr/>
          <p:nvPr/>
        </p:nvGrpSpPr>
        <p:grpSpPr>
          <a:xfrm>
            <a:off x="318960" y="4807080"/>
            <a:ext cx="390600" cy="266400"/>
            <a:chOff x="318960" y="4807080"/>
            <a:chExt cx="390600" cy="266400"/>
          </a:xfrm>
        </p:grpSpPr>
        <p:sp>
          <p:nvSpPr>
            <p:cNvPr id="227" name=""/>
            <p:cNvSpPr/>
            <p:nvPr/>
          </p:nvSpPr>
          <p:spPr>
            <a:xfrm>
              <a:off x="351000" y="4807080"/>
              <a:ext cx="26640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318960" y="480996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S1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" name=""/>
          <p:cNvGrpSpPr/>
          <p:nvPr/>
        </p:nvGrpSpPr>
        <p:grpSpPr>
          <a:xfrm>
            <a:off x="2873520" y="1609560"/>
            <a:ext cx="390240" cy="266760"/>
            <a:chOff x="2873520" y="1609560"/>
            <a:chExt cx="390240" cy="266760"/>
          </a:xfrm>
        </p:grpSpPr>
        <p:sp>
          <p:nvSpPr>
            <p:cNvPr id="230" name=""/>
            <p:cNvSpPr/>
            <p:nvPr/>
          </p:nvSpPr>
          <p:spPr>
            <a:xfrm>
              <a:off x="2906640" y="16095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2873520" y="16128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S5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" name=""/>
          <p:cNvGrpSpPr/>
          <p:nvPr/>
        </p:nvGrpSpPr>
        <p:grpSpPr>
          <a:xfrm>
            <a:off x="3911760" y="1347840"/>
            <a:ext cx="390240" cy="266760"/>
            <a:chOff x="3911760" y="1347840"/>
            <a:chExt cx="390240" cy="266760"/>
          </a:xfrm>
        </p:grpSpPr>
        <p:sp>
          <p:nvSpPr>
            <p:cNvPr id="233" name=""/>
            <p:cNvSpPr/>
            <p:nvPr/>
          </p:nvSpPr>
          <p:spPr>
            <a:xfrm>
              <a:off x="3944880" y="134784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3911760" y="134784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S7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" name=""/>
          <p:cNvGrpSpPr/>
          <p:nvPr/>
        </p:nvGrpSpPr>
        <p:grpSpPr>
          <a:xfrm>
            <a:off x="3549600" y="1335240"/>
            <a:ext cx="390600" cy="266400"/>
            <a:chOff x="3549600" y="1335240"/>
            <a:chExt cx="390600" cy="266400"/>
          </a:xfrm>
        </p:grpSpPr>
        <p:sp>
          <p:nvSpPr>
            <p:cNvPr id="236" name=""/>
            <p:cNvSpPr/>
            <p:nvPr/>
          </p:nvSpPr>
          <p:spPr>
            <a:xfrm>
              <a:off x="3583080" y="1335240"/>
              <a:ext cx="26676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3549600" y="133812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S6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" name=""/>
          <p:cNvGrpSpPr/>
          <p:nvPr/>
        </p:nvGrpSpPr>
        <p:grpSpPr>
          <a:xfrm>
            <a:off x="4494240" y="3511440"/>
            <a:ext cx="390600" cy="266760"/>
            <a:chOff x="4494240" y="3511440"/>
            <a:chExt cx="390600" cy="266760"/>
          </a:xfrm>
        </p:grpSpPr>
        <p:sp>
          <p:nvSpPr>
            <p:cNvPr id="239" name=""/>
            <p:cNvSpPr/>
            <p:nvPr/>
          </p:nvSpPr>
          <p:spPr>
            <a:xfrm>
              <a:off x="4527720" y="35114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4494240" y="35146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S4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1" name=""/>
          <p:cNvSpPr/>
          <p:nvPr/>
        </p:nvSpPr>
        <p:spPr>
          <a:xfrm flipV="1">
            <a:off x="5394240" y="2903040"/>
            <a:ext cx="1800" cy="2498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6151680" y="3286080"/>
            <a:ext cx="7920" cy="2116080"/>
          </a:xfrm>
          <a:prstGeom prst="line">
            <a:avLst/>
          </a:prstGeom>
          <a:ln w="3672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6780240" y="3287880"/>
            <a:ext cx="1440" cy="2116080"/>
          </a:xfrm>
          <a:prstGeom prst="line">
            <a:avLst/>
          </a:prstGeom>
          <a:ln w="3672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7472520" y="2373480"/>
            <a:ext cx="1440" cy="30304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 flipV="1">
            <a:off x="8434440" y="4109760"/>
            <a:ext cx="1440" cy="129204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 flipV="1">
            <a:off x="8886960" y="4657680"/>
            <a:ext cx="144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 flipV="1">
            <a:off x="9570960" y="4657680"/>
            <a:ext cx="180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8886960" y="4660920"/>
            <a:ext cx="684000" cy="144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 flipV="1">
            <a:off x="9210600" y="4106520"/>
            <a:ext cx="1800" cy="53964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418600" y="4097160"/>
            <a:ext cx="792000" cy="1296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3840" bIns="-3384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 flipV="1">
            <a:off x="8837640" y="2371680"/>
            <a:ext cx="1440" cy="1733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483320" y="2368440"/>
            <a:ext cx="1354320" cy="7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159600" y="3292560"/>
            <a:ext cx="620640" cy="1440"/>
          </a:xfrm>
          <a:prstGeom prst="line">
            <a:avLst/>
          </a:prstGeom>
          <a:ln w="3672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 flipV="1">
            <a:off x="6475320" y="2916000"/>
            <a:ext cx="1800" cy="398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5394240" y="2908440"/>
            <a:ext cx="1079640" cy="1260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 flipV="1">
            <a:off x="5913360" y="1091880"/>
            <a:ext cx="1800" cy="18255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 flipV="1">
            <a:off x="8116920" y="1092240"/>
            <a:ext cx="1440" cy="1285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913360" y="1096920"/>
            <a:ext cx="2205000" cy="20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 flipV="1">
            <a:off x="7015320" y="819000"/>
            <a:ext cx="1440" cy="300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8717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9401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8285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518940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5981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59304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7313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475080" y="1062000"/>
            <a:ext cx="914400" cy="914400"/>
          </a:xfrm>
          <a:prstGeom prst="ellipse">
            <a:avLst/>
          </a:prstGeom>
          <a:noFill/>
          <a:ln w="1836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890800" y="861840"/>
            <a:ext cx="1554120" cy="1554480"/>
          </a:xfrm>
          <a:prstGeom prst="ellipse">
            <a:avLst/>
          </a:prstGeom>
          <a:noFill/>
          <a:ln w="18360">
            <a:solidFill>
              <a:srgbClr val="0095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5114880" y="3284640"/>
            <a:ext cx="4754520" cy="1440"/>
          </a:xfrm>
          <a:prstGeom prst="line">
            <a:avLst/>
          </a:prstGeom>
          <a:ln w="1836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568440" y="2784600"/>
            <a:ext cx="1463400" cy="1463400"/>
          </a:xfrm>
          <a:prstGeom prst="ellipse">
            <a:avLst/>
          </a:prstGeom>
          <a:noFill/>
          <a:ln w="18360">
            <a:solidFill>
              <a:srgbClr val="ff950e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273" name=""/>
          <p:cNvSpPr/>
          <p:nvPr/>
        </p:nvSpPr>
        <p:spPr>
          <a:xfrm>
            <a:off x="2254320" y="6192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Agglomerative hierarchical 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8252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5114880" y="731880"/>
            <a:ext cx="4754520" cy="46641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6" name=""/>
          <p:cNvGrpSpPr/>
          <p:nvPr/>
        </p:nvGrpSpPr>
        <p:grpSpPr>
          <a:xfrm>
            <a:off x="642960" y="3149640"/>
            <a:ext cx="390600" cy="266760"/>
            <a:chOff x="642960" y="3149640"/>
            <a:chExt cx="390600" cy="266760"/>
          </a:xfrm>
        </p:grpSpPr>
        <p:sp>
          <p:nvSpPr>
            <p:cNvPr id="277" name=""/>
            <p:cNvSpPr/>
            <p:nvPr/>
          </p:nvSpPr>
          <p:spPr>
            <a:xfrm>
              <a:off x="676440" y="31496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642960" y="31528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S3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9" name=""/>
          <p:cNvGrpSpPr/>
          <p:nvPr/>
        </p:nvGrpSpPr>
        <p:grpSpPr>
          <a:xfrm>
            <a:off x="1614600" y="3654360"/>
            <a:ext cx="390240" cy="266760"/>
            <a:chOff x="1614600" y="3654360"/>
            <a:chExt cx="390240" cy="266760"/>
          </a:xfrm>
        </p:grpSpPr>
        <p:sp>
          <p:nvSpPr>
            <p:cNvPr id="280" name=""/>
            <p:cNvSpPr/>
            <p:nvPr/>
          </p:nvSpPr>
          <p:spPr>
            <a:xfrm>
              <a:off x="1647720" y="36543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1614600" y="36576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S2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" name=""/>
          <p:cNvGrpSpPr/>
          <p:nvPr/>
        </p:nvGrpSpPr>
        <p:grpSpPr>
          <a:xfrm>
            <a:off x="318960" y="4807080"/>
            <a:ext cx="390600" cy="266400"/>
            <a:chOff x="318960" y="4807080"/>
            <a:chExt cx="390600" cy="266400"/>
          </a:xfrm>
        </p:grpSpPr>
        <p:sp>
          <p:nvSpPr>
            <p:cNvPr id="283" name=""/>
            <p:cNvSpPr/>
            <p:nvPr/>
          </p:nvSpPr>
          <p:spPr>
            <a:xfrm>
              <a:off x="351000" y="4807080"/>
              <a:ext cx="26640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318960" y="480996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S1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5" name=""/>
          <p:cNvGrpSpPr/>
          <p:nvPr/>
        </p:nvGrpSpPr>
        <p:grpSpPr>
          <a:xfrm>
            <a:off x="2873520" y="1609560"/>
            <a:ext cx="390240" cy="266760"/>
            <a:chOff x="2873520" y="1609560"/>
            <a:chExt cx="390240" cy="266760"/>
          </a:xfrm>
        </p:grpSpPr>
        <p:sp>
          <p:nvSpPr>
            <p:cNvPr id="286" name=""/>
            <p:cNvSpPr/>
            <p:nvPr/>
          </p:nvSpPr>
          <p:spPr>
            <a:xfrm>
              <a:off x="2906640" y="160956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2873520" y="161280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S5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8" name=""/>
          <p:cNvGrpSpPr/>
          <p:nvPr/>
        </p:nvGrpSpPr>
        <p:grpSpPr>
          <a:xfrm>
            <a:off x="3911760" y="1347840"/>
            <a:ext cx="390240" cy="266760"/>
            <a:chOff x="3911760" y="1347840"/>
            <a:chExt cx="390240" cy="266760"/>
          </a:xfrm>
        </p:grpSpPr>
        <p:sp>
          <p:nvSpPr>
            <p:cNvPr id="289" name=""/>
            <p:cNvSpPr/>
            <p:nvPr/>
          </p:nvSpPr>
          <p:spPr>
            <a:xfrm>
              <a:off x="3944880" y="1347840"/>
              <a:ext cx="26676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3911760" y="1347840"/>
              <a:ext cx="3902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S7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" name=""/>
          <p:cNvGrpSpPr/>
          <p:nvPr/>
        </p:nvGrpSpPr>
        <p:grpSpPr>
          <a:xfrm>
            <a:off x="3549600" y="1335240"/>
            <a:ext cx="390600" cy="266400"/>
            <a:chOff x="3549600" y="1335240"/>
            <a:chExt cx="390600" cy="266400"/>
          </a:xfrm>
        </p:grpSpPr>
        <p:sp>
          <p:nvSpPr>
            <p:cNvPr id="292" name=""/>
            <p:cNvSpPr/>
            <p:nvPr/>
          </p:nvSpPr>
          <p:spPr>
            <a:xfrm>
              <a:off x="3583080" y="1335240"/>
              <a:ext cx="266760" cy="26640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3549600" y="1338120"/>
              <a:ext cx="390600" cy="2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S6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4" name=""/>
          <p:cNvGrpSpPr/>
          <p:nvPr/>
        </p:nvGrpSpPr>
        <p:grpSpPr>
          <a:xfrm>
            <a:off x="4494240" y="3511440"/>
            <a:ext cx="390600" cy="266760"/>
            <a:chOff x="4494240" y="3511440"/>
            <a:chExt cx="390600" cy="266760"/>
          </a:xfrm>
        </p:grpSpPr>
        <p:sp>
          <p:nvSpPr>
            <p:cNvPr id="295" name=""/>
            <p:cNvSpPr/>
            <p:nvPr/>
          </p:nvSpPr>
          <p:spPr>
            <a:xfrm>
              <a:off x="4527720" y="3511440"/>
              <a:ext cx="266400" cy="266760"/>
            </a:xfrm>
            <a:prstGeom prst="ellipse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4494240" y="3514680"/>
              <a:ext cx="39060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US" sz="1200" spc="-1" strike="noStrike">
                  <a:solidFill>
                    <a:srgbClr val="000000"/>
                  </a:solidFill>
                  <a:latin typeface="Arial"/>
                </a:rPr>
                <a:t>S4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7" name=""/>
          <p:cNvSpPr/>
          <p:nvPr/>
        </p:nvSpPr>
        <p:spPr>
          <a:xfrm flipV="1">
            <a:off x="5394240" y="2903040"/>
            <a:ext cx="1800" cy="2498760"/>
          </a:xfrm>
          <a:prstGeom prst="line">
            <a:avLst/>
          </a:prstGeom>
          <a:ln w="36720">
            <a:solidFill>
              <a:srgbClr val="aec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 flipV="1">
            <a:off x="6151680" y="3286080"/>
            <a:ext cx="7920" cy="2116080"/>
          </a:xfrm>
          <a:prstGeom prst="line">
            <a:avLst/>
          </a:prstGeom>
          <a:ln w="3672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 flipV="1">
            <a:off x="6780240" y="3287880"/>
            <a:ext cx="1440" cy="2116080"/>
          </a:xfrm>
          <a:prstGeom prst="line">
            <a:avLst/>
          </a:prstGeom>
          <a:ln w="3672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 flipV="1">
            <a:off x="7472520" y="2373480"/>
            <a:ext cx="1440" cy="303048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 flipV="1">
            <a:off x="8434440" y="4109760"/>
            <a:ext cx="1440" cy="129204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 flipV="1">
            <a:off x="8886960" y="4657680"/>
            <a:ext cx="144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 flipV="1">
            <a:off x="9570960" y="4657680"/>
            <a:ext cx="1800" cy="74448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8886960" y="4660920"/>
            <a:ext cx="684000" cy="144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 flipV="1">
            <a:off x="9210600" y="4106520"/>
            <a:ext cx="1800" cy="53964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8418600" y="4097160"/>
            <a:ext cx="792000" cy="12960"/>
          </a:xfrm>
          <a:prstGeom prst="line">
            <a:avLst/>
          </a:prstGeom>
          <a:ln w="36720">
            <a:solidFill>
              <a:srgbClr val="0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3840" bIns="-3384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 flipV="1">
            <a:off x="8837640" y="2371680"/>
            <a:ext cx="1440" cy="17337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7483320" y="2368440"/>
            <a:ext cx="1354320" cy="7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159600" y="3292560"/>
            <a:ext cx="620640" cy="1440"/>
          </a:xfrm>
          <a:prstGeom prst="line">
            <a:avLst/>
          </a:prstGeom>
          <a:ln w="3672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 flipV="1">
            <a:off x="6475320" y="2916000"/>
            <a:ext cx="1800" cy="398520"/>
          </a:xfrm>
          <a:prstGeom prst="line">
            <a:avLst/>
          </a:prstGeom>
          <a:ln w="36720">
            <a:solidFill>
              <a:srgbClr val="aec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5394240" y="2908440"/>
            <a:ext cx="1079640" cy="12600"/>
          </a:xfrm>
          <a:prstGeom prst="line">
            <a:avLst/>
          </a:prstGeom>
          <a:ln w="36720">
            <a:solidFill>
              <a:srgbClr val="aec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 flipV="1">
            <a:off x="5913360" y="1091880"/>
            <a:ext cx="1800" cy="182556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 flipV="1">
            <a:off x="8116920" y="1092240"/>
            <a:ext cx="1440" cy="12859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913360" y="1096920"/>
            <a:ext cx="2205000" cy="2052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 flipV="1">
            <a:off x="7015320" y="819000"/>
            <a:ext cx="1440" cy="300240"/>
          </a:xfrm>
          <a:prstGeom prst="line">
            <a:avLst/>
          </a:prstGeom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8717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9401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8285040" y="537228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518940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5981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59304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7313760" y="5367240"/>
            <a:ext cx="368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3475080" y="1062000"/>
            <a:ext cx="914400" cy="914400"/>
          </a:xfrm>
          <a:prstGeom prst="ellipse">
            <a:avLst/>
          </a:prstGeom>
          <a:noFill/>
          <a:ln w="1836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2890800" y="861840"/>
            <a:ext cx="1554120" cy="1554480"/>
          </a:xfrm>
          <a:prstGeom prst="ellipse">
            <a:avLst/>
          </a:prstGeom>
          <a:noFill/>
          <a:ln w="18360">
            <a:solidFill>
              <a:srgbClr val="0095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5114880" y="2889360"/>
            <a:ext cx="4754520" cy="1440"/>
          </a:xfrm>
          <a:prstGeom prst="line">
            <a:avLst/>
          </a:prstGeom>
          <a:ln w="1836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568440" y="2784600"/>
            <a:ext cx="1463400" cy="1463400"/>
          </a:xfrm>
          <a:prstGeom prst="ellipse">
            <a:avLst/>
          </a:prstGeom>
          <a:noFill/>
          <a:ln w="18360">
            <a:solidFill>
              <a:srgbClr val="ff950e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-108000" y="2743200"/>
            <a:ext cx="2560680" cy="2598840"/>
          </a:xfrm>
          <a:prstGeom prst="ellipse">
            <a:avLst/>
          </a:prstGeom>
          <a:noFill/>
          <a:ln w="18360">
            <a:solidFill>
              <a:srgbClr val="aec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9360" y="3240"/>
            <a:ext cx="10079280" cy="5668920"/>
          </a:xfrm>
          <a:prstGeom prst="rect">
            <a:avLst/>
          </a:prstGeom>
          <a:ln w="0">
            <a:noFill/>
          </a:ln>
        </p:spPr>
      </p:pic>
      <p:sp>
        <p:nvSpPr>
          <p:cNvPr id="329" name=""/>
          <p:cNvSpPr/>
          <p:nvPr/>
        </p:nvSpPr>
        <p:spPr>
          <a:xfrm>
            <a:off x="4865760" y="1208160"/>
            <a:ext cx="517212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euc_dist_23 = sqrt ((2-5)^2 + (5-3)^2) = 3.605551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9360" y="3240"/>
            <a:ext cx="10079280" cy="5668920"/>
          </a:xfrm>
          <a:prstGeom prst="rect">
            <a:avLst/>
          </a:prstGeom>
          <a:ln w="0">
            <a:noFill/>
          </a:ln>
        </p:spPr>
      </p:pic>
      <p:sp>
        <p:nvSpPr>
          <p:cNvPr id="331" name=""/>
          <p:cNvSpPr/>
          <p:nvPr/>
        </p:nvSpPr>
        <p:spPr>
          <a:xfrm>
            <a:off x="4865760" y="1208160"/>
            <a:ext cx="517212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euc_dist_23 = sqrt ((2-5)^2 + (5-3)^2) = 3.605551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>
            <a:off x="1336680" y="822240"/>
            <a:ext cx="5138640" cy="24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ff3333"/>
                </a:solidFill>
                <a:latin typeface="Arial"/>
              </a:rPr>
              <a:t>Add sample to cluster by: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1) Closest neighbor in cluster (single linkage)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Farthest neighbor in cluster (complete linkage)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3) Median / mean of cluster (UPGMA / UPGMC)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4) Least change in variation (Ward)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1328760" y="3944880"/>
            <a:ext cx="5896080" cy="13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ff3333"/>
                </a:solidFill>
                <a:latin typeface="Arial"/>
              </a:rPr>
              <a:t>Disadvantages of hierachical </a:t>
            </a:r>
            <a:r>
              <a:rPr b="0" lang="en-US" sz="1800" spc="-1" strike="noStrike">
                <a:solidFill>
                  <a:srgbClr val="ff3333"/>
                </a:solidFill>
                <a:latin typeface="Arial"/>
              </a:rPr>
              <a:t>clustering (no matter type):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Very sensitive to noise in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335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336" name=""/>
          <p:cNvSpPr/>
          <p:nvPr/>
        </p:nvSpPr>
        <p:spPr>
          <a:xfrm>
            <a:off x="2254320" y="6192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Types of hierarchical clustering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dur="indefinite" fill="hold">
                      <p:stCondLst>
                        <p:cond delay="indefinite"/>
                      </p:stCondLst>
                      <p:childTnLst>
                        <p:par>
                          <p:cTn id="2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1809720" y="1682640"/>
            <a:ext cx="622476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</a:rPr>
              <a:t>Partitioning clustering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339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" descr=""/>
          <p:cNvPicPr/>
          <p:nvPr/>
        </p:nvPicPr>
        <p:blipFill>
          <a:blip r:embed="rId1"/>
          <a:srcRect l="0" t="11233" r="4669" b="3286"/>
          <a:stretch/>
        </p:blipFill>
        <p:spPr>
          <a:xfrm>
            <a:off x="1413000" y="784080"/>
            <a:ext cx="6110280" cy="4846680"/>
          </a:xfrm>
          <a:prstGeom prst="rect">
            <a:avLst/>
          </a:prstGeom>
          <a:ln w="0">
            <a:noFill/>
          </a:ln>
        </p:spPr>
      </p:pic>
      <p:pic>
        <p:nvPicPr>
          <p:cNvPr id="341" name="" descr=""/>
          <p:cNvPicPr/>
          <p:nvPr/>
        </p:nvPicPr>
        <p:blipFill>
          <a:blip r:embed="rId2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342" name="" descr=""/>
          <p:cNvPicPr/>
          <p:nvPr/>
        </p:nvPicPr>
        <p:blipFill>
          <a:blip r:embed="rId3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343" name=""/>
          <p:cNvSpPr/>
          <p:nvPr/>
        </p:nvSpPr>
        <p:spPr>
          <a:xfrm>
            <a:off x="2254320" y="61920"/>
            <a:ext cx="525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Partitioning principle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 flipH="1">
            <a:off x="3846600" y="639720"/>
            <a:ext cx="2660400" cy="4846680"/>
          </a:xfrm>
          <a:prstGeom prst="line">
            <a:avLst/>
          </a:prstGeom>
          <a:ln w="36720">
            <a:solidFill>
              <a:srgbClr val="ff420e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1890720" y="2835360"/>
            <a:ext cx="5761080" cy="1440"/>
          </a:xfrm>
          <a:prstGeom prst="line">
            <a:avLst/>
          </a:prstGeom>
          <a:ln w="36720">
            <a:solidFill>
              <a:srgbClr val="ff420e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7902720" y="2343240"/>
            <a:ext cx="18288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ff420e"/>
                </a:solidFill>
                <a:latin typeface="Arial"/>
              </a:rPr>
              <a:t>No dendrogram!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7883640" y="1189080"/>
            <a:ext cx="18795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just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9500"/>
                </a:solidFill>
                <a:latin typeface="Arial"/>
              </a:rPr>
              <a:t>Assign points to</a:t>
            </a:r>
            <a:br>
              <a:rPr sz="1800"/>
            </a:br>
            <a:r>
              <a:rPr b="0" lang="en-US" sz="1800" spc="-1" strike="noStrike">
                <a:solidFill>
                  <a:srgbClr val="009500"/>
                </a:solidFill>
                <a:latin typeface="Arial"/>
              </a:rPr>
              <a:t>K = 2, 3, 4, 5, …</a:t>
            </a:r>
            <a:br>
              <a:rPr sz="1800"/>
            </a:br>
            <a:r>
              <a:rPr b="0" lang="en-US" sz="1800" spc="-1" strike="noStrike">
                <a:solidFill>
                  <a:srgbClr val="009500"/>
                </a:solidFill>
                <a:latin typeface="Arial"/>
              </a:rPr>
              <a:t>groups (clusters)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7974000" y="3774960"/>
            <a:ext cx="2058840" cy="5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K-means, C-means, PAM, GMM, ...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dur="indefinite" fill="hold">
                      <p:stCondLst>
                        <p:cond delay="indefinite"/>
                      </p:stCondLst>
                      <p:childTnLst>
                        <p:par>
                          <p:cTn id="2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dur="indefinite" fill="hold">
                      <p:stCondLst>
                        <p:cond delay="indefinite"/>
                      </p:stCondLst>
                      <p:childTnLst>
                        <p:par>
                          <p:cTn id="3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" descr=""/>
          <p:cNvPicPr/>
          <p:nvPr/>
        </p:nvPicPr>
        <p:blipFill>
          <a:blip r:embed="rId1"/>
          <a:stretch/>
        </p:blipFill>
        <p:spPr>
          <a:xfrm>
            <a:off x="9360" y="3240"/>
            <a:ext cx="10079280" cy="5668920"/>
          </a:xfrm>
          <a:prstGeom prst="rect">
            <a:avLst/>
          </a:prstGeom>
          <a:ln w="0">
            <a:noFill/>
          </a:ln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" descr=""/>
          <p:cNvPicPr/>
          <p:nvPr/>
        </p:nvPicPr>
        <p:blipFill>
          <a:blip r:embed="rId1"/>
          <a:stretch/>
        </p:blipFill>
        <p:spPr>
          <a:xfrm>
            <a:off x="9360" y="3240"/>
            <a:ext cx="10079280" cy="5668920"/>
          </a:xfrm>
          <a:prstGeom prst="rect">
            <a:avLst/>
          </a:prstGeom>
          <a:ln w="0">
            <a:noFill/>
          </a:ln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1809720" y="1395360"/>
            <a:ext cx="6224760" cy="21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</a:rPr>
              <a:t>Clustering time series data: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36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</a:rPr>
              <a:t>examples from epidemiology</a:t>
            </a:r>
            <a:br>
              <a:rPr sz="36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</a:rPr>
              <a:t>and marine ecology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353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8000" cy="452520"/>
          </a:xfrm>
          <a:prstGeom prst="rect">
            <a:avLst/>
          </a:prstGeom>
          <a:ln w="0">
            <a:noFill/>
          </a:ln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" descr=""/>
          <p:cNvPicPr/>
          <p:nvPr/>
        </p:nvPicPr>
        <p:blipFill>
          <a:blip r:embed="rId1"/>
          <a:srcRect l="811" t="37036" r="46569" b="3286"/>
          <a:stretch/>
        </p:blipFill>
        <p:spPr>
          <a:xfrm>
            <a:off x="19080" y="555480"/>
            <a:ext cx="5742000" cy="3662640"/>
          </a:xfrm>
          <a:prstGeom prst="rect">
            <a:avLst/>
          </a:prstGeom>
          <a:ln w="0">
            <a:noFill/>
          </a:ln>
        </p:spPr>
      </p:pic>
      <p:pic>
        <p:nvPicPr>
          <p:cNvPr id="355" name="" descr=""/>
          <p:cNvPicPr/>
          <p:nvPr/>
        </p:nvPicPr>
        <p:blipFill>
          <a:blip r:embed="rId2"/>
          <a:srcRect l="55240" t="9624" r="307" b="33928"/>
          <a:stretch/>
        </p:blipFill>
        <p:spPr>
          <a:xfrm>
            <a:off x="5851440" y="2743200"/>
            <a:ext cx="4205520" cy="2913120"/>
          </a:xfrm>
          <a:prstGeom prst="rect">
            <a:avLst/>
          </a:prstGeom>
          <a:ln w="0">
            <a:noFill/>
          </a:ln>
        </p:spPr>
      </p:pic>
      <p:pic>
        <p:nvPicPr>
          <p:cNvPr id="356" name="" descr=""/>
          <p:cNvPicPr/>
          <p:nvPr/>
        </p:nvPicPr>
        <p:blipFill>
          <a:blip r:embed="rId3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357" name=""/>
          <p:cNvSpPr/>
          <p:nvPr/>
        </p:nvSpPr>
        <p:spPr>
          <a:xfrm>
            <a:off x="2141640" y="31680"/>
            <a:ext cx="5257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Foraging activity of harbour porpoises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8" name="" descr=""/>
          <p:cNvPicPr/>
          <p:nvPr/>
        </p:nvPicPr>
        <p:blipFill>
          <a:blip r:embed="rId4"/>
          <a:srcRect l="30748" t="19300" r="26612" b="40378"/>
          <a:stretch/>
        </p:blipFill>
        <p:spPr>
          <a:xfrm>
            <a:off x="5776920" y="549360"/>
            <a:ext cx="4297320" cy="2222280"/>
          </a:xfrm>
          <a:prstGeom prst="rect">
            <a:avLst/>
          </a:prstGeom>
          <a:ln w="0">
            <a:noFill/>
          </a:ln>
        </p:spPr>
      </p:pic>
      <p:pic>
        <p:nvPicPr>
          <p:cNvPr id="359" name="" descr=""/>
          <p:cNvPicPr/>
          <p:nvPr/>
        </p:nvPicPr>
        <p:blipFill>
          <a:blip r:embed="rId5"/>
          <a:stretch/>
        </p:blipFill>
        <p:spPr>
          <a:xfrm>
            <a:off x="7954920" y="20520"/>
            <a:ext cx="2103480" cy="536760"/>
          </a:xfrm>
          <a:prstGeom prst="rect">
            <a:avLst/>
          </a:prstGeom>
          <a:ln w="0">
            <a:noFill/>
          </a:ln>
        </p:spPr>
      </p:pic>
      <p:sp>
        <p:nvSpPr>
          <p:cNvPr id="360" name=""/>
          <p:cNvSpPr/>
          <p:nvPr/>
        </p:nvSpPr>
        <p:spPr>
          <a:xfrm>
            <a:off x="584280" y="4992840"/>
            <a:ext cx="14796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ff6347"/>
                </a:solidFill>
                <a:latin typeface="Arial"/>
              </a:rPr>
              <a:t>Foraging activity of harbour porpoises is time series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 flipV="1">
            <a:off x="1328760" y="4017600"/>
            <a:ext cx="682560" cy="965160"/>
          </a:xfrm>
          <a:prstGeom prst="line">
            <a:avLst/>
          </a:prstGeom>
          <a:ln w="18360">
            <a:solidFill>
              <a:srgbClr val="ff634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" descr=""/>
          <p:cNvPicPr/>
          <p:nvPr/>
        </p:nvPicPr>
        <p:blipFill>
          <a:blip r:embed="rId1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363" name=""/>
          <p:cNvSpPr/>
          <p:nvPr/>
        </p:nvSpPr>
        <p:spPr>
          <a:xfrm>
            <a:off x="2141640" y="31680"/>
            <a:ext cx="5257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Covid Symptom Study Sweden (CSSS)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4" name="" descr=""/>
          <p:cNvPicPr/>
          <p:nvPr/>
        </p:nvPicPr>
        <p:blipFill>
          <a:blip r:embed="rId2"/>
          <a:stretch/>
        </p:blipFill>
        <p:spPr>
          <a:xfrm>
            <a:off x="7954920" y="20520"/>
            <a:ext cx="2103480" cy="536760"/>
          </a:xfrm>
          <a:prstGeom prst="rect">
            <a:avLst/>
          </a:prstGeom>
          <a:ln w="0">
            <a:noFill/>
          </a:ln>
        </p:spPr>
      </p:pic>
      <p:pic>
        <p:nvPicPr>
          <p:cNvPr id="365" name="" descr=""/>
          <p:cNvPicPr/>
          <p:nvPr/>
        </p:nvPicPr>
        <p:blipFill>
          <a:blip r:embed="rId3"/>
          <a:srcRect l="0" t="0" r="0" b="24392"/>
          <a:stretch/>
        </p:blipFill>
        <p:spPr>
          <a:xfrm>
            <a:off x="92160" y="581040"/>
            <a:ext cx="5975280" cy="2838600"/>
          </a:xfrm>
          <a:prstGeom prst="rect">
            <a:avLst/>
          </a:prstGeom>
          <a:ln w="0">
            <a:noFill/>
          </a:ln>
        </p:spPr>
      </p:pic>
      <p:pic>
        <p:nvPicPr>
          <p:cNvPr id="366" name="" descr=""/>
          <p:cNvPicPr/>
          <p:nvPr/>
        </p:nvPicPr>
        <p:blipFill>
          <a:blip r:embed="rId4"/>
          <a:srcRect l="12388" t="7783" r="36809" b="18030"/>
          <a:stretch/>
        </p:blipFill>
        <p:spPr>
          <a:xfrm>
            <a:off x="1963800" y="3456000"/>
            <a:ext cx="2652480" cy="2178000"/>
          </a:xfrm>
          <a:prstGeom prst="rect">
            <a:avLst/>
          </a:prstGeom>
          <a:ln w="0">
            <a:noFill/>
          </a:ln>
        </p:spPr>
      </p:pic>
      <p:pic>
        <p:nvPicPr>
          <p:cNvPr id="367" name="" descr=""/>
          <p:cNvPicPr/>
          <p:nvPr/>
        </p:nvPicPr>
        <p:blipFill>
          <a:blip r:embed="rId5"/>
          <a:srcRect l="12388" t="7783" r="524" b="30922"/>
          <a:stretch/>
        </p:blipFill>
        <p:spPr>
          <a:xfrm>
            <a:off x="4608360" y="3435480"/>
            <a:ext cx="5456520" cy="2193840"/>
          </a:xfrm>
          <a:prstGeom prst="rect">
            <a:avLst/>
          </a:prstGeom>
          <a:ln w="0">
            <a:noFill/>
          </a:ln>
        </p:spPr>
      </p:pic>
      <p:pic>
        <p:nvPicPr>
          <p:cNvPr id="368" name="" descr=""/>
          <p:cNvPicPr/>
          <p:nvPr/>
        </p:nvPicPr>
        <p:blipFill>
          <a:blip r:embed="rId6"/>
          <a:srcRect l="18955" t="25074" r="41128" b="21274"/>
          <a:stretch/>
        </p:blipFill>
        <p:spPr>
          <a:xfrm>
            <a:off x="6199200" y="565200"/>
            <a:ext cx="3727440" cy="2817720"/>
          </a:xfrm>
          <a:prstGeom prst="rect">
            <a:avLst/>
          </a:prstGeom>
          <a:ln w="0">
            <a:noFill/>
          </a:ln>
        </p:spPr>
      </p:pic>
      <p:sp>
        <p:nvSpPr>
          <p:cNvPr id="369" name=""/>
          <p:cNvSpPr/>
          <p:nvPr/>
        </p:nvSpPr>
        <p:spPr>
          <a:xfrm>
            <a:off x="77760" y="4129200"/>
            <a:ext cx="14796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ff6347"/>
                </a:solidFill>
                <a:latin typeface="Arial"/>
              </a:rPr>
              <a:t>Covid prevalence in Sweden in time</a:t>
            </a:r>
            <a:br>
              <a:rPr sz="1200"/>
            </a:br>
            <a:r>
              <a:rPr b="0" lang="en-US" sz="1200" spc="-1" strike="noStrike">
                <a:solidFill>
                  <a:srgbClr val="ff6347"/>
                </a:solidFill>
                <a:latin typeface="Arial"/>
              </a:rPr>
              <a:t>is time series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 flipV="1">
            <a:off x="822240" y="2738520"/>
            <a:ext cx="822240" cy="1380960"/>
          </a:xfrm>
          <a:prstGeom prst="line">
            <a:avLst/>
          </a:prstGeom>
          <a:ln w="18360">
            <a:solidFill>
              <a:srgbClr val="ff634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" descr=""/>
          <p:cNvPicPr/>
          <p:nvPr/>
        </p:nvPicPr>
        <p:blipFill>
          <a:blip r:embed="rId1"/>
          <a:stretch/>
        </p:blipFill>
        <p:spPr>
          <a:xfrm>
            <a:off x="1314360" y="568440"/>
            <a:ext cx="6747120" cy="4984560"/>
          </a:xfrm>
          <a:prstGeom prst="rect">
            <a:avLst/>
          </a:prstGeom>
          <a:ln w="0">
            <a:noFill/>
          </a:ln>
        </p:spPr>
      </p:pic>
      <p:pic>
        <p:nvPicPr>
          <p:cNvPr id="372" name="" descr=""/>
          <p:cNvPicPr/>
          <p:nvPr/>
        </p:nvPicPr>
        <p:blipFill>
          <a:blip r:embed="rId2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373" name=""/>
          <p:cNvSpPr/>
          <p:nvPr/>
        </p:nvSpPr>
        <p:spPr>
          <a:xfrm>
            <a:off x="2284560" y="31680"/>
            <a:ext cx="5257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Dynamic Time Warping (DTW)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2473200" y="896760"/>
            <a:ext cx="395928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7600" bIns="450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Euclidean distance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between ts1 and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ts2: 26.96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Euclidean distance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between ts1 and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ts3: 23.19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2800440" y="4749840"/>
            <a:ext cx="34718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7600" bIns="450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DTW distance between ts1 and ts2: 17.93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DTW distance between ts1 and ts3: 21.55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2103480" y="2011320"/>
            <a:ext cx="1440" cy="1279440"/>
          </a:xfrm>
          <a:prstGeom prst="line">
            <a:avLst/>
          </a:prstGeom>
          <a:ln w="18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 flipV="1">
            <a:off x="2103480" y="3192480"/>
            <a:ext cx="274680" cy="108000"/>
          </a:xfrm>
          <a:prstGeom prst="line">
            <a:avLst/>
          </a:prstGeom>
          <a:ln w="18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2063880" y="1968480"/>
            <a:ext cx="91800" cy="92160"/>
          </a:xfrm>
          <a:prstGeom prst="ellipse">
            <a:avLst/>
          </a:prstGeom>
          <a:solidFill>
            <a:srgbClr val="ff0000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2048040" y="3236760"/>
            <a:ext cx="91800" cy="92160"/>
          </a:xfrm>
          <a:prstGeom prst="ellipse">
            <a:avLst/>
          </a:prstGeom>
          <a:solidFill>
            <a:srgbClr val="ff0000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2351160" y="3156120"/>
            <a:ext cx="92160" cy="918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360" bIns="1836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1006560" y="2103480"/>
            <a:ext cx="1096920" cy="457200"/>
          </a:xfrm>
          <a:prstGeom prst="line">
            <a:avLst/>
          </a:prstGeom>
          <a:ln w="93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419040" y="1665360"/>
            <a:ext cx="961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E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uc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lid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ea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n</a:t>
            </a:r>
            <a:br>
              <a:rPr sz="1400"/>
            </a:b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ne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ig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hb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or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 flipH="1">
            <a:off x="2185560" y="1884240"/>
            <a:ext cx="290520" cy="1371600"/>
          </a:xfrm>
          <a:prstGeom prst="line">
            <a:avLst/>
          </a:prstGeom>
          <a:ln w="93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2076480" y="1414440"/>
            <a:ext cx="961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D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T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W</a:t>
            </a:r>
            <a:br>
              <a:rPr sz="1400"/>
            </a:b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ne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ig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hb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or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</a:rPr>
              <a:t>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" descr=""/>
          <p:cNvPicPr/>
          <p:nvPr/>
        </p:nvPicPr>
        <p:blipFill>
          <a:blip r:embed="rId3"/>
          <a:stretch/>
        </p:blipFill>
        <p:spPr>
          <a:xfrm>
            <a:off x="7954920" y="19080"/>
            <a:ext cx="2103480" cy="536400"/>
          </a:xfrm>
          <a:prstGeom prst="rect">
            <a:avLst/>
          </a:prstGeom>
          <a:ln w="0">
            <a:noFill/>
          </a:ln>
        </p:spPr>
      </p:pic>
      <p:pic>
        <p:nvPicPr>
          <p:cNvPr id="386" name="" descr=""/>
          <p:cNvPicPr/>
          <p:nvPr/>
        </p:nvPicPr>
        <p:blipFill>
          <a:blip r:embed="rId4"/>
          <a:srcRect l="41417" t="24847" r="38622" b="34828"/>
          <a:stretch/>
        </p:blipFill>
        <p:spPr>
          <a:xfrm>
            <a:off x="8102520" y="623880"/>
            <a:ext cx="1941480" cy="2119320"/>
          </a:xfrm>
          <a:prstGeom prst="rect">
            <a:avLst/>
          </a:prstGeom>
          <a:ln w="0">
            <a:noFill/>
          </a:ln>
        </p:spPr>
      </p:pic>
      <p:sp>
        <p:nvSpPr>
          <p:cNvPr id="387" name=""/>
          <p:cNvSpPr/>
          <p:nvPr/>
        </p:nvSpPr>
        <p:spPr>
          <a:xfrm>
            <a:off x="8520120" y="2746440"/>
            <a:ext cx="11779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7600" bIns="45000" anchor="t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cumulative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cost matrix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" descr=""/>
          <p:cNvPicPr/>
          <p:nvPr/>
        </p:nvPicPr>
        <p:blipFill>
          <a:blip r:embed="rId5"/>
          <a:srcRect l="31329" t="14463" r="29506" b="10234"/>
          <a:stretch/>
        </p:blipFill>
        <p:spPr>
          <a:xfrm>
            <a:off x="8844120" y="4325760"/>
            <a:ext cx="615960" cy="722520"/>
          </a:xfrm>
          <a:prstGeom prst="rect">
            <a:avLst/>
          </a:prstGeom>
          <a:ln w="0"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dur="indefinite" fill="hold">
                      <p:stCondLst>
                        <p:cond delay="indefinite"/>
                      </p:stCondLst>
                      <p:childTnLst>
                        <p:par>
                          <p:cTn id="3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dur="indefinite" fill="hold">
                      <p:stCondLst>
                        <p:cond delay="indefinite"/>
                      </p:stCondLst>
                      <p:childTnLst>
                        <p:par>
                          <p:cTn id="4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dur="indefinite" fill="hold">
                      <p:stCondLst>
                        <p:cond delay="indefinite"/>
                      </p:stCondLst>
                      <p:childTnLst>
                        <p:par>
                          <p:cTn id="4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dur="indefinite" fill="hold">
                      <p:stCondLst>
                        <p:cond delay="indefinite"/>
                      </p:stCondLst>
                      <p:childTnLst>
                        <p:par>
                          <p:cTn id="5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dur="indefinite" fill="hold">
                      <p:stCondLst>
                        <p:cond delay="indefinite"/>
                      </p:stCondLst>
                      <p:childTnLst>
                        <p:par>
                          <p:cTn id="5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dur="indefinite" fill="hold">
                      <p:stCondLst>
                        <p:cond delay="indefinite"/>
                      </p:stCondLst>
                      <p:childTnLst>
                        <p:par>
                          <p:cTn id="6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dur="indefinite" fill="hold">
                      <p:stCondLst>
                        <p:cond delay="indefinite"/>
                      </p:stCondLst>
                      <p:childTnLst>
                        <p:par>
                          <p:cTn id="7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7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" descr=""/>
          <p:cNvPicPr/>
          <p:nvPr/>
        </p:nvPicPr>
        <p:blipFill>
          <a:blip r:embed="rId1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390" name=""/>
          <p:cNvSpPr/>
          <p:nvPr/>
        </p:nvSpPr>
        <p:spPr>
          <a:xfrm>
            <a:off x="2241720" y="42840"/>
            <a:ext cx="5257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CSSS: DTW pairwise similarity matrix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1" name="" descr=""/>
          <p:cNvPicPr/>
          <p:nvPr/>
        </p:nvPicPr>
        <p:blipFill>
          <a:blip r:embed="rId2"/>
          <a:srcRect l="29622" t="17757" r="25016" b="38996"/>
          <a:stretch/>
        </p:blipFill>
        <p:spPr>
          <a:xfrm>
            <a:off x="1185840" y="822240"/>
            <a:ext cx="7280280" cy="3903840"/>
          </a:xfrm>
          <a:prstGeom prst="rect">
            <a:avLst/>
          </a:prstGeom>
          <a:ln w="0">
            <a:noFill/>
          </a:ln>
        </p:spPr>
      </p:pic>
      <p:pic>
        <p:nvPicPr>
          <p:cNvPr id="392" name="" descr=""/>
          <p:cNvPicPr/>
          <p:nvPr/>
        </p:nvPicPr>
        <p:blipFill>
          <a:blip r:embed="rId3"/>
          <a:stretch/>
        </p:blipFill>
        <p:spPr>
          <a:xfrm>
            <a:off x="7954920" y="19080"/>
            <a:ext cx="2103480" cy="536400"/>
          </a:xfrm>
          <a:prstGeom prst="rect">
            <a:avLst/>
          </a:prstGeom>
          <a:ln w="0">
            <a:noFill/>
          </a:ln>
        </p:spPr>
      </p:pic>
      <p:pic>
        <p:nvPicPr>
          <p:cNvPr id="393" name="" descr=""/>
          <p:cNvPicPr/>
          <p:nvPr/>
        </p:nvPicPr>
        <p:blipFill>
          <a:blip r:embed="rId4"/>
          <a:srcRect l="31329" t="14463" r="29506" b="10234"/>
          <a:stretch/>
        </p:blipFill>
        <p:spPr>
          <a:xfrm>
            <a:off x="9167760" y="617400"/>
            <a:ext cx="615960" cy="722520"/>
          </a:xfrm>
          <a:prstGeom prst="rect">
            <a:avLst/>
          </a:prstGeom>
          <a:ln w="0">
            <a:noFill/>
          </a:ln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" descr=""/>
          <p:cNvPicPr/>
          <p:nvPr/>
        </p:nvPicPr>
        <p:blipFill>
          <a:blip r:embed="rId1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pic>
        <p:nvPicPr>
          <p:cNvPr id="395" name="" descr=""/>
          <p:cNvPicPr/>
          <p:nvPr/>
        </p:nvPicPr>
        <p:blipFill>
          <a:blip r:embed="rId2"/>
          <a:stretch/>
        </p:blipFill>
        <p:spPr>
          <a:xfrm>
            <a:off x="1131840" y="723960"/>
            <a:ext cx="7462800" cy="4744800"/>
          </a:xfrm>
          <a:prstGeom prst="rect">
            <a:avLst/>
          </a:prstGeom>
          <a:ln w="0">
            <a:noFill/>
          </a:ln>
        </p:spPr>
      </p:pic>
      <p:sp>
        <p:nvSpPr>
          <p:cNvPr id="396" name=""/>
          <p:cNvSpPr/>
          <p:nvPr/>
        </p:nvSpPr>
        <p:spPr>
          <a:xfrm>
            <a:off x="2133720" y="42840"/>
            <a:ext cx="5257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DTW symptom similarity to Loss of Smell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316160" y="4683240"/>
            <a:ext cx="1279440" cy="36504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1884240" y="1082520"/>
            <a:ext cx="695520" cy="3654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9" name="" descr=""/>
          <p:cNvPicPr/>
          <p:nvPr/>
        </p:nvPicPr>
        <p:blipFill>
          <a:blip r:embed="rId3"/>
          <a:stretch/>
        </p:blipFill>
        <p:spPr>
          <a:xfrm>
            <a:off x="7954920" y="19080"/>
            <a:ext cx="2103480" cy="536400"/>
          </a:xfrm>
          <a:prstGeom prst="rect">
            <a:avLst/>
          </a:prstGeom>
          <a:ln w="0">
            <a:noFill/>
          </a:ln>
        </p:spPr>
      </p:pic>
    </p:spTree>
  </p:cSld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dur="indefinite" fill="hold">
                      <p:stCondLst>
                        <p:cond delay="indefinite"/>
                      </p:stCondLst>
                      <p:childTnLst>
                        <p:par>
                          <p:cTn id="8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dur="indefinite" fill="hold">
                      <p:stCondLst>
                        <p:cond delay="indefinite"/>
                      </p:stCondLst>
                      <p:childTnLst>
                        <p:par>
                          <p:cTn id="8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" descr=""/>
          <p:cNvPicPr/>
          <p:nvPr/>
        </p:nvPicPr>
        <p:blipFill>
          <a:blip r:embed="rId1"/>
          <a:stretch/>
        </p:blipFill>
        <p:spPr>
          <a:xfrm>
            <a:off x="4987800" y="1027080"/>
            <a:ext cx="5091120" cy="3638520"/>
          </a:xfrm>
          <a:prstGeom prst="rect">
            <a:avLst/>
          </a:prstGeom>
          <a:ln w="0">
            <a:noFill/>
          </a:ln>
        </p:spPr>
      </p:pic>
      <p:pic>
        <p:nvPicPr>
          <p:cNvPr id="401" name="" descr=""/>
          <p:cNvPicPr/>
          <p:nvPr/>
        </p:nvPicPr>
        <p:blipFill>
          <a:blip r:embed="rId2"/>
          <a:stretch/>
        </p:blipFill>
        <p:spPr>
          <a:xfrm>
            <a:off x="36360" y="1020600"/>
            <a:ext cx="4951440" cy="3625920"/>
          </a:xfrm>
          <a:prstGeom prst="rect">
            <a:avLst/>
          </a:prstGeom>
          <a:ln w="0">
            <a:noFill/>
          </a:ln>
        </p:spPr>
      </p:pic>
      <p:pic>
        <p:nvPicPr>
          <p:cNvPr id="402" name="" descr=""/>
          <p:cNvPicPr/>
          <p:nvPr/>
        </p:nvPicPr>
        <p:blipFill>
          <a:blip r:embed="rId3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sp>
        <p:nvSpPr>
          <p:cNvPr id="403" name=""/>
          <p:cNvSpPr/>
          <p:nvPr/>
        </p:nvSpPr>
        <p:spPr>
          <a:xfrm>
            <a:off x="2241720" y="42840"/>
            <a:ext cx="5257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DTW Based Dimension Reduction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4278240" y="2322360"/>
            <a:ext cx="822240" cy="549360"/>
          </a:xfrm>
          <a:prstGeom prst="ellipse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5394240" y="1224000"/>
            <a:ext cx="914400" cy="601560"/>
          </a:xfrm>
          <a:prstGeom prst="ellipse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4"/>
          <a:stretch/>
        </p:blipFill>
        <p:spPr>
          <a:xfrm>
            <a:off x="7954920" y="19080"/>
            <a:ext cx="2103480" cy="536400"/>
          </a:xfrm>
          <a:prstGeom prst="rect">
            <a:avLst/>
          </a:prstGeom>
          <a:ln w="0">
            <a:noFill/>
          </a:ln>
        </p:spPr>
      </p:pic>
    </p:spTree>
  </p:cSld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dur="indefinite" fill="hold">
                      <p:stCondLst>
                        <p:cond delay="indefinite"/>
                      </p:stCondLst>
                      <p:childTnLst>
                        <p:par>
                          <p:cTn id="9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" descr=""/>
          <p:cNvPicPr/>
          <p:nvPr/>
        </p:nvPicPr>
        <p:blipFill>
          <a:blip r:embed="rId1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pic>
        <p:nvPicPr>
          <p:cNvPr id="408" name="" descr=""/>
          <p:cNvPicPr/>
          <p:nvPr/>
        </p:nvPicPr>
        <p:blipFill>
          <a:blip r:embed="rId2"/>
          <a:stretch/>
        </p:blipFill>
        <p:spPr>
          <a:xfrm>
            <a:off x="2416320" y="549360"/>
            <a:ext cx="5235480" cy="5064120"/>
          </a:xfrm>
          <a:prstGeom prst="rect">
            <a:avLst/>
          </a:prstGeom>
          <a:ln w="0">
            <a:noFill/>
          </a:ln>
        </p:spPr>
      </p:pic>
      <p:sp>
        <p:nvSpPr>
          <p:cNvPr id="409" name=""/>
          <p:cNvSpPr/>
          <p:nvPr/>
        </p:nvSpPr>
        <p:spPr>
          <a:xfrm>
            <a:off x="2205000" y="17640"/>
            <a:ext cx="52578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CSSS: covid19 trajectory clustering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4262400" y="2433600"/>
            <a:ext cx="1554120" cy="146376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5816520" y="3895560"/>
            <a:ext cx="1041480" cy="95112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3749760" y="1920960"/>
            <a:ext cx="549360" cy="51264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3382920" y="1584360"/>
            <a:ext cx="365040" cy="3366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3"/>
          <a:stretch/>
        </p:blipFill>
        <p:spPr>
          <a:xfrm>
            <a:off x="7954920" y="19080"/>
            <a:ext cx="2103480" cy="536400"/>
          </a:xfrm>
          <a:prstGeom prst="rect">
            <a:avLst/>
          </a:prstGeom>
          <a:ln w="0">
            <a:noFill/>
          </a:ln>
        </p:spPr>
      </p:pic>
    </p:spTree>
  </p:cSld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dur="indefinite" fill="hold">
                      <p:stCondLst>
                        <p:cond delay="indefinite"/>
                      </p:stCondLst>
                      <p:childTnLst>
                        <p:par>
                          <p:cTn id="10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" descr=""/>
          <p:cNvPicPr/>
          <p:nvPr/>
        </p:nvPicPr>
        <p:blipFill>
          <a:blip r:embed="rId1"/>
          <a:stretch/>
        </p:blipFill>
        <p:spPr>
          <a:xfrm>
            <a:off x="93600" y="73080"/>
            <a:ext cx="1278000" cy="452520"/>
          </a:xfrm>
          <a:prstGeom prst="rect">
            <a:avLst/>
          </a:prstGeom>
          <a:ln w="0">
            <a:noFill/>
          </a:ln>
        </p:spPr>
      </p:pic>
      <p:pic>
        <p:nvPicPr>
          <p:cNvPr id="416" name="" descr=""/>
          <p:cNvPicPr/>
          <p:nvPr/>
        </p:nvPicPr>
        <p:blipFill>
          <a:blip r:embed="rId2"/>
          <a:stretch/>
        </p:blipFill>
        <p:spPr>
          <a:xfrm>
            <a:off x="1279440" y="520560"/>
            <a:ext cx="6942240" cy="5072040"/>
          </a:xfrm>
          <a:prstGeom prst="rect">
            <a:avLst/>
          </a:prstGeom>
          <a:ln w="0">
            <a:noFill/>
          </a:ln>
        </p:spPr>
      </p:pic>
      <p:sp>
        <p:nvSpPr>
          <p:cNvPr id="417" name=""/>
          <p:cNvSpPr/>
          <p:nvPr/>
        </p:nvSpPr>
        <p:spPr>
          <a:xfrm>
            <a:off x="2297160" y="3670200"/>
            <a:ext cx="144612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headache, sore_throat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2270160" y="1008000"/>
            <a:ext cx="18288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loss_of_smell, skipped_meals,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unusual_muscle_pains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5668920" y="2225520"/>
            <a:ext cx="23194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eye_soreness, dizzy_light_headed,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hoarse_voice, fever, persistent_cough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2162160" y="27000"/>
            <a:ext cx="5257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</a:rPr>
              <a:t>Covid19 Trajectory Clustering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5614920" y="3549600"/>
            <a:ext cx="144612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shortness_of_breath, fatigue, delirium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2" name="" descr=""/>
          <p:cNvPicPr/>
          <p:nvPr/>
        </p:nvPicPr>
        <p:blipFill>
          <a:blip r:embed="rId3"/>
          <a:stretch/>
        </p:blipFill>
        <p:spPr>
          <a:xfrm>
            <a:off x="7954920" y="19080"/>
            <a:ext cx="2103480" cy="536400"/>
          </a:xfrm>
          <a:prstGeom prst="rect">
            <a:avLst/>
          </a:prstGeom>
          <a:ln w="0">
            <a:noFill/>
          </a:ln>
        </p:spPr>
      </p:pic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2026-09-28T11:52:29Z</dcterms:created>
  <dc:creator/>
  <dc:description/>
  <dc:language>en-US</dc:language>
  <cp:lastModifiedBy/>
  <dcterms:modified xsi:type="dcterms:W3CDTF">2026-09-28T11:59:51Z</dcterms:modified>
  <cp:revision>1</cp:revision>
  <dc:subject/>
  <dc:title/>
</cp:coreProperties>
</file>