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56.png" ContentType="image/png"/>
  <Override PartName="/ppt/media/image55.png" ContentType="image/png"/>
  <Override PartName="/ppt/media/image54.png" ContentType="image/png"/>
  <Override PartName="/ppt/media/image53.png" ContentType="image/png"/>
  <Override PartName="/ppt/media/image52.png" ContentType="image/png"/>
  <Override PartName="/ppt/media/image51.png" ContentType="image/png"/>
  <Override PartName="/ppt/media/image50.png" ContentType="image/png"/>
  <Override PartName="/ppt/media/image46.png" ContentType="image/png"/>
  <Override PartName="/ppt/media/image45.png" ContentType="image/png"/>
  <Override PartName="/ppt/media/image44.png" ContentType="image/png"/>
  <Override PartName="/ppt/media/image43.png" ContentType="image/png"/>
  <Override PartName="/ppt/media/image38.png" ContentType="image/png"/>
  <Override PartName="/ppt/media/image6.png" ContentType="image/png"/>
  <Override PartName="/ppt/media/image15.png" ContentType="image/png"/>
  <Override PartName="/ppt/media/image37.png" ContentType="image/png"/>
  <Override PartName="/ppt/media/image5.png" ContentType="image/png"/>
  <Override PartName="/ppt/media/image14.png" ContentType="image/png"/>
  <Override PartName="/ppt/media/image19.png" ContentType="image/png"/>
  <Override PartName="/ppt/media/image61.png" ContentType="image/png"/>
  <Override PartName="/ppt/media/image21.png" ContentType="image/png"/>
  <Override PartName="/ppt/media/image58.png" ContentType="image/png"/>
  <Override PartName="/ppt/media/image22.png" ContentType="image/png"/>
  <Override PartName="/ppt/media/image59.png" ContentType="image/png"/>
  <Override PartName="/ppt/media/image69.png" ContentType="image/png"/>
  <Override PartName="/ppt/media/image32.png" ContentType="image/png"/>
  <Override PartName="/ppt/media/image70.png" ContentType="image/png"/>
  <Override PartName="/ppt/media/image28.png" ContentType="image/png"/>
  <Override PartName="/ppt/media/image68.png" ContentType="image/png"/>
  <Override PartName="/ppt/media/image31.png" ContentType="image/png"/>
  <Override PartName="/ppt/media/image67.png" ContentType="image/png"/>
  <Override PartName="/ppt/media/image30.png" ContentType="image/png"/>
  <Override PartName="/ppt/media/image27.png" ContentType="image/png"/>
  <Override PartName="/ppt/media/image64.png" ContentType="image/png"/>
  <Override PartName="/ppt/media/image66.png" ContentType="image/png"/>
  <Override PartName="/ppt/media/image29.png" ContentType="image/png"/>
  <Override PartName="/ppt/media/image26.png" ContentType="image/png"/>
  <Override PartName="/ppt/media/image63.png" ContentType="image/png"/>
  <Override PartName="/ppt/media/image65.png" ContentType="image/png"/>
  <Override PartName="/ppt/media/image25.png" ContentType="image/png"/>
  <Override PartName="/ppt/media/image62.png" ContentType="image/png"/>
  <Override PartName="/ppt/media/image24.png" ContentType="image/png"/>
  <Override PartName="/ppt/media/image23.png" ContentType="image/png"/>
  <Override PartName="/ppt/media/image60.png" ContentType="image/png"/>
  <Override PartName="/ppt/media/image33.png" ContentType="image/png"/>
  <Override PartName="/ppt/media/image1.png" ContentType="image/png"/>
  <Override PartName="/ppt/media/image10.png" ContentType="image/png"/>
  <Override PartName="/ppt/media/image47.png" ContentType="image/png"/>
  <Override PartName="/ppt/media/image16.png" ContentType="image/png"/>
  <Override PartName="/ppt/media/image7.png" ContentType="image/png"/>
  <Override PartName="/ppt/media/image39.png" ContentType="image/png"/>
  <Override PartName="/ppt/media/image34.png" ContentType="image/png"/>
  <Override PartName="/ppt/media/image2.png" ContentType="image/png"/>
  <Override PartName="/ppt/media/image11.png" ContentType="image/png"/>
  <Override PartName="/ppt/media/image48.png" ContentType="image/png"/>
  <Override PartName="/ppt/media/image17.png" ContentType="image/png"/>
  <Override PartName="/ppt/media/image8.png" ContentType="image/png"/>
  <Override PartName="/ppt/media/image35.png" ContentType="image/png"/>
  <Override PartName="/ppt/media/image3.png" ContentType="image/png"/>
  <Override PartName="/ppt/media/image12.png" ContentType="image/png"/>
  <Override PartName="/ppt/media/image49.png" ContentType="image/png"/>
  <Override PartName="/ppt/media/image20.png" ContentType="image/png"/>
  <Override PartName="/ppt/media/image57.png" ContentType="image/png"/>
  <Override PartName="/ppt/media/image18.png" ContentType="image/png"/>
  <Override PartName="/ppt/media/image9.png" ContentType="image/png"/>
  <Override PartName="/ppt/media/image36.png" ContentType="image/png"/>
  <Override PartName="/ppt/media/image4.png" ContentType="image/png"/>
  <Override PartName="/ppt/media/image13.png" ContentType="image/png"/>
  <Override PartName="/ppt/media/image40.png" ContentType="image/png"/>
  <Override PartName="/ppt/media/image41.png" ContentType="image/png"/>
  <Override PartName="/ppt/media/image42.png" ContentType="image/png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46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47.xml" ContentType="application/vnd.openxmlformats-officedocument.presentationml.slide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48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_rels/slide12.xml.rels" ContentType="application/vnd.openxmlformats-package.relationships+xml"/>
  <Override PartName="/ppt/slides/_rels/slide49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9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30.xml.rels" ContentType="application/vnd.openxmlformats-package.relationships+xml"/>
  <Override PartName="/ppt/slides/_rels/slide31.xml.rels" ContentType="application/vnd.openxmlformats-package.relationships+xml"/>
  <Override PartName="/ppt/slides/_rels/slide32.xml.rels" ContentType="application/vnd.openxmlformats-package.relationships+xml"/>
  <Override PartName="/ppt/slides/_rels/slide33.xml.rels" ContentType="application/vnd.openxmlformats-package.relationships+xml"/>
  <Override PartName="/ppt/slides/_rels/slide34.xml.rels" ContentType="application/vnd.openxmlformats-package.relationships+xml"/>
  <Override PartName="/ppt/slides/_rels/slide51.xml.rels" ContentType="application/vnd.openxmlformats-package.relationships+xml"/>
  <Override PartName="/ppt/slides/_rels/slide13.xml.rels" ContentType="application/vnd.openxmlformats-package.relationships+xml"/>
  <Override PartName="/ppt/slides/_rels/slide50.xml.rels" ContentType="application/vnd.openxmlformats-package.relationships+xml"/>
  <Override PartName="/ppt/slides/_rels/slide45.xml.rels" ContentType="application/vnd.openxmlformats-package.relationships+xml"/>
  <Override PartName="/ppt/slides/_rels/slide47.xml.rels" ContentType="application/vnd.openxmlformats-package.relationships+xml"/>
  <Override PartName="/ppt/slides/_rels/slide10.xml.rels" ContentType="application/vnd.openxmlformats-package.relationships+xml"/>
  <Override PartName="/ppt/slides/_rels/slide46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36.xml.rels" ContentType="application/vnd.openxmlformats-package.relationships+xml"/>
  <Override PartName="/ppt/slides/_rels/slide28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37.xml.rels" ContentType="application/vnd.openxmlformats-package.relationships+xml"/>
  <Override PartName="/ppt/slides/_rels/slide29.xml.rels" ContentType="application/vnd.openxmlformats-package.relationships+xml"/>
  <Override PartName="/ppt/slides/_rels/slide11.xml.rels" ContentType="application/vnd.openxmlformats-package.relationships+xml"/>
  <Override PartName="/ppt/slides/_rels/slide48.xml.rels" ContentType="application/vnd.openxmlformats-package.relationships+xml"/>
  <Override PartName="/ppt/slides/_rels/slide38.xml.rels" ContentType="application/vnd.openxmlformats-package.relationships+xml"/>
  <Override PartName="/ppt/slides/_rels/slide40.xml.rels" ContentType="application/vnd.openxmlformats-package.relationships+xml"/>
  <Override PartName="/ppt/slides/_rels/slide3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5.xml.rels" ContentType="application/vnd.openxmlformats-package.relationships+xml"/>
  <Override PartName="/ppt/slides/_rels/slide41.xml.rels" ContentType="application/vnd.openxmlformats-package.relationships+xml"/>
  <Override PartName="/ppt/slides/_rels/slide39.xml.rels" ContentType="application/vnd.openxmlformats-package.relationships+xml"/>
  <Override PartName="/ppt/slides/_rels/slide42.xml.rels" ContentType="application/vnd.openxmlformats-package.relationships+xml"/>
  <Override PartName="/ppt/slides/_rels/slide43.xml.rels" ContentType="application/vnd.openxmlformats-package.relationships+xml"/>
  <Override PartName="/ppt/slides/_rels/slide44.xml.rels" ContentType="application/vnd.openxmlformats-package.relationships+xml"/>
  <Override PartName="/ppt/slides/slide38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39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34.xml" ContentType="application/vnd.openxmlformats-officedocument.presentationml.slide+xml"/>
  <Override PartName="/ppt/slides/slide33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49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notesSlides/_rels/notesSlide44.xml.rels" ContentType="application/vnd.openxmlformats-package.relationships+xml"/>
  <Override PartName="/ppt/notesSlides/notesSlide4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</p:sldMasterIdLst>
  <p:notesMasterIdLst>
    <p:notesMasterId r:id="rId12"/>
  </p:notes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2" r:id="rId39"/>
    <p:sldId id="283" r:id="rId40"/>
    <p:sldId id="284" r:id="rId41"/>
    <p:sldId id="285" r:id="rId42"/>
    <p:sldId id="286" r:id="rId43"/>
    <p:sldId id="287" r:id="rId44"/>
    <p:sldId id="288" r:id="rId45"/>
    <p:sldId id="289" r:id="rId46"/>
    <p:sldId id="290" r:id="rId47"/>
    <p:sldId id="291" r:id="rId48"/>
    <p:sldId id="292" r:id="rId49"/>
    <p:sldId id="293" r:id="rId50"/>
    <p:sldId id="294" r:id="rId51"/>
    <p:sldId id="295" r:id="rId52"/>
    <p:sldId id="296" r:id="rId53"/>
    <p:sldId id="297" r:id="rId54"/>
    <p:sldId id="298" r:id="rId55"/>
    <p:sldId id="299" r:id="rId56"/>
    <p:sldId id="300" r:id="rId57"/>
    <p:sldId id="301" r:id="rId58"/>
    <p:sldId id="302" r:id="rId59"/>
    <p:sldId id="303" r:id="rId60"/>
    <p:sldId id="304" r:id="rId61"/>
    <p:sldId id="305" r:id="rId62"/>
    <p:sldId id="306" r:id="rId6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Relationship Id="rId39" Type="http://schemas.openxmlformats.org/officeDocument/2006/relationships/slide" Target="slides/slide27.xml"/><Relationship Id="rId40" Type="http://schemas.openxmlformats.org/officeDocument/2006/relationships/slide" Target="slides/slide28.xml"/><Relationship Id="rId41" Type="http://schemas.openxmlformats.org/officeDocument/2006/relationships/slide" Target="slides/slide29.xml"/><Relationship Id="rId42" Type="http://schemas.openxmlformats.org/officeDocument/2006/relationships/slide" Target="slides/slide30.xml"/><Relationship Id="rId43" Type="http://schemas.openxmlformats.org/officeDocument/2006/relationships/slide" Target="slides/slide31.xml"/><Relationship Id="rId44" Type="http://schemas.openxmlformats.org/officeDocument/2006/relationships/slide" Target="slides/slide32.xml"/><Relationship Id="rId45" Type="http://schemas.openxmlformats.org/officeDocument/2006/relationships/slide" Target="slides/slide33.xml"/><Relationship Id="rId46" Type="http://schemas.openxmlformats.org/officeDocument/2006/relationships/slide" Target="slides/slide34.xml"/><Relationship Id="rId47" Type="http://schemas.openxmlformats.org/officeDocument/2006/relationships/slide" Target="slides/slide35.xml"/><Relationship Id="rId48" Type="http://schemas.openxmlformats.org/officeDocument/2006/relationships/slide" Target="slides/slide36.xml"/><Relationship Id="rId49" Type="http://schemas.openxmlformats.org/officeDocument/2006/relationships/slide" Target="slides/slide37.xml"/><Relationship Id="rId50" Type="http://schemas.openxmlformats.org/officeDocument/2006/relationships/slide" Target="slides/slide38.xml"/><Relationship Id="rId51" Type="http://schemas.openxmlformats.org/officeDocument/2006/relationships/slide" Target="slides/slide39.xml"/><Relationship Id="rId52" Type="http://schemas.openxmlformats.org/officeDocument/2006/relationships/slide" Target="slides/slide40.xml"/><Relationship Id="rId53" Type="http://schemas.openxmlformats.org/officeDocument/2006/relationships/slide" Target="slides/slide41.xml"/><Relationship Id="rId54" Type="http://schemas.openxmlformats.org/officeDocument/2006/relationships/slide" Target="slides/slide42.xml"/><Relationship Id="rId55" Type="http://schemas.openxmlformats.org/officeDocument/2006/relationships/slide" Target="slides/slide43.xml"/><Relationship Id="rId56" Type="http://schemas.openxmlformats.org/officeDocument/2006/relationships/slide" Target="slides/slide44.xml"/><Relationship Id="rId57" Type="http://schemas.openxmlformats.org/officeDocument/2006/relationships/slide" Target="slides/slide45.xml"/><Relationship Id="rId58" Type="http://schemas.openxmlformats.org/officeDocument/2006/relationships/slide" Target="slides/slide46.xml"/><Relationship Id="rId59" Type="http://schemas.openxmlformats.org/officeDocument/2006/relationships/slide" Target="slides/slide47.xml"/><Relationship Id="rId60" Type="http://schemas.openxmlformats.org/officeDocument/2006/relationships/slide" Target="slides/slide48.xml"/><Relationship Id="rId61" Type="http://schemas.openxmlformats.org/officeDocument/2006/relationships/slide" Target="slides/slide49.xml"/><Relationship Id="rId62" Type="http://schemas.openxmlformats.org/officeDocument/2006/relationships/slide" Target="slides/slide50.xml"/><Relationship Id="rId63" Type="http://schemas.openxmlformats.org/officeDocument/2006/relationships/slide" Target="slides/slide51.xml"/><Relationship Id="rId6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1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16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17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18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084421EE-8F1F-4DA2-B471-A17C0F5D1606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44.xml.rels><?xml version="1.0" encoding="UTF-8"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
</Relationship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/>
          </p:cNvSpPr>
          <p:nvPr>
            <p:ph type="sldImg"/>
          </p:nvPr>
        </p:nvSpPr>
        <p:spPr>
          <a:xfrm>
            <a:off x="1106640" y="812880"/>
            <a:ext cx="5294880" cy="3958560"/>
          </a:xfrm>
          <a:prstGeom prst="rect">
            <a:avLst/>
          </a:prstGeom>
          <a:ln w="0">
            <a:noFill/>
          </a:ln>
        </p:spPr>
      </p:sp>
      <p:sp>
        <p:nvSpPr>
          <p:cNvPr id="317" name=""/>
          <p:cNvSpPr/>
          <p:nvPr/>
        </p:nvSpPr>
        <p:spPr>
          <a:xfrm>
            <a:off x="755640" y="5078520"/>
            <a:ext cx="6000120" cy="47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2458598-5E43-4916-8ACD-E47810AC4EA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AF51C5B-FF13-4189-A62F-2309DB8D810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0BC8314C-9975-45EE-98AD-418F7600368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8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6A40C12F-6E8E-4B6A-8286-443A15D871C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6C1861C0-FEF9-4CBD-B76D-4F9F474B07A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385BC77-D4E8-44FE-BA47-5EBE2DFF16BA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B0D588F-F7F6-4D37-917D-F4A252F8F404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ftr" idx="7"/>
          </p:nvPr>
        </p:nvSpPr>
        <p:spPr>
          <a:xfrm>
            <a:off x="3447360" y="516528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sldNum" idx="8"/>
          </p:nvPr>
        </p:nvSpPr>
        <p:spPr>
          <a:xfrm>
            <a:off x="722736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F651C23-B448-423C-A0FA-58205BD3F76B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dt" idx="9"/>
          </p:nvPr>
        </p:nvSpPr>
        <p:spPr>
          <a:xfrm>
            <a:off x="50400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ftr" idx="10"/>
          </p:nvPr>
        </p:nvSpPr>
        <p:spPr>
          <a:xfrm>
            <a:off x="3447360" y="516528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sldNum" idx="11"/>
          </p:nvPr>
        </p:nvSpPr>
        <p:spPr>
          <a:xfrm>
            <a:off x="722736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2DDB3C6-F61D-4CE5-824C-57F314A1EBEA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dt" idx="12"/>
          </p:nvPr>
        </p:nvSpPr>
        <p:spPr>
          <a:xfrm>
            <a:off x="50400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ftr" idx="13"/>
          </p:nvPr>
        </p:nvSpPr>
        <p:spPr>
          <a:xfrm>
            <a:off x="3447360" y="516528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sldNum" idx="14"/>
          </p:nvPr>
        </p:nvSpPr>
        <p:spPr>
          <a:xfrm>
            <a:off x="722736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C6B0D92-2991-4510-92F5-0AB386B1C833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15"/>
          </p:nvPr>
        </p:nvSpPr>
        <p:spPr>
          <a:xfrm>
            <a:off x="50400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13.png"/><Relationship Id="rId4" Type="http://schemas.openxmlformats.org/officeDocument/2006/relationships/slideLayout" Target="../slideLayouts/slideLayout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14.png"/><Relationship Id="rId4" Type="http://schemas.openxmlformats.org/officeDocument/2006/relationships/slideLayout" Target="../slideLayouts/slideLayout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15.png"/><Relationship Id="rId4" Type="http://schemas.openxmlformats.org/officeDocument/2006/relationships/slideLayout" Target="../slideLayouts/slideLayout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16.png"/><Relationship Id="rId4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2.png"/><Relationship Id="rId5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24.png"/><Relationship Id="rId4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25.png"/><Relationship Id="rId4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28.png"/><Relationship Id="rId4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30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1.png"/><Relationship Id="rId4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2.png"/><Relationship Id="rId4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8.png"/><Relationship Id="rId4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41.png"/><Relationship Id="rId4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42.png"/><Relationship Id="rId4" Type="http://schemas.openxmlformats.org/officeDocument/2006/relationships/slideLayout" Target="../slideLayouts/slideLayout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43.png"/><Relationship Id="rId4" Type="http://schemas.openxmlformats.org/officeDocument/2006/relationships/slideLayout" Target="../slideLayouts/slideLayout1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44.png"/><Relationship Id="rId4" Type="http://schemas.openxmlformats.org/officeDocument/2006/relationships/slideLayout" Target="../slideLayouts/slideLayout1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45.png"/><Relationship Id="rId4" Type="http://schemas.openxmlformats.org/officeDocument/2006/relationships/slideLayout" Target="../slideLayouts/slideLayout1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46.png"/><Relationship Id="rId4" Type="http://schemas.openxmlformats.org/officeDocument/2006/relationships/slideLayout" Target="../slideLayouts/slideLayout1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47.png"/><Relationship Id="rId4" Type="http://schemas.openxmlformats.org/officeDocument/2006/relationships/slideLayout" Target="../slideLayouts/slideLayout1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slideLayout" Target="../slideLayouts/slideLayout8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50.png"/><Relationship Id="rId4" Type="http://schemas.openxmlformats.org/officeDocument/2006/relationships/slideLayout" Target="../slideLayouts/slideLayout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slideLayout" Target="../slideLayouts/slideLayout8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53.png"/><Relationship Id="rId4" Type="http://schemas.openxmlformats.org/officeDocument/2006/relationships/slideLayout" Target="../slideLayouts/slideLayout8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54.png"/><Relationship Id="rId4" Type="http://schemas.openxmlformats.org/officeDocument/2006/relationships/slideLayout" Target="../slideLayouts/slideLayout8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55.png"/><Relationship Id="rId4" Type="http://schemas.openxmlformats.org/officeDocument/2006/relationships/image" Target="../media/image56.png"/><Relationship Id="rId5" Type="http://schemas.openxmlformats.org/officeDocument/2006/relationships/image" Target="../media/image55.png"/><Relationship Id="rId6" Type="http://schemas.openxmlformats.org/officeDocument/2006/relationships/slideLayout" Target="../slideLayouts/slideLayout8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57.png"/><Relationship Id="rId4" Type="http://schemas.openxmlformats.org/officeDocument/2006/relationships/slideLayout" Target="../slideLayouts/slideLayout8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58.png"/><Relationship Id="rId2" Type="http://schemas.openxmlformats.org/officeDocument/2006/relationships/image" Target="../media/image59.png"/><Relationship Id="rId3" Type="http://schemas.openxmlformats.org/officeDocument/2006/relationships/image" Target="../media/image60.png"/><Relationship Id="rId4" Type="http://schemas.openxmlformats.org/officeDocument/2006/relationships/image" Target="../media/image61.png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slideLayout" Target="../slideLayouts/slideLayout9.xml"/><Relationship Id="rId8" Type="http://schemas.openxmlformats.org/officeDocument/2006/relationships/notesSlide" Target="../notesSlides/notesSlide44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image" Target="../media/image62.png"/><Relationship Id="rId2" Type="http://schemas.openxmlformats.org/officeDocument/2006/relationships/image" Target="../media/image63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2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image" Target="../media/image64.png"/><Relationship Id="rId2" Type="http://schemas.openxmlformats.org/officeDocument/2006/relationships/image" Target="../media/image65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2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66.png"/><Relationship Id="rId4" Type="http://schemas.openxmlformats.org/officeDocument/2006/relationships/slideLayout" Target="../slideLayouts/slideLayout8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image" Target="../media/image67.png"/><Relationship Id="rId2" Type="http://schemas.openxmlformats.org/officeDocument/2006/relationships/slideLayout" Target="../slideLayouts/slideLayout10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image" Target="../media/image68.png"/><Relationship Id="rId2" Type="http://schemas.openxmlformats.org/officeDocument/2006/relationships/slideLayout" Target="../slideLayouts/slideLayout10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69.png"/><Relationship Id="rId4" Type="http://schemas.openxmlformats.org/officeDocument/2006/relationships/slideLayout" Target="../slideLayouts/slideLayout8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70.png"/><Relationship Id="rId4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CustomShape 1"/>
          <p:cNvSpPr/>
          <p:nvPr/>
        </p:nvSpPr>
        <p:spPr>
          <a:xfrm>
            <a:off x="1143720" y="624240"/>
            <a:ext cx="7787160" cy="1046520"/>
          </a:xfrm>
          <a:custGeom>
            <a:avLst/>
            <a:gdLst>
              <a:gd name="textAreaLeft" fmla="*/ 0 w 7787160"/>
              <a:gd name="textAreaRight" fmla="*/ 7788600 w 7787160"/>
              <a:gd name="textAreaTop" fmla="*/ 0 h 1046520"/>
              <a:gd name="textAreaBottom" fmla="*/ 1048320 h 104652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84600" bIns="45000" anchor="t">
            <a:noAutofit/>
          </a:bodyPr>
          <a:p>
            <a:pPr algn="ctr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</a:pPr>
            <a:r>
              <a:rPr b="1" lang="en-US" sz="3600" spc="-1" strike="noStrike">
                <a:solidFill>
                  <a:srgbClr val="3465a4"/>
                </a:solidFill>
                <a:latin typeface="Arial"/>
                <a:ea typeface="Noto Sans CJK SC"/>
              </a:rPr>
              <a:t>Phylogenetic Analysis</a:t>
            </a:r>
            <a:br>
              <a:rPr sz="1800"/>
            </a:b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Nikolay Oskolkov, Biology Department, Lund University, </a:t>
            </a:r>
            <a:br>
              <a:rPr sz="1600"/>
            </a:b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Principal Investigator, Group Leader at NIRI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8" name="" descr=""/>
          <p:cNvPicPr/>
          <p:nvPr/>
        </p:nvPicPr>
        <p:blipFill>
          <a:blip r:embed="rId1"/>
          <a:srcRect l="14282" t="4752" r="14282" b="4765"/>
          <a:stretch/>
        </p:blipFill>
        <p:spPr>
          <a:xfrm>
            <a:off x="9372600" y="10080"/>
            <a:ext cx="684720" cy="867600"/>
          </a:xfrm>
          <a:prstGeom prst="rect">
            <a:avLst/>
          </a:prstGeom>
          <a:ln w="0">
            <a:noFill/>
          </a:ln>
        </p:spPr>
      </p:pic>
      <p:pic>
        <p:nvPicPr>
          <p:cNvPr id="49" name="" descr=""/>
          <p:cNvPicPr/>
          <p:nvPr/>
        </p:nvPicPr>
        <p:blipFill>
          <a:blip r:embed="rId2"/>
          <a:srcRect l="0" t="18200" r="1637" b="17168"/>
          <a:stretch/>
        </p:blipFill>
        <p:spPr>
          <a:xfrm>
            <a:off x="48600" y="108000"/>
            <a:ext cx="2465280" cy="501840"/>
          </a:xfrm>
          <a:prstGeom prst="rect">
            <a:avLst/>
          </a:prstGeom>
          <a:ln w="0">
            <a:noFill/>
          </a:ln>
        </p:spPr>
      </p:pic>
      <p:pic>
        <p:nvPicPr>
          <p:cNvPr id="50" name="" descr=""/>
          <p:cNvPicPr/>
          <p:nvPr/>
        </p:nvPicPr>
        <p:blipFill>
          <a:blip r:embed="rId3"/>
          <a:stretch/>
        </p:blipFill>
        <p:spPr>
          <a:xfrm>
            <a:off x="2674800" y="1902240"/>
            <a:ext cx="4613400" cy="3560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" descr=""/>
          <p:cNvPicPr/>
          <p:nvPr/>
        </p:nvPicPr>
        <p:blipFill>
          <a:blip r:embed="rId1"/>
          <a:stretch/>
        </p:blipFill>
        <p:spPr>
          <a:xfrm>
            <a:off x="1737360" y="886680"/>
            <a:ext cx="6550920" cy="4008600"/>
          </a:xfrm>
          <a:prstGeom prst="rect">
            <a:avLst/>
          </a:prstGeom>
          <a:ln w="0">
            <a:noFill/>
          </a:ln>
        </p:spPr>
      </p:pic>
      <p:sp>
        <p:nvSpPr>
          <p:cNvPr id="52" name=""/>
          <p:cNvSpPr/>
          <p:nvPr/>
        </p:nvSpPr>
        <p:spPr>
          <a:xfrm>
            <a:off x="2505240" y="48960"/>
            <a:ext cx="5255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What is a phylogeny?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>
            <a:off x="1013400" y="5074920"/>
            <a:ext cx="80834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A phylogeny is an inference of the historical genealogy of groups of organisms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4" name="" descr=""/>
          <p:cNvPicPr/>
          <p:nvPr/>
        </p:nvPicPr>
        <p:blipFill>
          <a:blip r:embed="rId2"/>
          <a:srcRect l="14282" t="4752" r="14282" b="4765"/>
          <a:stretch/>
        </p:blipFill>
        <p:spPr>
          <a:xfrm>
            <a:off x="9372600" y="10080"/>
            <a:ext cx="684720" cy="867600"/>
          </a:xfrm>
          <a:prstGeom prst="rect">
            <a:avLst/>
          </a:prstGeom>
          <a:ln w="0">
            <a:noFill/>
          </a:ln>
        </p:spPr>
      </p:pic>
      <p:pic>
        <p:nvPicPr>
          <p:cNvPr id="55" name="" descr=""/>
          <p:cNvPicPr/>
          <p:nvPr/>
        </p:nvPicPr>
        <p:blipFill>
          <a:blip r:embed="rId3"/>
          <a:srcRect l="0" t="18200" r="1637" b="17168"/>
          <a:stretch/>
        </p:blipFill>
        <p:spPr>
          <a:xfrm>
            <a:off x="48600" y="108000"/>
            <a:ext cx="2465280" cy="501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"/>
          <p:cNvSpPr/>
          <p:nvPr/>
        </p:nvSpPr>
        <p:spPr>
          <a:xfrm>
            <a:off x="2801520" y="36000"/>
            <a:ext cx="5255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Terminology of a phylogenetic tree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7" name="" descr=""/>
          <p:cNvPicPr/>
          <p:nvPr/>
        </p:nvPicPr>
        <p:blipFill>
          <a:blip r:embed="rId1"/>
          <a:srcRect l="14282" t="4752" r="14282" b="4765"/>
          <a:stretch/>
        </p:blipFill>
        <p:spPr>
          <a:xfrm>
            <a:off x="9372600" y="10080"/>
            <a:ext cx="684720" cy="867600"/>
          </a:xfrm>
          <a:prstGeom prst="rect">
            <a:avLst/>
          </a:prstGeom>
          <a:ln w="0">
            <a:noFill/>
          </a:ln>
        </p:spPr>
      </p:pic>
      <p:pic>
        <p:nvPicPr>
          <p:cNvPr id="58" name="" descr=""/>
          <p:cNvPicPr/>
          <p:nvPr/>
        </p:nvPicPr>
        <p:blipFill>
          <a:blip r:embed="rId2"/>
          <a:srcRect l="0" t="18200" r="1637" b="17168"/>
          <a:stretch/>
        </p:blipFill>
        <p:spPr>
          <a:xfrm>
            <a:off x="48600" y="108000"/>
            <a:ext cx="2465280" cy="501840"/>
          </a:xfrm>
          <a:prstGeom prst="rect">
            <a:avLst/>
          </a:prstGeom>
          <a:ln w="0">
            <a:noFill/>
          </a:ln>
        </p:spPr>
      </p:pic>
      <p:grpSp>
        <p:nvGrpSpPr>
          <p:cNvPr id="59" name=""/>
          <p:cNvGrpSpPr/>
          <p:nvPr/>
        </p:nvGrpSpPr>
        <p:grpSpPr>
          <a:xfrm>
            <a:off x="914400" y="853200"/>
            <a:ext cx="8000280" cy="4789080"/>
            <a:chOff x="914400" y="853200"/>
            <a:chExt cx="8000280" cy="4789080"/>
          </a:xfrm>
        </p:grpSpPr>
        <p:pic>
          <p:nvPicPr>
            <p:cNvPr id="60" name="" descr=""/>
            <p:cNvPicPr/>
            <p:nvPr/>
          </p:nvPicPr>
          <p:blipFill>
            <a:blip r:embed="rId3"/>
            <a:stretch/>
          </p:blipFill>
          <p:spPr>
            <a:xfrm>
              <a:off x="1451520" y="853200"/>
              <a:ext cx="7463160" cy="4632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61" name=""/>
            <p:cNvSpPr/>
            <p:nvPr/>
          </p:nvSpPr>
          <p:spPr>
            <a:xfrm>
              <a:off x="914400" y="4957200"/>
              <a:ext cx="1828080" cy="685080"/>
            </a:xfrm>
            <a:prstGeom prst="rect">
              <a:avLst/>
            </a:prstGeom>
            <a:solidFill>
              <a:srgbClr val="ffffff"/>
            </a:solidFill>
            <a:ln w="0">
              <a:solidFill>
                <a:srgbClr val="ffff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"/>
          <p:cNvGrpSpPr/>
          <p:nvPr/>
        </p:nvGrpSpPr>
        <p:grpSpPr>
          <a:xfrm>
            <a:off x="903600" y="613800"/>
            <a:ext cx="7134480" cy="4983120"/>
            <a:chOff x="903600" y="613800"/>
            <a:chExt cx="7134480" cy="4983120"/>
          </a:xfrm>
        </p:grpSpPr>
        <p:pic>
          <p:nvPicPr>
            <p:cNvPr id="63" name="" descr=""/>
            <p:cNvPicPr/>
            <p:nvPr/>
          </p:nvPicPr>
          <p:blipFill>
            <a:blip r:embed="rId1"/>
            <a:stretch/>
          </p:blipFill>
          <p:spPr>
            <a:xfrm>
              <a:off x="1387080" y="613800"/>
              <a:ext cx="6651000" cy="49831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64" name=""/>
            <p:cNvSpPr/>
            <p:nvPr/>
          </p:nvSpPr>
          <p:spPr>
            <a:xfrm>
              <a:off x="903600" y="4764600"/>
              <a:ext cx="1828080" cy="832320"/>
            </a:xfrm>
            <a:prstGeom prst="rect">
              <a:avLst/>
            </a:prstGeom>
            <a:solidFill>
              <a:srgbClr val="ffffff"/>
            </a:solidFill>
            <a:ln w="0">
              <a:solidFill>
                <a:srgbClr val="ffff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pic>
        <p:nvPicPr>
          <p:cNvPr id="65" name="" descr=""/>
          <p:cNvPicPr/>
          <p:nvPr/>
        </p:nvPicPr>
        <p:blipFill>
          <a:blip r:embed="rId2"/>
          <a:srcRect l="14282" t="4752" r="14282" b="4765"/>
          <a:stretch/>
        </p:blipFill>
        <p:spPr>
          <a:xfrm>
            <a:off x="9372600" y="10080"/>
            <a:ext cx="684720" cy="867600"/>
          </a:xfrm>
          <a:prstGeom prst="rect">
            <a:avLst/>
          </a:prstGeom>
          <a:ln w="0">
            <a:noFill/>
          </a:ln>
        </p:spPr>
      </p:pic>
      <p:pic>
        <p:nvPicPr>
          <p:cNvPr id="66" name="" descr=""/>
          <p:cNvPicPr/>
          <p:nvPr/>
        </p:nvPicPr>
        <p:blipFill>
          <a:blip r:embed="rId3"/>
          <a:srcRect l="0" t="18200" r="1637" b="17168"/>
          <a:stretch/>
        </p:blipFill>
        <p:spPr>
          <a:xfrm>
            <a:off x="48600" y="108000"/>
            <a:ext cx="2465280" cy="501840"/>
          </a:xfrm>
          <a:prstGeom prst="rect">
            <a:avLst/>
          </a:prstGeom>
          <a:ln w="0">
            <a:noFill/>
          </a:ln>
        </p:spPr>
      </p:pic>
      <p:sp>
        <p:nvSpPr>
          <p:cNvPr id="67" name=""/>
          <p:cNvSpPr/>
          <p:nvPr/>
        </p:nvSpPr>
        <p:spPr>
          <a:xfrm>
            <a:off x="3158280" y="23040"/>
            <a:ext cx="5255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Example of a complex phylogenetic tree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" descr=""/>
          <p:cNvPicPr/>
          <p:nvPr/>
        </p:nvPicPr>
        <p:blipFill>
          <a:blip r:embed="rId1"/>
          <a:stretch/>
        </p:blipFill>
        <p:spPr>
          <a:xfrm>
            <a:off x="241200" y="898560"/>
            <a:ext cx="9600480" cy="4269600"/>
          </a:xfrm>
          <a:prstGeom prst="rect">
            <a:avLst/>
          </a:prstGeom>
          <a:ln w="0">
            <a:noFill/>
          </a:ln>
        </p:spPr>
      </p:pic>
      <p:sp>
        <p:nvSpPr>
          <p:cNvPr id="69" name=""/>
          <p:cNvSpPr/>
          <p:nvPr/>
        </p:nvSpPr>
        <p:spPr>
          <a:xfrm>
            <a:off x="2801520" y="36000"/>
            <a:ext cx="5255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Some basic concepts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0" name="" descr=""/>
          <p:cNvPicPr/>
          <p:nvPr/>
        </p:nvPicPr>
        <p:blipFill>
          <a:blip r:embed="rId2"/>
          <a:srcRect l="14282" t="4752" r="14282" b="4765"/>
          <a:stretch/>
        </p:blipFill>
        <p:spPr>
          <a:xfrm>
            <a:off x="9372600" y="10080"/>
            <a:ext cx="684720" cy="867600"/>
          </a:xfrm>
          <a:prstGeom prst="rect">
            <a:avLst/>
          </a:prstGeom>
          <a:ln w="0">
            <a:noFill/>
          </a:ln>
        </p:spPr>
      </p:pic>
      <p:pic>
        <p:nvPicPr>
          <p:cNvPr id="71" name="" descr=""/>
          <p:cNvPicPr/>
          <p:nvPr/>
        </p:nvPicPr>
        <p:blipFill>
          <a:blip r:embed="rId3"/>
          <a:srcRect l="0" t="18200" r="1637" b="17168"/>
          <a:stretch/>
        </p:blipFill>
        <p:spPr>
          <a:xfrm>
            <a:off x="48600" y="108000"/>
            <a:ext cx="2465280" cy="501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"/>
          <p:cNvSpPr/>
          <p:nvPr/>
        </p:nvSpPr>
        <p:spPr>
          <a:xfrm>
            <a:off x="3197520" y="36000"/>
            <a:ext cx="5255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Rooted and unrooted phylogenetic trees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3" name="" descr=""/>
          <p:cNvPicPr/>
          <p:nvPr/>
        </p:nvPicPr>
        <p:blipFill>
          <a:blip r:embed="rId1"/>
          <a:srcRect l="14282" t="4752" r="14282" b="4765"/>
          <a:stretch/>
        </p:blipFill>
        <p:spPr>
          <a:xfrm>
            <a:off x="9372600" y="10080"/>
            <a:ext cx="684720" cy="867600"/>
          </a:xfrm>
          <a:prstGeom prst="rect">
            <a:avLst/>
          </a:prstGeom>
          <a:ln w="0">
            <a:noFill/>
          </a:ln>
        </p:spPr>
      </p:pic>
      <p:pic>
        <p:nvPicPr>
          <p:cNvPr id="74" name="" descr=""/>
          <p:cNvPicPr/>
          <p:nvPr/>
        </p:nvPicPr>
        <p:blipFill>
          <a:blip r:embed="rId2"/>
          <a:srcRect l="0" t="18200" r="1637" b="17168"/>
          <a:stretch/>
        </p:blipFill>
        <p:spPr>
          <a:xfrm>
            <a:off x="48600" y="108000"/>
            <a:ext cx="2465280" cy="501840"/>
          </a:xfrm>
          <a:prstGeom prst="rect">
            <a:avLst/>
          </a:prstGeom>
          <a:ln w="0">
            <a:noFill/>
          </a:ln>
        </p:spPr>
      </p:pic>
      <p:grpSp>
        <p:nvGrpSpPr>
          <p:cNvPr id="75" name=""/>
          <p:cNvGrpSpPr/>
          <p:nvPr/>
        </p:nvGrpSpPr>
        <p:grpSpPr>
          <a:xfrm>
            <a:off x="1143000" y="685800"/>
            <a:ext cx="7771680" cy="4727880"/>
            <a:chOff x="1143000" y="685800"/>
            <a:chExt cx="7771680" cy="4727880"/>
          </a:xfrm>
        </p:grpSpPr>
        <p:pic>
          <p:nvPicPr>
            <p:cNvPr id="76" name="" descr=""/>
            <p:cNvPicPr/>
            <p:nvPr/>
          </p:nvPicPr>
          <p:blipFill>
            <a:blip r:embed="rId3"/>
            <a:stretch/>
          </p:blipFill>
          <p:spPr>
            <a:xfrm>
              <a:off x="1371600" y="685800"/>
              <a:ext cx="7543080" cy="45270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77" name=""/>
            <p:cNvSpPr/>
            <p:nvPr/>
          </p:nvSpPr>
          <p:spPr>
            <a:xfrm>
              <a:off x="1143000" y="4957200"/>
              <a:ext cx="1599480" cy="456480"/>
            </a:xfrm>
            <a:prstGeom prst="rect">
              <a:avLst/>
            </a:prstGeom>
            <a:solidFill>
              <a:srgbClr val="ffffff"/>
            </a:solidFill>
            <a:ln w="0">
              <a:solidFill>
                <a:srgbClr val="ffff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78" name=""/>
          <p:cNvSpPr/>
          <p:nvPr/>
        </p:nvSpPr>
        <p:spPr>
          <a:xfrm>
            <a:off x="0" y="5255280"/>
            <a:ext cx="1005768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Rooting a tree using an outgroup. Outgroup is a related organism that diverged earlier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"/>
          <p:cNvSpPr/>
          <p:nvPr/>
        </p:nvSpPr>
        <p:spPr>
          <a:xfrm>
            <a:off x="2801520" y="36000"/>
            <a:ext cx="5255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Phylogenetic tree formats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0" name="" descr=""/>
          <p:cNvPicPr/>
          <p:nvPr/>
        </p:nvPicPr>
        <p:blipFill>
          <a:blip r:embed="rId1"/>
          <a:srcRect l="14282" t="4752" r="14282" b="4765"/>
          <a:stretch/>
        </p:blipFill>
        <p:spPr>
          <a:xfrm>
            <a:off x="9372600" y="10080"/>
            <a:ext cx="684720" cy="867600"/>
          </a:xfrm>
          <a:prstGeom prst="rect">
            <a:avLst/>
          </a:prstGeom>
          <a:ln w="0">
            <a:noFill/>
          </a:ln>
        </p:spPr>
      </p:pic>
      <p:pic>
        <p:nvPicPr>
          <p:cNvPr id="81" name="" descr=""/>
          <p:cNvPicPr/>
          <p:nvPr/>
        </p:nvPicPr>
        <p:blipFill>
          <a:blip r:embed="rId2"/>
          <a:srcRect l="0" t="18200" r="1637" b="17168"/>
          <a:stretch/>
        </p:blipFill>
        <p:spPr>
          <a:xfrm>
            <a:off x="48600" y="108000"/>
            <a:ext cx="2465280" cy="501840"/>
          </a:xfrm>
          <a:prstGeom prst="rect">
            <a:avLst/>
          </a:prstGeom>
          <a:ln w="0">
            <a:noFill/>
          </a:ln>
        </p:spPr>
      </p:pic>
      <p:pic>
        <p:nvPicPr>
          <p:cNvPr id="82" name="" descr=""/>
          <p:cNvPicPr/>
          <p:nvPr/>
        </p:nvPicPr>
        <p:blipFill>
          <a:blip r:embed="rId3"/>
          <a:stretch/>
        </p:blipFill>
        <p:spPr>
          <a:xfrm>
            <a:off x="1828800" y="937800"/>
            <a:ext cx="6443280" cy="4571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"/>
          <p:cNvSpPr/>
          <p:nvPr/>
        </p:nvSpPr>
        <p:spPr>
          <a:xfrm>
            <a:off x="2801520" y="36000"/>
            <a:ext cx="5255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Molecular phylogeny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4" name="" descr=""/>
          <p:cNvPicPr/>
          <p:nvPr/>
        </p:nvPicPr>
        <p:blipFill>
          <a:blip r:embed="rId1"/>
          <a:srcRect l="14282" t="4752" r="14282" b="4765"/>
          <a:stretch/>
        </p:blipFill>
        <p:spPr>
          <a:xfrm>
            <a:off x="9372600" y="10080"/>
            <a:ext cx="684720" cy="867600"/>
          </a:xfrm>
          <a:prstGeom prst="rect">
            <a:avLst/>
          </a:prstGeom>
          <a:ln w="0">
            <a:noFill/>
          </a:ln>
        </p:spPr>
      </p:pic>
      <p:pic>
        <p:nvPicPr>
          <p:cNvPr id="85" name="" descr=""/>
          <p:cNvPicPr/>
          <p:nvPr/>
        </p:nvPicPr>
        <p:blipFill>
          <a:blip r:embed="rId2"/>
          <a:srcRect l="0" t="18200" r="1637" b="17168"/>
          <a:stretch/>
        </p:blipFill>
        <p:spPr>
          <a:xfrm>
            <a:off x="48600" y="108000"/>
            <a:ext cx="2465280" cy="501840"/>
          </a:xfrm>
          <a:prstGeom prst="rect">
            <a:avLst/>
          </a:prstGeom>
          <a:ln w="0">
            <a:noFill/>
          </a:ln>
        </p:spPr>
      </p:pic>
      <p:grpSp>
        <p:nvGrpSpPr>
          <p:cNvPr id="86" name=""/>
          <p:cNvGrpSpPr/>
          <p:nvPr/>
        </p:nvGrpSpPr>
        <p:grpSpPr>
          <a:xfrm>
            <a:off x="891000" y="929880"/>
            <a:ext cx="7989480" cy="4627800"/>
            <a:chOff x="891000" y="929880"/>
            <a:chExt cx="7989480" cy="4627800"/>
          </a:xfrm>
        </p:grpSpPr>
        <p:pic>
          <p:nvPicPr>
            <p:cNvPr id="87" name="" descr=""/>
            <p:cNvPicPr/>
            <p:nvPr/>
          </p:nvPicPr>
          <p:blipFill>
            <a:blip r:embed="rId3"/>
            <a:stretch/>
          </p:blipFill>
          <p:spPr>
            <a:xfrm>
              <a:off x="1304640" y="929880"/>
              <a:ext cx="7575840" cy="45666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88" name=""/>
            <p:cNvSpPr/>
            <p:nvPr/>
          </p:nvSpPr>
          <p:spPr>
            <a:xfrm>
              <a:off x="891000" y="4415400"/>
              <a:ext cx="5257080" cy="1142280"/>
            </a:xfrm>
            <a:prstGeom prst="rect">
              <a:avLst/>
            </a:prstGeom>
            <a:solidFill>
              <a:srgbClr val="ffffff"/>
            </a:solidFill>
            <a:ln w="0">
              <a:solidFill>
                <a:srgbClr val="ffff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" descr=""/>
          <p:cNvPicPr/>
          <p:nvPr/>
        </p:nvPicPr>
        <p:blipFill>
          <a:blip r:embed="rId1"/>
          <a:srcRect l="0" t="2845" r="0" b="0"/>
          <a:stretch/>
        </p:blipFill>
        <p:spPr>
          <a:xfrm>
            <a:off x="2034000" y="741960"/>
            <a:ext cx="6913440" cy="3469680"/>
          </a:xfrm>
          <a:prstGeom prst="rect">
            <a:avLst/>
          </a:prstGeom>
          <a:ln w="0">
            <a:noFill/>
          </a:ln>
        </p:spPr>
      </p:pic>
      <p:sp>
        <p:nvSpPr>
          <p:cNvPr id="90" name=""/>
          <p:cNvSpPr/>
          <p:nvPr/>
        </p:nvSpPr>
        <p:spPr>
          <a:xfrm>
            <a:off x="2801520" y="36000"/>
            <a:ext cx="5255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The choice of sequence 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1" name="" descr=""/>
          <p:cNvPicPr/>
          <p:nvPr/>
        </p:nvPicPr>
        <p:blipFill>
          <a:blip r:embed="rId2"/>
          <a:srcRect l="14282" t="4752" r="14282" b="4765"/>
          <a:stretch/>
        </p:blipFill>
        <p:spPr>
          <a:xfrm>
            <a:off x="9372600" y="10080"/>
            <a:ext cx="684720" cy="867600"/>
          </a:xfrm>
          <a:prstGeom prst="rect">
            <a:avLst/>
          </a:prstGeom>
          <a:ln w="0">
            <a:noFill/>
          </a:ln>
        </p:spPr>
      </p:pic>
      <p:pic>
        <p:nvPicPr>
          <p:cNvPr id="92" name="" descr=""/>
          <p:cNvPicPr/>
          <p:nvPr/>
        </p:nvPicPr>
        <p:blipFill>
          <a:blip r:embed="rId3"/>
          <a:srcRect l="0" t="18200" r="1637" b="17168"/>
          <a:stretch/>
        </p:blipFill>
        <p:spPr>
          <a:xfrm>
            <a:off x="48600" y="108000"/>
            <a:ext cx="2465280" cy="501840"/>
          </a:xfrm>
          <a:prstGeom prst="rect">
            <a:avLst/>
          </a:prstGeom>
          <a:ln w="0">
            <a:noFill/>
          </a:ln>
        </p:spPr>
      </p:pic>
      <p:pic>
        <p:nvPicPr>
          <p:cNvPr id="93" name="" descr=""/>
          <p:cNvPicPr/>
          <p:nvPr/>
        </p:nvPicPr>
        <p:blipFill>
          <a:blip r:embed="rId4"/>
          <a:stretch/>
        </p:blipFill>
        <p:spPr>
          <a:xfrm>
            <a:off x="2899800" y="4307760"/>
            <a:ext cx="5028480" cy="1230840"/>
          </a:xfrm>
          <a:prstGeom prst="rect">
            <a:avLst/>
          </a:prstGeom>
          <a:ln w="0">
            <a:noFill/>
          </a:ln>
        </p:spPr>
      </p:pic>
      <p:sp>
        <p:nvSpPr>
          <p:cNvPr id="94" name=""/>
          <p:cNvSpPr/>
          <p:nvPr/>
        </p:nvSpPr>
        <p:spPr>
          <a:xfrm>
            <a:off x="911880" y="4572000"/>
            <a:ext cx="1602000" cy="60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DNA gradient </a:t>
            </a:r>
            <a:br>
              <a:rPr sz="1800"/>
            </a:b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mutation rate: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"/>
          <p:cNvSpPr/>
          <p:nvPr/>
        </p:nvSpPr>
        <p:spPr>
          <a:xfrm>
            <a:off x="3089520" y="36000"/>
            <a:ext cx="5255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Conserved vs highly-variables sites 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6" name="" descr=""/>
          <p:cNvPicPr/>
          <p:nvPr/>
        </p:nvPicPr>
        <p:blipFill>
          <a:blip r:embed="rId1"/>
          <a:srcRect l="14282" t="4752" r="14282" b="4765"/>
          <a:stretch/>
        </p:blipFill>
        <p:spPr>
          <a:xfrm>
            <a:off x="9372600" y="10080"/>
            <a:ext cx="684720" cy="867600"/>
          </a:xfrm>
          <a:prstGeom prst="rect">
            <a:avLst/>
          </a:prstGeom>
          <a:ln w="0">
            <a:noFill/>
          </a:ln>
        </p:spPr>
      </p:pic>
      <p:pic>
        <p:nvPicPr>
          <p:cNvPr id="97" name="" descr=""/>
          <p:cNvPicPr/>
          <p:nvPr/>
        </p:nvPicPr>
        <p:blipFill>
          <a:blip r:embed="rId2"/>
          <a:srcRect l="0" t="18200" r="1637" b="17168"/>
          <a:stretch/>
        </p:blipFill>
        <p:spPr>
          <a:xfrm>
            <a:off x="48600" y="108000"/>
            <a:ext cx="2465280" cy="501840"/>
          </a:xfrm>
          <a:prstGeom prst="rect">
            <a:avLst/>
          </a:prstGeom>
          <a:ln w="0">
            <a:noFill/>
          </a:ln>
        </p:spPr>
      </p:pic>
      <p:pic>
        <p:nvPicPr>
          <p:cNvPr id="98" name="" descr=""/>
          <p:cNvPicPr/>
          <p:nvPr/>
        </p:nvPicPr>
        <p:blipFill>
          <a:blip r:embed="rId3"/>
          <a:srcRect l="752" t="0" r="0" b="0"/>
          <a:stretch/>
        </p:blipFill>
        <p:spPr>
          <a:xfrm>
            <a:off x="9720" y="1530720"/>
            <a:ext cx="10020600" cy="3053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"/>
          <p:cNvSpPr/>
          <p:nvPr/>
        </p:nvSpPr>
        <p:spPr>
          <a:xfrm>
            <a:off x="2801520" y="36000"/>
            <a:ext cx="5255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The effect of saturation 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0" name="" descr=""/>
          <p:cNvPicPr/>
          <p:nvPr/>
        </p:nvPicPr>
        <p:blipFill>
          <a:blip r:embed="rId1"/>
          <a:srcRect l="14282" t="4752" r="14282" b="4765"/>
          <a:stretch/>
        </p:blipFill>
        <p:spPr>
          <a:xfrm>
            <a:off x="9372600" y="10080"/>
            <a:ext cx="684720" cy="867600"/>
          </a:xfrm>
          <a:prstGeom prst="rect">
            <a:avLst/>
          </a:prstGeom>
          <a:ln w="0">
            <a:noFill/>
          </a:ln>
        </p:spPr>
      </p:pic>
      <p:pic>
        <p:nvPicPr>
          <p:cNvPr id="101" name="" descr=""/>
          <p:cNvPicPr/>
          <p:nvPr/>
        </p:nvPicPr>
        <p:blipFill>
          <a:blip r:embed="rId2"/>
          <a:srcRect l="0" t="18200" r="1637" b="17168"/>
          <a:stretch/>
        </p:blipFill>
        <p:spPr>
          <a:xfrm>
            <a:off x="48600" y="108000"/>
            <a:ext cx="2465280" cy="501840"/>
          </a:xfrm>
          <a:prstGeom prst="rect">
            <a:avLst/>
          </a:prstGeom>
          <a:ln w="0">
            <a:noFill/>
          </a:ln>
        </p:spPr>
      </p:pic>
      <p:pic>
        <p:nvPicPr>
          <p:cNvPr id="102" name="" descr=""/>
          <p:cNvPicPr/>
          <p:nvPr/>
        </p:nvPicPr>
        <p:blipFill>
          <a:blip r:embed="rId3"/>
          <a:stretch/>
        </p:blipFill>
        <p:spPr>
          <a:xfrm>
            <a:off x="2201400" y="783000"/>
            <a:ext cx="5344560" cy="4045320"/>
          </a:xfrm>
          <a:prstGeom prst="rect">
            <a:avLst/>
          </a:prstGeom>
          <a:ln w="0">
            <a:noFill/>
          </a:ln>
        </p:spPr>
      </p:pic>
      <p:sp>
        <p:nvSpPr>
          <p:cNvPr id="103" name=""/>
          <p:cNvSpPr/>
          <p:nvPr/>
        </p:nvSpPr>
        <p:spPr>
          <a:xfrm>
            <a:off x="186120" y="5218920"/>
            <a:ext cx="981000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Models of evolution attempt to infer the missing information through correcting for “multiple hits”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"/>
          <p:cNvSpPr/>
          <p:nvPr/>
        </p:nvSpPr>
        <p:spPr>
          <a:xfrm>
            <a:off x="2801520" y="36000"/>
            <a:ext cx="5255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Incomplete lineage sorting 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5" name="" descr=""/>
          <p:cNvPicPr/>
          <p:nvPr/>
        </p:nvPicPr>
        <p:blipFill>
          <a:blip r:embed="rId1"/>
          <a:srcRect l="14282" t="4752" r="14282" b="4765"/>
          <a:stretch/>
        </p:blipFill>
        <p:spPr>
          <a:xfrm>
            <a:off x="9372600" y="10080"/>
            <a:ext cx="684720" cy="867600"/>
          </a:xfrm>
          <a:prstGeom prst="rect">
            <a:avLst/>
          </a:prstGeom>
          <a:ln w="0">
            <a:noFill/>
          </a:ln>
        </p:spPr>
      </p:pic>
      <p:pic>
        <p:nvPicPr>
          <p:cNvPr id="106" name="" descr=""/>
          <p:cNvPicPr/>
          <p:nvPr/>
        </p:nvPicPr>
        <p:blipFill>
          <a:blip r:embed="rId2"/>
          <a:srcRect l="0" t="18200" r="1637" b="17168"/>
          <a:stretch/>
        </p:blipFill>
        <p:spPr>
          <a:xfrm>
            <a:off x="48600" y="108000"/>
            <a:ext cx="2465280" cy="501840"/>
          </a:xfrm>
          <a:prstGeom prst="rect">
            <a:avLst/>
          </a:prstGeom>
          <a:ln w="0">
            <a:noFill/>
          </a:ln>
        </p:spPr>
      </p:pic>
      <p:pic>
        <p:nvPicPr>
          <p:cNvPr id="107" name="" descr=""/>
          <p:cNvPicPr/>
          <p:nvPr/>
        </p:nvPicPr>
        <p:blipFill>
          <a:blip r:embed="rId3"/>
          <a:stretch/>
        </p:blipFill>
        <p:spPr>
          <a:xfrm>
            <a:off x="675000" y="845640"/>
            <a:ext cx="8391600" cy="4195440"/>
          </a:xfrm>
          <a:prstGeom prst="rect">
            <a:avLst/>
          </a:prstGeom>
          <a:ln w="0">
            <a:noFill/>
          </a:ln>
        </p:spPr>
      </p:pic>
      <p:sp>
        <p:nvSpPr>
          <p:cNvPr id="108" name=""/>
          <p:cNvSpPr/>
          <p:nvPr/>
        </p:nvSpPr>
        <p:spPr>
          <a:xfrm>
            <a:off x="1098000" y="4993200"/>
            <a:ext cx="810468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Gene phylogenetic trees may differ from species phylogenetic trees due to ILS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"/>
          <p:cNvSpPr/>
          <p:nvPr/>
        </p:nvSpPr>
        <p:spPr>
          <a:xfrm>
            <a:off x="3189240" y="48960"/>
            <a:ext cx="5255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Alignment of two nucleotide sequences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0" name="" descr=""/>
          <p:cNvPicPr/>
          <p:nvPr/>
        </p:nvPicPr>
        <p:blipFill>
          <a:blip r:embed="rId1"/>
          <a:srcRect l="14282" t="4752" r="14282" b="4765"/>
          <a:stretch/>
        </p:blipFill>
        <p:spPr>
          <a:xfrm>
            <a:off x="9372600" y="10080"/>
            <a:ext cx="684720" cy="867600"/>
          </a:xfrm>
          <a:prstGeom prst="rect">
            <a:avLst/>
          </a:prstGeom>
          <a:ln w="0">
            <a:noFill/>
          </a:ln>
        </p:spPr>
      </p:pic>
      <p:pic>
        <p:nvPicPr>
          <p:cNvPr id="111" name="" descr=""/>
          <p:cNvPicPr/>
          <p:nvPr/>
        </p:nvPicPr>
        <p:blipFill>
          <a:blip r:embed="rId2"/>
          <a:srcRect l="0" t="18200" r="1637" b="17168"/>
          <a:stretch/>
        </p:blipFill>
        <p:spPr>
          <a:xfrm>
            <a:off x="48600" y="108000"/>
            <a:ext cx="2465280" cy="501840"/>
          </a:xfrm>
          <a:prstGeom prst="rect">
            <a:avLst/>
          </a:prstGeom>
          <a:ln w="0">
            <a:noFill/>
          </a:ln>
        </p:spPr>
      </p:pic>
      <p:pic>
        <p:nvPicPr>
          <p:cNvPr id="112" name="" descr=""/>
          <p:cNvPicPr/>
          <p:nvPr/>
        </p:nvPicPr>
        <p:blipFill>
          <a:blip r:embed="rId3"/>
          <a:stretch/>
        </p:blipFill>
        <p:spPr>
          <a:xfrm>
            <a:off x="1900800" y="685800"/>
            <a:ext cx="7153200" cy="4823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" descr=""/>
          <p:cNvPicPr/>
          <p:nvPr/>
        </p:nvPicPr>
        <p:blipFill>
          <a:blip r:embed="rId1"/>
          <a:stretch/>
        </p:blipFill>
        <p:spPr>
          <a:xfrm>
            <a:off x="1543680" y="685800"/>
            <a:ext cx="7371000" cy="4799880"/>
          </a:xfrm>
          <a:prstGeom prst="rect">
            <a:avLst/>
          </a:prstGeom>
          <a:ln w="0">
            <a:noFill/>
          </a:ln>
        </p:spPr>
      </p:pic>
      <p:sp>
        <p:nvSpPr>
          <p:cNvPr id="114" name=""/>
          <p:cNvSpPr/>
          <p:nvPr/>
        </p:nvSpPr>
        <p:spPr>
          <a:xfrm>
            <a:off x="3189240" y="48960"/>
            <a:ext cx="5255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Different alignment scenarios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5" name="" descr=""/>
          <p:cNvPicPr/>
          <p:nvPr/>
        </p:nvPicPr>
        <p:blipFill>
          <a:blip r:embed="rId2"/>
          <a:srcRect l="14282" t="4752" r="14282" b="4765"/>
          <a:stretch/>
        </p:blipFill>
        <p:spPr>
          <a:xfrm>
            <a:off x="9372600" y="10080"/>
            <a:ext cx="684720" cy="867600"/>
          </a:xfrm>
          <a:prstGeom prst="rect">
            <a:avLst/>
          </a:prstGeom>
          <a:ln w="0">
            <a:noFill/>
          </a:ln>
        </p:spPr>
      </p:pic>
      <p:pic>
        <p:nvPicPr>
          <p:cNvPr id="116" name="" descr=""/>
          <p:cNvPicPr/>
          <p:nvPr/>
        </p:nvPicPr>
        <p:blipFill>
          <a:blip r:embed="rId3"/>
          <a:srcRect l="0" t="18200" r="1637" b="17168"/>
          <a:stretch/>
        </p:blipFill>
        <p:spPr>
          <a:xfrm>
            <a:off x="48600" y="108000"/>
            <a:ext cx="2465280" cy="501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" descr=""/>
          <p:cNvPicPr/>
          <p:nvPr/>
        </p:nvPicPr>
        <p:blipFill>
          <a:blip r:embed="rId1"/>
          <a:stretch/>
        </p:blipFill>
        <p:spPr>
          <a:xfrm>
            <a:off x="1650600" y="456480"/>
            <a:ext cx="6790320" cy="4849920"/>
          </a:xfrm>
          <a:prstGeom prst="rect">
            <a:avLst/>
          </a:prstGeom>
          <a:ln w="0">
            <a:noFill/>
          </a:ln>
        </p:spPr>
      </p:pic>
      <p:sp>
        <p:nvSpPr>
          <p:cNvPr id="118" name=""/>
          <p:cNvSpPr/>
          <p:nvPr/>
        </p:nvSpPr>
        <p:spPr>
          <a:xfrm>
            <a:off x="3189240" y="48960"/>
            <a:ext cx="5255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Alignment quality scores computation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9" name="" descr=""/>
          <p:cNvPicPr/>
          <p:nvPr/>
        </p:nvPicPr>
        <p:blipFill>
          <a:blip r:embed="rId2"/>
          <a:srcRect l="14282" t="4752" r="14282" b="4765"/>
          <a:stretch/>
        </p:blipFill>
        <p:spPr>
          <a:xfrm>
            <a:off x="9372600" y="10080"/>
            <a:ext cx="684720" cy="867600"/>
          </a:xfrm>
          <a:prstGeom prst="rect">
            <a:avLst/>
          </a:prstGeom>
          <a:ln w="0">
            <a:noFill/>
          </a:ln>
        </p:spPr>
      </p:pic>
      <p:pic>
        <p:nvPicPr>
          <p:cNvPr id="120" name="" descr=""/>
          <p:cNvPicPr/>
          <p:nvPr/>
        </p:nvPicPr>
        <p:blipFill>
          <a:blip r:embed="rId3"/>
          <a:srcRect l="0" t="18200" r="1637" b="17168"/>
          <a:stretch/>
        </p:blipFill>
        <p:spPr>
          <a:xfrm>
            <a:off x="48600" y="108000"/>
            <a:ext cx="2465280" cy="501840"/>
          </a:xfrm>
          <a:prstGeom prst="rect">
            <a:avLst/>
          </a:prstGeom>
          <a:ln w="0">
            <a:noFill/>
          </a:ln>
        </p:spPr>
      </p:pic>
      <p:sp>
        <p:nvSpPr>
          <p:cNvPr id="121" name=""/>
          <p:cNvSpPr/>
          <p:nvPr/>
        </p:nvSpPr>
        <p:spPr>
          <a:xfrm>
            <a:off x="986400" y="5281200"/>
            <a:ext cx="822204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Similarity (homology) is a very strong assumption, which might be totally wrong!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"/>
          <p:cNvSpPr/>
          <p:nvPr/>
        </p:nvSpPr>
        <p:spPr>
          <a:xfrm>
            <a:off x="3189240" y="48960"/>
            <a:ext cx="5255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Global vs. local alignment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3" name="" descr=""/>
          <p:cNvPicPr/>
          <p:nvPr/>
        </p:nvPicPr>
        <p:blipFill>
          <a:blip r:embed="rId1"/>
          <a:srcRect l="14282" t="4752" r="14282" b="4765"/>
          <a:stretch/>
        </p:blipFill>
        <p:spPr>
          <a:xfrm>
            <a:off x="9372600" y="10080"/>
            <a:ext cx="684720" cy="867600"/>
          </a:xfrm>
          <a:prstGeom prst="rect">
            <a:avLst/>
          </a:prstGeom>
          <a:ln w="0">
            <a:noFill/>
          </a:ln>
        </p:spPr>
      </p:pic>
      <p:pic>
        <p:nvPicPr>
          <p:cNvPr id="124" name="" descr=""/>
          <p:cNvPicPr/>
          <p:nvPr/>
        </p:nvPicPr>
        <p:blipFill>
          <a:blip r:embed="rId2"/>
          <a:srcRect l="0" t="18200" r="1637" b="17168"/>
          <a:stretch/>
        </p:blipFill>
        <p:spPr>
          <a:xfrm>
            <a:off x="48600" y="108000"/>
            <a:ext cx="2465280" cy="501840"/>
          </a:xfrm>
          <a:prstGeom prst="rect">
            <a:avLst/>
          </a:prstGeom>
          <a:ln w="0">
            <a:noFill/>
          </a:ln>
        </p:spPr>
      </p:pic>
      <p:pic>
        <p:nvPicPr>
          <p:cNvPr id="125" name="" descr=""/>
          <p:cNvPicPr/>
          <p:nvPr/>
        </p:nvPicPr>
        <p:blipFill>
          <a:blip r:embed="rId3"/>
          <a:stretch/>
        </p:blipFill>
        <p:spPr>
          <a:xfrm>
            <a:off x="48600" y="1203120"/>
            <a:ext cx="4294080" cy="3850560"/>
          </a:xfrm>
          <a:prstGeom prst="rect">
            <a:avLst/>
          </a:prstGeom>
          <a:ln w="0">
            <a:noFill/>
          </a:ln>
        </p:spPr>
      </p:pic>
      <p:pic>
        <p:nvPicPr>
          <p:cNvPr id="126" name="" descr=""/>
          <p:cNvPicPr/>
          <p:nvPr/>
        </p:nvPicPr>
        <p:blipFill>
          <a:blip r:embed="rId4"/>
          <a:stretch/>
        </p:blipFill>
        <p:spPr>
          <a:xfrm>
            <a:off x="4404960" y="1288800"/>
            <a:ext cx="5640120" cy="2513880"/>
          </a:xfrm>
          <a:prstGeom prst="rect">
            <a:avLst/>
          </a:prstGeom>
          <a:ln w="0">
            <a:noFill/>
          </a:ln>
        </p:spPr>
      </p:pic>
      <p:sp>
        <p:nvSpPr>
          <p:cNvPr id="127" name=""/>
          <p:cNvSpPr/>
          <p:nvPr/>
        </p:nvSpPr>
        <p:spPr>
          <a:xfrm>
            <a:off x="5484600" y="4150800"/>
            <a:ext cx="3885480" cy="85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Local: Smith-Waterman</a:t>
            </a:r>
            <a:br>
              <a:rPr sz="1800"/>
            </a:br>
            <a:br>
              <a:rPr sz="1800"/>
            </a:b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Global: Needleman-Wunsch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" descr=""/>
          <p:cNvPicPr/>
          <p:nvPr/>
        </p:nvPicPr>
        <p:blipFill>
          <a:blip r:embed="rId1"/>
          <a:stretch/>
        </p:blipFill>
        <p:spPr>
          <a:xfrm>
            <a:off x="144000" y="1155600"/>
            <a:ext cx="4270680" cy="3095280"/>
          </a:xfrm>
          <a:prstGeom prst="rect">
            <a:avLst/>
          </a:prstGeom>
          <a:ln w="0">
            <a:noFill/>
          </a:ln>
        </p:spPr>
      </p:pic>
      <p:sp>
        <p:nvSpPr>
          <p:cNvPr id="129" name=""/>
          <p:cNvSpPr/>
          <p:nvPr/>
        </p:nvSpPr>
        <p:spPr>
          <a:xfrm>
            <a:off x="3081240" y="48960"/>
            <a:ext cx="5255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Multiple sequence alignment (global)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0" name="" descr=""/>
          <p:cNvPicPr/>
          <p:nvPr/>
        </p:nvPicPr>
        <p:blipFill>
          <a:blip r:embed="rId2"/>
          <a:srcRect l="14282" t="4752" r="14282" b="4765"/>
          <a:stretch/>
        </p:blipFill>
        <p:spPr>
          <a:xfrm>
            <a:off x="9372600" y="10080"/>
            <a:ext cx="684720" cy="867600"/>
          </a:xfrm>
          <a:prstGeom prst="rect">
            <a:avLst/>
          </a:prstGeom>
          <a:ln w="0">
            <a:noFill/>
          </a:ln>
        </p:spPr>
      </p:pic>
      <p:pic>
        <p:nvPicPr>
          <p:cNvPr id="131" name="" descr=""/>
          <p:cNvPicPr/>
          <p:nvPr/>
        </p:nvPicPr>
        <p:blipFill>
          <a:blip r:embed="rId3"/>
          <a:srcRect l="0" t="18200" r="1637" b="17168"/>
          <a:stretch/>
        </p:blipFill>
        <p:spPr>
          <a:xfrm>
            <a:off x="48600" y="108000"/>
            <a:ext cx="2465280" cy="501840"/>
          </a:xfrm>
          <a:prstGeom prst="rect">
            <a:avLst/>
          </a:prstGeom>
          <a:ln w="0">
            <a:noFill/>
          </a:ln>
        </p:spPr>
      </p:pic>
      <p:pic>
        <p:nvPicPr>
          <p:cNvPr id="132" name="" descr=""/>
          <p:cNvPicPr/>
          <p:nvPr/>
        </p:nvPicPr>
        <p:blipFill>
          <a:blip r:embed="rId4"/>
          <a:stretch/>
        </p:blipFill>
        <p:spPr>
          <a:xfrm>
            <a:off x="4728600" y="1119600"/>
            <a:ext cx="5257080" cy="3133080"/>
          </a:xfrm>
          <a:prstGeom prst="rect">
            <a:avLst/>
          </a:prstGeom>
          <a:ln w="0">
            <a:noFill/>
          </a:ln>
        </p:spPr>
      </p:pic>
      <p:sp>
        <p:nvSpPr>
          <p:cNvPr id="133" name=""/>
          <p:cNvSpPr/>
          <p:nvPr/>
        </p:nvSpPr>
        <p:spPr>
          <a:xfrm>
            <a:off x="1371600" y="4489200"/>
            <a:ext cx="1513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4200" spc="-1" strike="noStrike">
                <a:solidFill>
                  <a:srgbClr val="000000"/>
                </a:solidFill>
                <a:latin typeface="Arial"/>
                <a:ea typeface="DejaVu Sans"/>
              </a:rPr>
              <a:t>Easy!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"/>
          <p:cNvSpPr/>
          <p:nvPr/>
        </p:nvSpPr>
        <p:spPr>
          <a:xfrm>
            <a:off x="6447600" y="4489200"/>
            <a:ext cx="20667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4200" spc="-1" strike="noStrike">
                <a:solidFill>
                  <a:srgbClr val="000000"/>
                </a:solidFill>
                <a:latin typeface="Arial"/>
                <a:ea typeface="DejaVu Sans"/>
              </a:rPr>
              <a:t>Difficult!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" descr=""/>
          <p:cNvPicPr/>
          <p:nvPr/>
        </p:nvPicPr>
        <p:blipFill>
          <a:blip r:embed="rId1"/>
          <a:stretch/>
        </p:blipFill>
        <p:spPr>
          <a:xfrm>
            <a:off x="241200" y="1005480"/>
            <a:ext cx="9600480" cy="3742920"/>
          </a:xfrm>
          <a:prstGeom prst="rect">
            <a:avLst/>
          </a:prstGeom>
          <a:ln w="0">
            <a:noFill/>
          </a:ln>
        </p:spPr>
      </p:pic>
      <p:sp>
        <p:nvSpPr>
          <p:cNvPr id="136" name=""/>
          <p:cNvSpPr/>
          <p:nvPr/>
        </p:nvSpPr>
        <p:spPr>
          <a:xfrm>
            <a:off x="3081240" y="48960"/>
            <a:ext cx="5255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Multiple sequence alignment algorithms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7" name="" descr=""/>
          <p:cNvPicPr/>
          <p:nvPr/>
        </p:nvPicPr>
        <p:blipFill>
          <a:blip r:embed="rId2"/>
          <a:srcRect l="14282" t="4752" r="14282" b="4765"/>
          <a:stretch/>
        </p:blipFill>
        <p:spPr>
          <a:xfrm>
            <a:off x="9372600" y="10080"/>
            <a:ext cx="684720" cy="867600"/>
          </a:xfrm>
          <a:prstGeom prst="rect">
            <a:avLst/>
          </a:prstGeom>
          <a:ln w="0">
            <a:noFill/>
          </a:ln>
        </p:spPr>
      </p:pic>
      <p:pic>
        <p:nvPicPr>
          <p:cNvPr id="138" name="" descr=""/>
          <p:cNvPicPr/>
          <p:nvPr/>
        </p:nvPicPr>
        <p:blipFill>
          <a:blip r:embed="rId3"/>
          <a:srcRect l="0" t="18200" r="1637" b="17168"/>
          <a:stretch/>
        </p:blipFill>
        <p:spPr>
          <a:xfrm>
            <a:off x="48600" y="108000"/>
            <a:ext cx="2465280" cy="501840"/>
          </a:xfrm>
          <a:prstGeom prst="rect">
            <a:avLst/>
          </a:prstGeom>
          <a:ln w="0">
            <a:noFill/>
          </a:ln>
        </p:spPr>
      </p:pic>
      <p:sp>
        <p:nvSpPr>
          <p:cNvPr id="139" name=""/>
          <p:cNvSpPr/>
          <p:nvPr/>
        </p:nvSpPr>
        <p:spPr>
          <a:xfrm>
            <a:off x="983880" y="5249160"/>
            <a:ext cx="8445600" cy="3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Sabonsolin, J., Lao, D. A comprehensive systematic literature review of multiple sequence alignment algorithms. Discov Computing 29, 33 (2026). </a:t>
            </a:r>
            <a:br>
              <a:rPr sz="1000"/>
            </a:b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https://doi.org/10.1007/s10791-026-09911-3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"/>
          <p:cNvSpPr/>
          <p:nvPr/>
        </p:nvSpPr>
        <p:spPr>
          <a:xfrm>
            <a:off x="3081240" y="48960"/>
            <a:ext cx="5255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Clustal multiple sequence alignment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1" name="" descr=""/>
          <p:cNvPicPr/>
          <p:nvPr/>
        </p:nvPicPr>
        <p:blipFill>
          <a:blip r:embed="rId1"/>
          <a:srcRect l="14282" t="4752" r="14282" b="4765"/>
          <a:stretch/>
        </p:blipFill>
        <p:spPr>
          <a:xfrm>
            <a:off x="9372600" y="10080"/>
            <a:ext cx="684720" cy="867600"/>
          </a:xfrm>
          <a:prstGeom prst="rect">
            <a:avLst/>
          </a:prstGeom>
          <a:ln w="0">
            <a:noFill/>
          </a:ln>
        </p:spPr>
      </p:pic>
      <p:pic>
        <p:nvPicPr>
          <p:cNvPr id="142" name="" descr=""/>
          <p:cNvPicPr/>
          <p:nvPr/>
        </p:nvPicPr>
        <p:blipFill>
          <a:blip r:embed="rId2"/>
          <a:srcRect l="0" t="18200" r="1637" b="17168"/>
          <a:stretch/>
        </p:blipFill>
        <p:spPr>
          <a:xfrm>
            <a:off x="48600" y="108000"/>
            <a:ext cx="2465280" cy="501840"/>
          </a:xfrm>
          <a:prstGeom prst="rect">
            <a:avLst/>
          </a:prstGeom>
          <a:ln w="0">
            <a:noFill/>
          </a:ln>
        </p:spPr>
      </p:pic>
      <p:pic>
        <p:nvPicPr>
          <p:cNvPr id="143" name="" descr=""/>
          <p:cNvPicPr/>
          <p:nvPr/>
        </p:nvPicPr>
        <p:blipFill>
          <a:blip r:embed="rId3"/>
          <a:srcRect l="354" t="0" r="0" b="0"/>
          <a:stretch/>
        </p:blipFill>
        <p:spPr>
          <a:xfrm>
            <a:off x="781920" y="751680"/>
            <a:ext cx="8612640" cy="4626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"/>
          <p:cNvSpPr/>
          <p:nvPr/>
        </p:nvSpPr>
        <p:spPr>
          <a:xfrm>
            <a:off x="3081240" y="48960"/>
            <a:ext cx="5255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MSA online via Clustal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5" name="" descr=""/>
          <p:cNvPicPr/>
          <p:nvPr/>
        </p:nvPicPr>
        <p:blipFill>
          <a:blip r:embed="rId1"/>
          <a:srcRect l="14282" t="4752" r="14282" b="4765"/>
          <a:stretch/>
        </p:blipFill>
        <p:spPr>
          <a:xfrm>
            <a:off x="9372600" y="10080"/>
            <a:ext cx="684720" cy="867600"/>
          </a:xfrm>
          <a:prstGeom prst="rect">
            <a:avLst/>
          </a:prstGeom>
          <a:ln w="0">
            <a:noFill/>
          </a:ln>
        </p:spPr>
      </p:pic>
      <p:pic>
        <p:nvPicPr>
          <p:cNvPr id="146" name="" descr=""/>
          <p:cNvPicPr/>
          <p:nvPr/>
        </p:nvPicPr>
        <p:blipFill>
          <a:blip r:embed="rId2"/>
          <a:srcRect l="0" t="18200" r="1637" b="17168"/>
          <a:stretch/>
        </p:blipFill>
        <p:spPr>
          <a:xfrm>
            <a:off x="48600" y="108000"/>
            <a:ext cx="2465280" cy="501840"/>
          </a:xfrm>
          <a:prstGeom prst="rect">
            <a:avLst/>
          </a:prstGeom>
          <a:ln w="0">
            <a:noFill/>
          </a:ln>
        </p:spPr>
      </p:pic>
      <p:pic>
        <p:nvPicPr>
          <p:cNvPr id="147" name="" descr=""/>
          <p:cNvPicPr/>
          <p:nvPr/>
        </p:nvPicPr>
        <p:blipFill>
          <a:blip r:embed="rId3"/>
          <a:stretch/>
        </p:blipFill>
        <p:spPr>
          <a:xfrm>
            <a:off x="2586600" y="660960"/>
            <a:ext cx="4600080" cy="4907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"/>
          <p:cNvSpPr/>
          <p:nvPr/>
        </p:nvSpPr>
        <p:spPr>
          <a:xfrm>
            <a:off x="3297240" y="48960"/>
            <a:ext cx="5255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Multiple sequence alignment file formats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9" name="" descr=""/>
          <p:cNvPicPr/>
          <p:nvPr/>
        </p:nvPicPr>
        <p:blipFill>
          <a:blip r:embed="rId1"/>
          <a:srcRect l="14282" t="4752" r="14282" b="4765"/>
          <a:stretch/>
        </p:blipFill>
        <p:spPr>
          <a:xfrm>
            <a:off x="9372600" y="10080"/>
            <a:ext cx="684720" cy="867600"/>
          </a:xfrm>
          <a:prstGeom prst="rect">
            <a:avLst/>
          </a:prstGeom>
          <a:ln w="0">
            <a:noFill/>
          </a:ln>
        </p:spPr>
      </p:pic>
      <p:pic>
        <p:nvPicPr>
          <p:cNvPr id="150" name="" descr=""/>
          <p:cNvPicPr/>
          <p:nvPr/>
        </p:nvPicPr>
        <p:blipFill>
          <a:blip r:embed="rId2"/>
          <a:srcRect l="0" t="18200" r="1637" b="17168"/>
          <a:stretch/>
        </p:blipFill>
        <p:spPr>
          <a:xfrm>
            <a:off x="48600" y="108000"/>
            <a:ext cx="2465280" cy="501840"/>
          </a:xfrm>
          <a:prstGeom prst="rect">
            <a:avLst/>
          </a:prstGeom>
          <a:ln w="0">
            <a:noFill/>
          </a:ln>
        </p:spPr>
      </p:pic>
      <p:pic>
        <p:nvPicPr>
          <p:cNvPr id="151" name="" descr=""/>
          <p:cNvPicPr/>
          <p:nvPr/>
        </p:nvPicPr>
        <p:blipFill>
          <a:blip r:embed="rId3"/>
          <a:stretch/>
        </p:blipFill>
        <p:spPr>
          <a:xfrm>
            <a:off x="5092200" y="829080"/>
            <a:ext cx="3871800" cy="4548600"/>
          </a:xfrm>
          <a:prstGeom prst="rect">
            <a:avLst/>
          </a:prstGeom>
          <a:ln w="0">
            <a:noFill/>
          </a:ln>
        </p:spPr>
      </p:pic>
      <p:pic>
        <p:nvPicPr>
          <p:cNvPr id="152" name="" descr=""/>
          <p:cNvPicPr/>
          <p:nvPr/>
        </p:nvPicPr>
        <p:blipFill>
          <a:blip r:embed="rId4"/>
          <a:stretch/>
        </p:blipFill>
        <p:spPr>
          <a:xfrm>
            <a:off x="1007640" y="855000"/>
            <a:ext cx="3370320" cy="4525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"/>
          <p:cNvSpPr/>
          <p:nvPr/>
        </p:nvSpPr>
        <p:spPr>
          <a:xfrm>
            <a:off x="3081240" y="48960"/>
            <a:ext cx="5255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Genetic (Hamming) distance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4" name="" descr=""/>
          <p:cNvPicPr/>
          <p:nvPr/>
        </p:nvPicPr>
        <p:blipFill>
          <a:blip r:embed="rId1"/>
          <a:srcRect l="14282" t="4752" r="14282" b="4765"/>
          <a:stretch/>
        </p:blipFill>
        <p:spPr>
          <a:xfrm>
            <a:off x="9372600" y="10080"/>
            <a:ext cx="684720" cy="867600"/>
          </a:xfrm>
          <a:prstGeom prst="rect">
            <a:avLst/>
          </a:prstGeom>
          <a:ln w="0">
            <a:noFill/>
          </a:ln>
        </p:spPr>
      </p:pic>
      <p:pic>
        <p:nvPicPr>
          <p:cNvPr id="155" name="" descr=""/>
          <p:cNvPicPr/>
          <p:nvPr/>
        </p:nvPicPr>
        <p:blipFill>
          <a:blip r:embed="rId2"/>
          <a:srcRect l="0" t="18200" r="1637" b="17168"/>
          <a:stretch/>
        </p:blipFill>
        <p:spPr>
          <a:xfrm>
            <a:off x="48600" y="108000"/>
            <a:ext cx="2465280" cy="501840"/>
          </a:xfrm>
          <a:prstGeom prst="rect">
            <a:avLst/>
          </a:prstGeom>
          <a:ln w="0">
            <a:noFill/>
          </a:ln>
        </p:spPr>
      </p:pic>
      <p:pic>
        <p:nvPicPr>
          <p:cNvPr id="156" name="" descr=""/>
          <p:cNvPicPr/>
          <p:nvPr/>
        </p:nvPicPr>
        <p:blipFill>
          <a:blip r:embed="rId3"/>
          <a:stretch/>
        </p:blipFill>
        <p:spPr>
          <a:xfrm>
            <a:off x="171720" y="878400"/>
            <a:ext cx="9907200" cy="4753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" descr=""/>
          <p:cNvPicPr/>
          <p:nvPr/>
        </p:nvPicPr>
        <p:blipFill>
          <a:blip r:embed="rId1"/>
          <a:stretch/>
        </p:blipFill>
        <p:spPr>
          <a:xfrm>
            <a:off x="2424600" y="4354200"/>
            <a:ext cx="5895360" cy="1229760"/>
          </a:xfrm>
          <a:prstGeom prst="rect">
            <a:avLst/>
          </a:prstGeom>
          <a:ln w="0">
            <a:noFill/>
          </a:ln>
        </p:spPr>
      </p:pic>
      <p:pic>
        <p:nvPicPr>
          <p:cNvPr id="158" name="" descr=""/>
          <p:cNvPicPr/>
          <p:nvPr/>
        </p:nvPicPr>
        <p:blipFill>
          <a:blip r:embed="rId2"/>
          <a:srcRect l="0" t="7075" r="0" b="0"/>
          <a:stretch/>
        </p:blipFill>
        <p:spPr>
          <a:xfrm>
            <a:off x="2033640" y="613800"/>
            <a:ext cx="6530040" cy="3764880"/>
          </a:xfrm>
          <a:prstGeom prst="rect">
            <a:avLst/>
          </a:prstGeom>
          <a:ln w="0">
            <a:noFill/>
          </a:ln>
        </p:spPr>
      </p:pic>
      <p:sp>
        <p:nvSpPr>
          <p:cNvPr id="159" name=""/>
          <p:cNvSpPr/>
          <p:nvPr/>
        </p:nvSpPr>
        <p:spPr>
          <a:xfrm>
            <a:off x="3081240" y="48960"/>
            <a:ext cx="5255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Corrected genetic distance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0" name="" descr=""/>
          <p:cNvPicPr/>
          <p:nvPr/>
        </p:nvPicPr>
        <p:blipFill>
          <a:blip r:embed="rId3"/>
          <a:srcRect l="14282" t="4752" r="14282" b="4765"/>
          <a:stretch/>
        </p:blipFill>
        <p:spPr>
          <a:xfrm>
            <a:off x="9372600" y="10080"/>
            <a:ext cx="684720" cy="867600"/>
          </a:xfrm>
          <a:prstGeom prst="rect">
            <a:avLst/>
          </a:prstGeom>
          <a:ln w="0">
            <a:noFill/>
          </a:ln>
        </p:spPr>
      </p:pic>
      <p:pic>
        <p:nvPicPr>
          <p:cNvPr id="161" name="" descr=""/>
          <p:cNvPicPr/>
          <p:nvPr/>
        </p:nvPicPr>
        <p:blipFill>
          <a:blip r:embed="rId4"/>
          <a:srcRect l="0" t="18200" r="1637" b="17168"/>
          <a:stretch/>
        </p:blipFill>
        <p:spPr>
          <a:xfrm>
            <a:off x="48600" y="108000"/>
            <a:ext cx="2465280" cy="501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"/>
          <p:cNvSpPr/>
          <p:nvPr/>
        </p:nvSpPr>
        <p:spPr>
          <a:xfrm>
            <a:off x="3081240" y="48960"/>
            <a:ext cx="5255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Model of nucleotide sequence evolution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3" name="" descr=""/>
          <p:cNvPicPr/>
          <p:nvPr/>
        </p:nvPicPr>
        <p:blipFill>
          <a:blip r:embed="rId1"/>
          <a:srcRect l="14282" t="4752" r="14282" b="4765"/>
          <a:stretch/>
        </p:blipFill>
        <p:spPr>
          <a:xfrm>
            <a:off x="9372600" y="10080"/>
            <a:ext cx="684720" cy="867600"/>
          </a:xfrm>
          <a:prstGeom prst="rect">
            <a:avLst/>
          </a:prstGeom>
          <a:ln w="0">
            <a:noFill/>
          </a:ln>
        </p:spPr>
      </p:pic>
      <p:pic>
        <p:nvPicPr>
          <p:cNvPr id="164" name="" descr=""/>
          <p:cNvPicPr/>
          <p:nvPr/>
        </p:nvPicPr>
        <p:blipFill>
          <a:blip r:embed="rId2"/>
          <a:srcRect l="0" t="18200" r="1637" b="17168"/>
          <a:stretch/>
        </p:blipFill>
        <p:spPr>
          <a:xfrm>
            <a:off x="48600" y="108000"/>
            <a:ext cx="2465280" cy="501840"/>
          </a:xfrm>
          <a:prstGeom prst="rect">
            <a:avLst/>
          </a:prstGeom>
          <a:ln w="0">
            <a:noFill/>
          </a:ln>
        </p:spPr>
      </p:pic>
      <p:pic>
        <p:nvPicPr>
          <p:cNvPr id="165" name="" descr=""/>
          <p:cNvPicPr/>
          <p:nvPr/>
        </p:nvPicPr>
        <p:blipFill>
          <a:blip r:embed="rId3"/>
          <a:stretch/>
        </p:blipFill>
        <p:spPr>
          <a:xfrm>
            <a:off x="1098720" y="770400"/>
            <a:ext cx="8113680" cy="4754880"/>
          </a:xfrm>
          <a:prstGeom prst="rect">
            <a:avLst/>
          </a:prstGeom>
          <a:ln w="0">
            <a:noFill/>
          </a:ln>
        </p:spPr>
      </p:pic>
      <p:sp>
        <p:nvSpPr>
          <p:cNvPr id="166" name=""/>
          <p:cNvSpPr/>
          <p:nvPr/>
        </p:nvSpPr>
        <p:spPr>
          <a:xfrm>
            <a:off x="2484000" y="1181880"/>
            <a:ext cx="33228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"/>
          <p:cNvSpPr/>
          <p:nvPr/>
        </p:nvSpPr>
        <p:spPr>
          <a:xfrm>
            <a:off x="2484360" y="1937880"/>
            <a:ext cx="34452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C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"/>
          <p:cNvSpPr/>
          <p:nvPr/>
        </p:nvSpPr>
        <p:spPr>
          <a:xfrm>
            <a:off x="2484360" y="2765880"/>
            <a:ext cx="3567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"/>
          <p:cNvSpPr/>
          <p:nvPr/>
        </p:nvSpPr>
        <p:spPr>
          <a:xfrm>
            <a:off x="2484360" y="3449880"/>
            <a:ext cx="31860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"/>
          <p:cNvSpPr/>
          <p:nvPr/>
        </p:nvSpPr>
        <p:spPr>
          <a:xfrm>
            <a:off x="3024360" y="677880"/>
            <a:ext cx="33228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"/>
          <p:cNvSpPr/>
          <p:nvPr/>
        </p:nvSpPr>
        <p:spPr>
          <a:xfrm>
            <a:off x="3780720" y="677880"/>
            <a:ext cx="34452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C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"/>
          <p:cNvSpPr/>
          <p:nvPr/>
        </p:nvSpPr>
        <p:spPr>
          <a:xfrm>
            <a:off x="4536720" y="677880"/>
            <a:ext cx="3567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"/>
          <p:cNvSpPr/>
          <p:nvPr/>
        </p:nvSpPr>
        <p:spPr>
          <a:xfrm>
            <a:off x="5256720" y="677880"/>
            <a:ext cx="31860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"/>
          <p:cNvSpPr/>
          <p:nvPr/>
        </p:nvSpPr>
        <p:spPr>
          <a:xfrm>
            <a:off x="3081240" y="48960"/>
            <a:ext cx="5255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Model of nucleotide sequence evolution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5" name="" descr=""/>
          <p:cNvPicPr/>
          <p:nvPr/>
        </p:nvPicPr>
        <p:blipFill>
          <a:blip r:embed="rId1"/>
          <a:srcRect l="14282" t="4752" r="14282" b="4765"/>
          <a:stretch/>
        </p:blipFill>
        <p:spPr>
          <a:xfrm>
            <a:off x="9372600" y="10080"/>
            <a:ext cx="684720" cy="867600"/>
          </a:xfrm>
          <a:prstGeom prst="rect">
            <a:avLst/>
          </a:prstGeom>
          <a:ln w="0">
            <a:noFill/>
          </a:ln>
        </p:spPr>
      </p:pic>
      <p:pic>
        <p:nvPicPr>
          <p:cNvPr id="176" name="" descr=""/>
          <p:cNvPicPr/>
          <p:nvPr/>
        </p:nvPicPr>
        <p:blipFill>
          <a:blip r:embed="rId2"/>
          <a:srcRect l="0" t="18200" r="1637" b="17168"/>
          <a:stretch/>
        </p:blipFill>
        <p:spPr>
          <a:xfrm>
            <a:off x="48600" y="108000"/>
            <a:ext cx="2465280" cy="501840"/>
          </a:xfrm>
          <a:prstGeom prst="rect">
            <a:avLst/>
          </a:prstGeom>
          <a:ln w="0">
            <a:noFill/>
          </a:ln>
        </p:spPr>
      </p:pic>
      <p:pic>
        <p:nvPicPr>
          <p:cNvPr id="177" name="" descr=""/>
          <p:cNvPicPr/>
          <p:nvPr/>
        </p:nvPicPr>
        <p:blipFill>
          <a:blip r:embed="rId3"/>
          <a:srcRect l="13228" t="0" r="6130" b="0"/>
          <a:stretch/>
        </p:blipFill>
        <p:spPr>
          <a:xfrm>
            <a:off x="2190600" y="434160"/>
            <a:ext cx="6719400" cy="5208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"/>
          <p:cNvSpPr/>
          <p:nvPr/>
        </p:nvSpPr>
        <p:spPr>
          <a:xfrm>
            <a:off x="3081240" y="48960"/>
            <a:ext cx="5255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Jukes-Cantor (JC69) model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9" name="" descr=""/>
          <p:cNvPicPr/>
          <p:nvPr/>
        </p:nvPicPr>
        <p:blipFill>
          <a:blip r:embed="rId1"/>
          <a:srcRect l="14282" t="4752" r="14282" b="4765"/>
          <a:stretch/>
        </p:blipFill>
        <p:spPr>
          <a:xfrm>
            <a:off x="9372600" y="10080"/>
            <a:ext cx="684720" cy="867600"/>
          </a:xfrm>
          <a:prstGeom prst="rect">
            <a:avLst/>
          </a:prstGeom>
          <a:ln w="0">
            <a:noFill/>
          </a:ln>
        </p:spPr>
      </p:pic>
      <p:pic>
        <p:nvPicPr>
          <p:cNvPr id="180" name="" descr=""/>
          <p:cNvPicPr/>
          <p:nvPr/>
        </p:nvPicPr>
        <p:blipFill>
          <a:blip r:embed="rId2"/>
          <a:srcRect l="0" t="18200" r="1637" b="17168"/>
          <a:stretch/>
        </p:blipFill>
        <p:spPr>
          <a:xfrm>
            <a:off x="48600" y="108000"/>
            <a:ext cx="2465280" cy="501840"/>
          </a:xfrm>
          <a:prstGeom prst="rect">
            <a:avLst/>
          </a:prstGeom>
          <a:ln w="0">
            <a:noFill/>
          </a:ln>
        </p:spPr>
      </p:pic>
      <p:pic>
        <p:nvPicPr>
          <p:cNvPr id="181" name="" descr=""/>
          <p:cNvPicPr/>
          <p:nvPr/>
        </p:nvPicPr>
        <p:blipFill>
          <a:blip r:embed="rId3"/>
          <a:stretch/>
        </p:blipFill>
        <p:spPr>
          <a:xfrm>
            <a:off x="48600" y="1136520"/>
            <a:ext cx="3102840" cy="2977560"/>
          </a:xfrm>
          <a:prstGeom prst="rect">
            <a:avLst/>
          </a:prstGeom>
          <a:ln w="0">
            <a:noFill/>
          </a:ln>
        </p:spPr>
      </p:pic>
      <p:pic>
        <p:nvPicPr>
          <p:cNvPr id="182" name="" descr=""/>
          <p:cNvPicPr/>
          <p:nvPr/>
        </p:nvPicPr>
        <p:blipFill>
          <a:blip r:embed="rId4"/>
          <a:stretch/>
        </p:blipFill>
        <p:spPr>
          <a:xfrm>
            <a:off x="3429000" y="1312200"/>
            <a:ext cx="6628680" cy="2573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" descr=""/>
          <p:cNvPicPr/>
          <p:nvPr/>
        </p:nvPicPr>
        <p:blipFill>
          <a:blip r:embed="rId1"/>
          <a:srcRect l="0" t="0" r="4290" b="0"/>
          <a:stretch/>
        </p:blipFill>
        <p:spPr>
          <a:xfrm>
            <a:off x="3773520" y="770400"/>
            <a:ext cx="6280200" cy="4018680"/>
          </a:xfrm>
          <a:prstGeom prst="rect">
            <a:avLst/>
          </a:prstGeom>
          <a:ln w="0">
            <a:noFill/>
          </a:ln>
        </p:spPr>
      </p:pic>
      <p:sp>
        <p:nvSpPr>
          <p:cNvPr id="184" name=""/>
          <p:cNvSpPr/>
          <p:nvPr/>
        </p:nvSpPr>
        <p:spPr>
          <a:xfrm>
            <a:off x="3081240" y="48960"/>
            <a:ext cx="5255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Kimura (K80) model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5" name="" descr=""/>
          <p:cNvPicPr/>
          <p:nvPr/>
        </p:nvPicPr>
        <p:blipFill>
          <a:blip r:embed="rId2"/>
          <a:srcRect l="14282" t="4752" r="14282" b="4765"/>
          <a:stretch/>
        </p:blipFill>
        <p:spPr>
          <a:xfrm>
            <a:off x="9372600" y="10080"/>
            <a:ext cx="684720" cy="867600"/>
          </a:xfrm>
          <a:prstGeom prst="rect">
            <a:avLst/>
          </a:prstGeom>
          <a:ln w="0">
            <a:noFill/>
          </a:ln>
        </p:spPr>
      </p:pic>
      <p:pic>
        <p:nvPicPr>
          <p:cNvPr id="186" name="" descr=""/>
          <p:cNvPicPr/>
          <p:nvPr/>
        </p:nvPicPr>
        <p:blipFill>
          <a:blip r:embed="rId3"/>
          <a:srcRect l="0" t="18200" r="1637" b="17168"/>
          <a:stretch/>
        </p:blipFill>
        <p:spPr>
          <a:xfrm>
            <a:off x="48600" y="108000"/>
            <a:ext cx="2465280" cy="501840"/>
          </a:xfrm>
          <a:prstGeom prst="rect">
            <a:avLst/>
          </a:prstGeom>
          <a:ln w="0">
            <a:noFill/>
          </a:ln>
        </p:spPr>
      </p:pic>
      <p:pic>
        <p:nvPicPr>
          <p:cNvPr id="187" name="" descr=""/>
          <p:cNvPicPr/>
          <p:nvPr/>
        </p:nvPicPr>
        <p:blipFill>
          <a:blip r:embed="rId4"/>
          <a:stretch/>
        </p:blipFill>
        <p:spPr>
          <a:xfrm>
            <a:off x="41400" y="1222560"/>
            <a:ext cx="3615480" cy="3465720"/>
          </a:xfrm>
          <a:prstGeom prst="rect">
            <a:avLst/>
          </a:prstGeom>
          <a:ln w="0">
            <a:noFill/>
          </a:ln>
        </p:spPr>
      </p:pic>
      <p:pic>
        <p:nvPicPr>
          <p:cNvPr id="188" name="" descr=""/>
          <p:cNvPicPr/>
          <p:nvPr/>
        </p:nvPicPr>
        <p:blipFill>
          <a:blip r:embed="rId5"/>
          <a:stretch/>
        </p:blipFill>
        <p:spPr>
          <a:xfrm>
            <a:off x="7831800" y="3630600"/>
            <a:ext cx="2136240" cy="1963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"/>
          <p:cNvSpPr/>
          <p:nvPr/>
        </p:nvSpPr>
        <p:spPr>
          <a:xfrm>
            <a:off x="3261240" y="48960"/>
            <a:ext cx="5255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Comparing nucleotide substitution models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0" name="" descr=""/>
          <p:cNvPicPr/>
          <p:nvPr/>
        </p:nvPicPr>
        <p:blipFill>
          <a:blip r:embed="rId1"/>
          <a:srcRect l="14282" t="4752" r="14282" b="4765"/>
          <a:stretch/>
        </p:blipFill>
        <p:spPr>
          <a:xfrm>
            <a:off x="9372600" y="10080"/>
            <a:ext cx="684720" cy="867600"/>
          </a:xfrm>
          <a:prstGeom prst="rect">
            <a:avLst/>
          </a:prstGeom>
          <a:ln w="0">
            <a:noFill/>
          </a:ln>
        </p:spPr>
      </p:pic>
      <p:pic>
        <p:nvPicPr>
          <p:cNvPr id="191" name="" descr=""/>
          <p:cNvPicPr/>
          <p:nvPr/>
        </p:nvPicPr>
        <p:blipFill>
          <a:blip r:embed="rId2"/>
          <a:srcRect l="0" t="18200" r="1637" b="17168"/>
          <a:stretch/>
        </p:blipFill>
        <p:spPr>
          <a:xfrm>
            <a:off x="48600" y="108000"/>
            <a:ext cx="2465280" cy="501840"/>
          </a:xfrm>
          <a:prstGeom prst="rect">
            <a:avLst/>
          </a:prstGeom>
          <a:ln w="0">
            <a:noFill/>
          </a:ln>
        </p:spPr>
      </p:pic>
      <p:pic>
        <p:nvPicPr>
          <p:cNvPr id="192" name="" descr=""/>
          <p:cNvPicPr/>
          <p:nvPr/>
        </p:nvPicPr>
        <p:blipFill>
          <a:blip r:embed="rId3"/>
          <a:stretch/>
        </p:blipFill>
        <p:spPr>
          <a:xfrm>
            <a:off x="1683000" y="820440"/>
            <a:ext cx="7291440" cy="3691440"/>
          </a:xfrm>
          <a:prstGeom prst="rect">
            <a:avLst/>
          </a:prstGeom>
          <a:ln w="0">
            <a:noFill/>
          </a:ln>
        </p:spPr>
      </p:pic>
      <p:sp>
        <p:nvSpPr>
          <p:cNvPr id="193" name=""/>
          <p:cNvSpPr/>
          <p:nvPr/>
        </p:nvSpPr>
        <p:spPr>
          <a:xfrm>
            <a:off x="1215000" y="4849200"/>
            <a:ext cx="682452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Corrected genetic distance is greater than the Hamming distance!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"/>
          <p:cNvSpPr/>
          <p:nvPr/>
        </p:nvSpPr>
        <p:spPr>
          <a:xfrm>
            <a:off x="7002000" y="1024920"/>
            <a:ext cx="31996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d_JC = -3/4 × ln(1 - 4/3 × p)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"/>
          <p:cNvSpPr/>
          <p:nvPr/>
        </p:nvSpPr>
        <p:spPr>
          <a:xfrm>
            <a:off x="3081240" y="48960"/>
            <a:ext cx="5255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General time reversible (GTR) model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6" name="" descr=""/>
          <p:cNvPicPr/>
          <p:nvPr/>
        </p:nvPicPr>
        <p:blipFill>
          <a:blip r:embed="rId1"/>
          <a:srcRect l="14282" t="4752" r="14282" b="4765"/>
          <a:stretch/>
        </p:blipFill>
        <p:spPr>
          <a:xfrm>
            <a:off x="9372600" y="10080"/>
            <a:ext cx="684720" cy="867600"/>
          </a:xfrm>
          <a:prstGeom prst="rect">
            <a:avLst/>
          </a:prstGeom>
          <a:ln w="0">
            <a:noFill/>
          </a:ln>
        </p:spPr>
      </p:pic>
      <p:pic>
        <p:nvPicPr>
          <p:cNvPr id="197" name="" descr=""/>
          <p:cNvPicPr/>
          <p:nvPr/>
        </p:nvPicPr>
        <p:blipFill>
          <a:blip r:embed="rId2"/>
          <a:srcRect l="0" t="18200" r="1637" b="17168"/>
          <a:stretch/>
        </p:blipFill>
        <p:spPr>
          <a:xfrm>
            <a:off x="48600" y="108000"/>
            <a:ext cx="2465280" cy="501840"/>
          </a:xfrm>
          <a:prstGeom prst="rect">
            <a:avLst/>
          </a:prstGeom>
          <a:ln w="0">
            <a:noFill/>
          </a:ln>
        </p:spPr>
      </p:pic>
      <p:pic>
        <p:nvPicPr>
          <p:cNvPr id="198" name="" descr=""/>
          <p:cNvPicPr/>
          <p:nvPr/>
        </p:nvPicPr>
        <p:blipFill>
          <a:blip r:embed="rId3"/>
          <a:stretch/>
        </p:blipFill>
        <p:spPr>
          <a:xfrm>
            <a:off x="14760" y="747000"/>
            <a:ext cx="4104000" cy="4052880"/>
          </a:xfrm>
          <a:prstGeom prst="rect">
            <a:avLst/>
          </a:prstGeom>
          <a:ln w="0">
            <a:noFill/>
          </a:ln>
        </p:spPr>
      </p:pic>
      <p:pic>
        <p:nvPicPr>
          <p:cNvPr id="199" name="" descr=""/>
          <p:cNvPicPr/>
          <p:nvPr/>
        </p:nvPicPr>
        <p:blipFill>
          <a:blip r:embed="rId4"/>
          <a:stretch/>
        </p:blipFill>
        <p:spPr>
          <a:xfrm>
            <a:off x="4122360" y="1371600"/>
            <a:ext cx="5948280" cy="2742480"/>
          </a:xfrm>
          <a:prstGeom prst="rect">
            <a:avLst/>
          </a:prstGeom>
          <a:ln w="0">
            <a:noFill/>
          </a:ln>
        </p:spPr>
      </p:pic>
      <p:sp>
        <p:nvSpPr>
          <p:cNvPr id="200" name=""/>
          <p:cNvSpPr/>
          <p:nvPr/>
        </p:nvSpPr>
        <p:spPr>
          <a:xfrm>
            <a:off x="4800600" y="4572000"/>
            <a:ext cx="444888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All other models are special cases of GTR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"/>
          <p:cNvSpPr/>
          <p:nvPr/>
        </p:nvSpPr>
        <p:spPr>
          <a:xfrm>
            <a:off x="3369240" y="48960"/>
            <a:ext cx="5255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Model selection: over-fitting vs. under-fitting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2" name="" descr=""/>
          <p:cNvPicPr/>
          <p:nvPr/>
        </p:nvPicPr>
        <p:blipFill>
          <a:blip r:embed="rId1"/>
          <a:srcRect l="14282" t="4752" r="14282" b="4765"/>
          <a:stretch/>
        </p:blipFill>
        <p:spPr>
          <a:xfrm>
            <a:off x="9372600" y="10080"/>
            <a:ext cx="684720" cy="867600"/>
          </a:xfrm>
          <a:prstGeom prst="rect">
            <a:avLst/>
          </a:prstGeom>
          <a:ln w="0">
            <a:noFill/>
          </a:ln>
        </p:spPr>
      </p:pic>
      <p:pic>
        <p:nvPicPr>
          <p:cNvPr id="203" name="" descr=""/>
          <p:cNvPicPr/>
          <p:nvPr/>
        </p:nvPicPr>
        <p:blipFill>
          <a:blip r:embed="rId2"/>
          <a:srcRect l="0" t="18200" r="1637" b="17168"/>
          <a:stretch/>
        </p:blipFill>
        <p:spPr>
          <a:xfrm>
            <a:off x="48600" y="108000"/>
            <a:ext cx="2465280" cy="501840"/>
          </a:xfrm>
          <a:prstGeom prst="rect">
            <a:avLst/>
          </a:prstGeom>
          <a:ln w="0">
            <a:noFill/>
          </a:ln>
        </p:spPr>
      </p:pic>
      <p:pic>
        <p:nvPicPr>
          <p:cNvPr id="204" name="" descr=""/>
          <p:cNvPicPr/>
          <p:nvPr/>
        </p:nvPicPr>
        <p:blipFill>
          <a:blip r:embed="rId3"/>
          <a:srcRect l="15325" t="16721" r="18447" b="11307"/>
          <a:stretch/>
        </p:blipFill>
        <p:spPr>
          <a:xfrm>
            <a:off x="1443240" y="1058400"/>
            <a:ext cx="7326000" cy="4476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"/>
          <p:cNvSpPr/>
          <p:nvPr/>
        </p:nvSpPr>
        <p:spPr>
          <a:xfrm>
            <a:off x="3081240" y="48960"/>
            <a:ext cx="5255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Likelihood Ratio Test (LRT)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6" name="" descr=""/>
          <p:cNvPicPr/>
          <p:nvPr/>
        </p:nvPicPr>
        <p:blipFill>
          <a:blip r:embed="rId1"/>
          <a:srcRect l="14282" t="4752" r="14282" b="4765"/>
          <a:stretch/>
        </p:blipFill>
        <p:spPr>
          <a:xfrm>
            <a:off x="9372600" y="10080"/>
            <a:ext cx="684720" cy="867600"/>
          </a:xfrm>
          <a:prstGeom prst="rect">
            <a:avLst/>
          </a:prstGeom>
          <a:ln w="0">
            <a:noFill/>
          </a:ln>
        </p:spPr>
      </p:pic>
      <p:pic>
        <p:nvPicPr>
          <p:cNvPr id="207" name="" descr=""/>
          <p:cNvPicPr/>
          <p:nvPr/>
        </p:nvPicPr>
        <p:blipFill>
          <a:blip r:embed="rId2"/>
          <a:srcRect l="0" t="18200" r="1637" b="17168"/>
          <a:stretch/>
        </p:blipFill>
        <p:spPr>
          <a:xfrm>
            <a:off x="48600" y="108000"/>
            <a:ext cx="2465280" cy="501840"/>
          </a:xfrm>
          <a:prstGeom prst="rect">
            <a:avLst/>
          </a:prstGeom>
          <a:ln w="0">
            <a:noFill/>
          </a:ln>
        </p:spPr>
      </p:pic>
      <p:pic>
        <p:nvPicPr>
          <p:cNvPr id="208" name="" descr=""/>
          <p:cNvPicPr/>
          <p:nvPr/>
        </p:nvPicPr>
        <p:blipFill>
          <a:blip r:embed="rId3"/>
          <a:srcRect l="0" t="14862" r="0" b="0"/>
          <a:stretch/>
        </p:blipFill>
        <p:spPr>
          <a:xfrm>
            <a:off x="907560" y="1009800"/>
            <a:ext cx="7886520" cy="4571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"/>
          <p:cNvSpPr/>
          <p:nvPr/>
        </p:nvSpPr>
        <p:spPr>
          <a:xfrm>
            <a:off x="3081240" y="48960"/>
            <a:ext cx="5255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Akaike Information Criterion (AIC)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0" name="" descr=""/>
          <p:cNvPicPr/>
          <p:nvPr/>
        </p:nvPicPr>
        <p:blipFill>
          <a:blip r:embed="rId1"/>
          <a:srcRect l="14282" t="4752" r="14282" b="4765"/>
          <a:stretch/>
        </p:blipFill>
        <p:spPr>
          <a:xfrm>
            <a:off x="9372600" y="10080"/>
            <a:ext cx="684720" cy="867600"/>
          </a:xfrm>
          <a:prstGeom prst="rect">
            <a:avLst/>
          </a:prstGeom>
          <a:ln w="0">
            <a:noFill/>
          </a:ln>
        </p:spPr>
      </p:pic>
      <p:pic>
        <p:nvPicPr>
          <p:cNvPr id="211" name="" descr=""/>
          <p:cNvPicPr/>
          <p:nvPr/>
        </p:nvPicPr>
        <p:blipFill>
          <a:blip r:embed="rId2"/>
          <a:srcRect l="0" t="18200" r="1637" b="17168"/>
          <a:stretch/>
        </p:blipFill>
        <p:spPr>
          <a:xfrm>
            <a:off x="48600" y="108000"/>
            <a:ext cx="2465280" cy="501840"/>
          </a:xfrm>
          <a:prstGeom prst="rect">
            <a:avLst/>
          </a:prstGeom>
          <a:ln w="0">
            <a:noFill/>
          </a:ln>
        </p:spPr>
      </p:pic>
      <p:pic>
        <p:nvPicPr>
          <p:cNvPr id="212" name="" descr=""/>
          <p:cNvPicPr/>
          <p:nvPr/>
        </p:nvPicPr>
        <p:blipFill>
          <a:blip r:embed="rId3"/>
          <a:stretch/>
        </p:blipFill>
        <p:spPr>
          <a:xfrm>
            <a:off x="974880" y="863280"/>
            <a:ext cx="8122680" cy="4309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"/>
          <p:cNvSpPr/>
          <p:nvPr/>
        </p:nvSpPr>
        <p:spPr>
          <a:xfrm>
            <a:off x="3081240" y="48960"/>
            <a:ext cx="5255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Bayesian Information Criterion (BIC)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4" name="" descr=""/>
          <p:cNvPicPr/>
          <p:nvPr/>
        </p:nvPicPr>
        <p:blipFill>
          <a:blip r:embed="rId1"/>
          <a:srcRect l="14282" t="4752" r="14282" b="4765"/>
          <a:stretch/>
        </p:blipFill>
        <p:spPr>
          <a:xfrm>
            <a:off x="9372600" y="10080"/>
            <a:ext cx="684720" cy="867600"/>
          </a:xfrm>
          <a:prstGeom prst="rect">
            <a:avLst/>
          </a:prstGeom>
          <a:ln w="0">
            <a:noFill/>
          </a:ln>
        </p:spPr>
      </p:pic>
      <p:pic>
        <p:nvPicPr>
          <p:cNvPr id="215" name="" descr=""/>
          <p:cNvPicPr/>
          <p:nvPr/>
        </p:nvPicPr>
        <p:blipFill>
          <a:blip r:embed="rId2"/>
          <a:srcRect l="0" t="18200" r="1637" b="17168"/>
          <a:stretch/>
        </p:blipFill>
        <p:spPr>
          <a:xfrm>
            <a:off x="48600" y="108000"/>
            <a:ext cx="2465280" cy="501840"/>
          </a:xfrm>
          <a:prstGeom prst="rect">
            <a:avLst/>
          </a:prstGeom>
          <a:ln w="0">
            <a:noFill/>
          </a:ln>
        </p:spPr>
      </p:pic>
      <p:pic>
        <p:nvPicPr>
          <p:cNvPr id="216" name="" descr=""/>
          <p:cNvPicPr/>
          <p:nvPr/>
        </p:nvPicPr>
        <p:blipFill>
          <a:blip r:embed="rId3"/>
          <a:stretch/>
        </p:blipFill>
        <p:spPr>
          <a:xfrm>
            <a:off x="303480" y="1112760"/>
            <a:ext cx="9585000" cy="3119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"/>
          <p:cNvSpPr/>
          <p:nvPr/>
        </p:nvSpPr>
        <p:spPr>
          <a:xfrm>
            <a:off x="3081240" y="48960"/>
            <a:ext cx="5255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Phylogenetic tree with bootstrapping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8" name="" descr=""/>
          <p:cNvPicPr/>
          <p:nvPr/>
        </p:nvPicPr>
        <p:blipFill>
          <a:blip r:embed="rId1"/>
          <a:srcRect l="14282" t="4752" r="14282" b="4765"/>
          <a:stretch/>
        </p:blipFill>
        <p:spPr>
          <a:xfrm>
            <a:off x="9372600" y="10080"/>
            <a:ext cx="684720" cy="867600"/>
          </a:xfrm>
          <a:prstGeom prst="rect">
            <a:avLst/>
          </a:prstGeom>
          <a:ln w="0">
            <a:noFill/>
          </a:ln>
        </p:spPr>
      </p:pic>
      <p:pic>
        <p:nvPicPr>
          <p:cNvPr id="219" name="" descr=""/>
          <p:cNvPicPr/>
          <p:nvPr/>
        </p:nvPicPr>
        <p:blipFill>
          <a:blip r:embed="rId2"/>
          <a:srcRect l="0" t="18200" r="1637" b="17168"/>
          <a:stretch/>
        </p:blipFill>
        <p:spPr>
          <a:xfrm>
            <a:off x="48600" y="108000"/>
            <a:ext cx="2465280" cy="501840"/>
          </a:xfrm>
          <a:prstGeom prst="rect">
            <a:avLst/>
          </a:prstGeom>
          <a:ln w="0">
            <a:noFill/>
          </a:ln>
        </p:spPr>
      </p:pic>
      <p:pic>
        <p:nvPicPr>
          <p:cNvPr id="220" name="" descr=""/>
          <p:cNvPicPr/>
          <p:nvPr/>
        </p:nvPicPr>
        <p:blipFill>
          <a:blip r:embed="rId3"/>
          <a:stretch/>
        </p:blipFill>
        <p:spPr>
          <a:xfrm>
            <a:off x="1324800" y="708480"/>
            <a:ext cx="7552800" cy="4880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"/>
          <p:cNvSpPr/>
          <p:nvPr/>
        </p:nvSpPr>
        <p:spPr>
          <a:xfrm>
            <a:off x="3261240" y="48960"/>
            <a:ext cx="5255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Bootstrapping: resampling with replacement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2" name="" descr=""/>
          <p:cNvPicPr/>
          <p:nvPr/>
        </p:nvPicPr>
        <p:blipFill>
          <a:blip r:embed="rId1"/>
          <a:srcRect l="14282" t="4752" r="14282" b="4765"/>
          <a:stretch/>
        </p:blipFill>
        <p:spPr>
          <a:xfrm>
            <a:off x="9372600" y="10080"/>
            <a:ext cx="684720" cy="867600"/>
          </a:xfrm>
          <a:prstGeom prst="rect">
            <a:avLst/>
          </a:prstGeom>
          <a:ln w="0">
            <a:noFill/>
          </a:ln>
        </p:spPr>
      </p:pic>
      <p:pic>
        <p:nvPicPr>
          <p:cNvPr id="223" name="" descr=""/>
          <p:cNvPicPr/>
          <p:nvPr/>
        </p:nvPicPr>
        <p:blipFill>
          <a:blip r:embed="rId2"/>
          <a:srcRect l="0" t="18200" r="1637" b="17168"/>
          <a:stretch/>
        </p:blipFill>
        <p:spPr>
          <a:xfrm>
            <a:off x="48600" y="108000"/>
            <a:ext cx="2465280" cy="501840"/>
          </a:xfrm>
          <a:prstGeom prst="rect">
            <a:avLst/>
          </a:prstGeom>
          <a:ln w="0">
            <a:noFill/>
          </a:ln>
        </p:spPr>
      </p:pic>
      <p:pic>
        <p:nvPicPr>
          <p:cNvPr id="224" name="" descr=""/>
          <p:cNvPicPr/>
          <p:nvPr/>
        </p:nvPicPr>
        <p:blipFill>
          <a:blip r:embed="rId3"/>
          <a:stretch/>
        </p:blipFill>
        <p:spPr>
          <a:xfrm>
            <a:off x="2273400" y="586800"/>
            <a:ext cx="6844320" cy="4966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"/>
          <p:cNvSpPr/>
          <p:nvPr/>
        </p:nvSpPr>
        <p:spPr>
          <a:xfrm>
            <a:off x="3261240" y="48960"/>
            <a:ext cx="5255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Resamples phylogenetic trees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6" name="" descr=""/>
          <p:cNvPicPr/>
          <p:nvPr/>
        </p:nvPicPr>
        <p:blipFill>
          <a:blip r:embed="rId1"/>
          <a:srcRect l="14282" t="4752" r="14282" b="4765"/>
          <a:stretch/>
        </p:blipFill>
        <p:spPr>
          <a:xfrm>
            <a:off x="9372600" y="10080"/>
            <a:ext cx="684720" cy="867600"/>
          </a:xfrm>
          <a:prstGeom prst="rect">
            <a:avLst/>
          </a:prstGeom>
          <a:ln w="0">
            <a:noFill/>
          </a:ln>
        </p:spPr>
      </p:pic>
      <p:pic>
        <p:nvPicPr>
          <p:cNvPr id="227" name="" descr=""/>
          <p:cNvPicPr/>
          <p:nvPr/>
        </p:nvPicPr>
        <p:blipFill>
          <a:blip r:embed="rId2"/>
          <a:srcRect l="0" t="18200" r="1637" b="17168"/>
          <a:stretch/>
        </p:blipFill>
        <p:spPr>
          <a:xfrm>
            <a:off x="48600" y="108000"/>
            <a:ext cx="2465280" cy="501840"/>
          </a:xfrm>
          <a:prstGeom prst="rect">
            <a:avLst/>
          </a:prstGeom>
          <a:ln w="0">
            <a:noFill/>
          </a:ln>
        </p:spPr>
      </p:pic>
      <p:pic>
        <p:nvPicPr>
          <p:cNvPr id="228" name="" descr=""/>
          <p:cNvPicPr/>
          <p:nvPr/>
        </p:nvPicPr>
        <p:blipFill>
          <a:blip r:embed="rId3"/>
          <a:stretch/>
        </p:blipFill>
        <p:spPr>
          <a:xfrm>
            <a:off x="2044800" y="777600"/>
            <a:ext cx="6628680" cy="4726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"/>
          <p:cNvSpPr/>
          <p:nvPr/>
        </p:nvSpPr>
        <p:spPr>
          <a:xfrm>
            <a:off x="3189240" y="48960"/>
            <a:ext cx="5255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Constructing phylogenetic trees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0" name="" descr=""/>
          <p:cNvPicPr/>
          <p:nvPr/>
        </p:nvPicPr>
        <p:blipFill>
          <a:blip r:embed="rId1"/>
          <a:srcRect l="14282" t="4752" r="14282" b="4765"/>
          <a:stretch/>
        </p:blipFill>
        <p:spPr>
          <a:xfrm>
            <a:off x="9372600" y="10080"/>
            <a:ext cx="684720" cy="867600"/>
          </a:xfrm>
          <a:prstGeom prst="rect">
            <a:avLst/>
          </a:prstGeom>
          <a:ln w="0">
            <a:noFill/>
          </a:ln>
        </p:spPr>
      </p:pic>
      <p:pic>
        <p:nvPicPr>
          <p:cNvPr id="231" name="" descr=""/>
          <p:cNvPicPr/>
          <p:nvPr/>
        </p:nvPicPr>
        <p:blipFill>
          <a:blip r:embed="rId2"/>
          <a:srcRect l="0" t="18200" r="1637" b="17168"/>
          <a:stretch/>
        </p:blipFill>
        <p:spPr>
          <a:xfrm>
            <a:off x="48600" y="108000"/>
            <a:ext cx="2465280" cy="501840"/>
          </a:xfrm>
          <a:prstGeom prst="rect">
            <a:avLst/>
          </a:prstGeom>
          <a:ln w="0">
            <a:noFill/>
          </a:ln>
        </p:spPr>
      </p:pic>
      <p:pic>
        <p:nvPicPr>
          <p:cNvPr id="232" name="" descr=""/>
          <p:cNvPicPr/>
          <p:nvPr/>
        </p:nvPicPr>
        <p:blipFill>
          <a:blip r:embed="rId3"/>
          <a:stretch/>
        </p:blipFill>
        <p:spPr>
          <a:xfrm>
            <a:off x="6287040" y="2415600"/>
            <a:ext cx="3770640" cy="2382480"/>
          </a:xfrm>
          <a:prstGeom prst="rect">
            <a:avLst/>
          </a:prstGeom>
          <a:ln w="0">
            <a:noFill/>
          </a:ln>
        </p:spPr>
      </p:pic>
      <p:pic>
        <p:nvPicPr>
          <p:cNvPr id="233" name="" descr=""/>
          <p:cNvPicPr/>
          <p:nvPr/>
        </p:nvPicPr>
        <p:blipFill>
          <a:blip r:embed="rId4"/>
          <a:stretch/>
        </p:blipFill>
        <p:spPr>
          <a:xfrm>
            <a:off x="24480" y="1282320"/>
            <a:ext cx="6335280" cy="3288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"/>
          <p:cNvSpPr/>
          <p:nvPr/>
        </p:nvSpPr>
        <p:spPr>
          <a:xfrm>
            <a:off x="3189240" y="48960"/>
            <a:ext cx="5255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Maximum parsimony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5" name="" descr=""/>
          <p:cNvPicPr/>
          <p:nvPr/>
        </p:nvPicPr>
        <p:blipFill>
          <a:blip r:embed="rId1"/>
          <a:srcRect l="14282" t="4752" r="14282" b="4765"/>
          <a:stretch/>
        </p:blipFill>
        <p:spPr>
          <a:xfrm>
            <a:off x="9372600" y="10080"/>
            <a:ext cx="684720" cy="867600"/>
          </a:xfrm>
          <a:prstGeom prst="rect">
            <a:avLst/>
          </a:prstGeom>
          <a:ln w="0">
            <a:noFill/>
          </a:ln>
        </p:spPr>
      </p:pic>
      <p:pic>
        <p:nvPicPr>
          <p:cNvPr id="236" name="" descr=""/>
          <p:cNvPicPr/>
          <p:nvPr/>
        </p:nvPicPr>
        <p:blipFill>
          <a:blip r:embed="rId2"/>
          <a:srcRect l="0" t="18200" r="1637" b="17168"/>
          <a:stretch/>
        </p:blipFill>
        <p:spPr>
          <a:xfrm>
            <a:off x="48600" y="108000"/>
            <a:ext cx="2465280" cy="501840"/>
          </a:xfrm>
          <a:prstGeom prst="rect">
            <a:avLst/>
          </a:prstGeom>
          <a:ln w="0">
            <a:noFill/>
          </a:ln>
        </p:spPr>
      </p:pic>
      <p:pic>
        <p:nvPicPr>
          <p:cNvPr id="237" name="" descr=""/>
          <p:cNvPicPr/>
          <p:nvPr/>
        </p:nvPicPr>
        <p:blipFill>
          <a:blip r:embed="rId3"/>
          <a:stretch/>
        </p:blipFill>
        <p:spPr>
          <a:xfrm>
            <a:off x="685800" y="697320"/>
            <a:ext cx="8951400" cy="4824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"/>
          <p:cNvSpPr/>
          <p:nvPr/>
        </p:nvSpPr>
        <p:spPr>
          <a:xfrm>
            <a:off x="3189240" y="48960"/>
            <a:ext cx="5255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Maximum parsimony bottleneck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9" name="" descr=""/>
          <p:cNvPicPr/>
          <p:nvPr/>
        </p:nvPicPr>
        <p:blipFill>
          <a:blip r:embed="rId1"/>
          <a:srcRect l="14282" t="4752" r="14282" b="4765"/>
          <a:stretch/>
        </p:blipFill>
        <p:spPr>
          <a:xfrm>
            <a:off x="9372600" y="10080"/>
            <a:ext cx="684720" cy="867600"/>
          </a:xfrm>
          <a:prstGeom prst="rect">
            <a:avLst/>
          </a:prstGeom>
          <a:ln w="0">
            <a:noFill/>
          </a:ln>
        </p:spPr>
      </p:pic>
      <p:pic>
        <p:nvPicPr>
          <p:cNvPr id="240" name="" descr=""/>
          <p:cNvPicPr/>
          <p:nvPr/>
        </p:nvPicPr>
        <p:blipFill>
          <a:blip r:embed="rId2"/>
          <a:srcRect l="0" t="18200" r="1637" b="17168"/>
          <a:stretch/>
        </p:blipFill>
        <p:spPr>
          <a:xfrm>
            <a:off x="48600" y="108000"/>
            <a:ext cx="2465280" cy="501840"/>
          </a:xfrm>
          <a:prstGeom prst="rect">
            <a:avLst/>
          </a:prstGeom>
          <a:ln w="0">
            <a:noFill/>
          </a:ln>
        </p:spPr>
      </p:pic>
      <p:pic>
        <p:nvPicPr>
          <p:cNvPr id="241" name="" descr=""/>
          <p:cNvPicPr/>
          <p:nvPr/>
        </p:nvPicPr>
        <p:blipFill>
          <a:blip r:embed="rId3"/>
          <a:srcRect l="5533" t="0" r="1979" b="0"/>
          <a:stretch/>
        </p:blipFill>
        <p:spPr>
          <a:xfrm>
            <a:off x="205200" y="950400"/>
            <a:ext cx="5460480" cy="3869640"/>
          </a:xfrm>
          <a:prstGeom prst="rect">
            <a:avLst/>
          </a:prstGeom>
          <a:ln w="0">
            <a:noFill/>
          </a:ln>
        </p:spPr>
      </p:pic>
      <p:pic>
        <p:nvPicPr>
          <p:cNvPr id="242" name="" descr=""/>
          <p:cNvPicPr/>
          <p:nvPr/>
        </p:nvPicPr>
        <p:blipFill>
          <a:blip r:embed="rId4"/>
          <a:stretch/>
        </p:blipFill>
        <p:spPr>
          <a:xfrm>
            <a:off x="5900760" y="1085040"/>
            <a:ext cx="4048920" cy="3714840"/>
          </a:xfrm>
          <a:prstGeom prst="rect">
            <a:avLst/>
          </a:prstGeom>
          <a:ln w="0">
            <a:noFill/>
          </a:ln>
        </p:spPr>
      </p:pic>
      <p:sp>
        <p:nvSpPr>
          <p:cNvPr id="243" name=""/>
          <p:cNvSpPr/>
          <p:nvPr/>
        </p:nvSpPr>
        <p:spPr>
          <a:xfrm>
            <a:off x="1600200" y="5137200"/>
            <a:ext cx="709128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Exhaustive search is very resource demanding and time consuming!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"/>
          <p:cNvSpPr/>
          <p:nvPr/>
        </p:nvSpPr>
        <p:spPr>
          <a:xfrm>
            <a:off x="3153240" y="48960"/>
            <a:ext cx="5255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Maximum Likelihood principle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5" name="" descr=""/>
          <p:cNvPicPr/>
          <p:nvPr/>
        </p:nvPicPr>
        <p:blipFill>
          <a:blip r:embed="rId1"/>
          <a:srcRect l="14282" t="4752" r="14282" b="4765"/>
          <a:stretch/>
        </p:blipFill>
        <p:spPr>
          <a:xfrm>
            <a:off x="9372600" y="10080"/>
            <a:ext cx="684720" cy="867600"/>
          </a:xfrm>
          <a:prstGeom prst="rect">
            <a:avLst/>
          </a:prstGeom>
          <a:ln w="0">
            <a:noFill/>
          </a:ln>
        </p:spPr>
      </p:pic>
      <p:pic>
        <p:nvPicPr>
          <p:cNvPr id="246" name="" descr=""/>
          <p:cNvPicPr/>
          <p:nvPr/>
        </p:nvPicPr>
        <p:blipFill>
          <a:blip r:embed="rId2"/>
          <a:srcRect l="0" t="18200" r="1637" b="17168"/>
          <a:stretch/>
        </p:blipFill>
        <p:spPr>
          <a:xfrm>
            <a:off x="48600" y="108000"/>
            <a:ext cx="2465280" cy="501840"/>
          </a:xfrm>
          <a:prstGeom prst="rect">
            <a:avLst/>
          </a:prstGeom>
          <a:ln w="0">
            <a:noFill/>
          </a:ln>
        </p:spPr>
      </p:pic>
      <p:pic>
        <p:nvPicPr>
          <p:cNvPr id="247" name="" descr=""/>
          <p:cNvPicPr/>
          <p:nvPr/>
        </p:nvPicPr>
        <p:blipFill>
          <a:blip r:embed="rId3"/>
          <a:srcRect l="0" t="0" r="2708" b="0"/>
          <a:stretch/>
        </p:blipFill>
        <p:spPr>
          <a:xfrm>
            <a:off x="2461680" y="586800"/>
            <a:ext cx="5256720" cy="4947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"/>
          <p:cNvSpPr/>
          <p:nvPr/>
        </p:nvSpPr>
        <p:spPr>
          <a:xfrm>
            <a:off x="3189240" y="48960"/>
            <a:ext cx="5255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Maximum Likelihood for phylogeny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9" name="" descr=""/>
          <p:cNvPicPr/>
          <p:nvPr/>
        </p:nvPicPr>
        <p:blipFill>
          <a:blip r:embed="rId1"/>
          <a:srcRect l="14282" t="4752" r="14282" b="4765"/>
          <a:stretch/>
        </p:blipFill>
        <p:spPr>
          <a:xfrm>
            <a:off x="9372600" y="10080"/>
            <a:ext cx="684720" cy="867600"/>
          </a:xfrm>
          <a:prstGeom prst="rect">
            <a:avLst/>
          </a:prstGeom>
          <a:ln w="0">
            <a:noFill/>
          </a:ln>
        </p:spPr>
      </p:pic>
      <p:pic>
        <p:nvPicPr>
          <p:cNvPr id="250" name="" descr=""/>
          <p:cNvPicPr/>
          <p:nvPr/>
        </p:nvPicPr>
        <p:blipFill>
          <a:blip r:embed="rId2"/>
          <a:srcRect l="0" t="18200" r="1637" b="17168"/>
          <a:stretch/>
        </p:blipFill>
        <p:spPr>
          <a:xfrm>
            <a:off x="48600" y="108000"/>
            <a:ext cx="2465280" cy="501840"/>
          </a:xfrm>
          <a:prstGeom prst="rect">
            <a:avLst/>
          </a:prstGeom>
          <a:ln w="0">
            <a:noFill/>
          </a:ln>
        </p:spPr>
      </p:pic>
      <p:pic>
        <p:nvPicPr>
          <p:cNvPr id="251" name="" descr=""/>
          <p:cNvPicPr/>
          <p:nvPr/>
        </p:nvPicPr>
        <p:blipFill>
          <a:blip r:embed="rId3"/>
          <a:stretch/>
        </p:blipFill>
        <p:spPr>
          <a:xfrm>
            <a:off x="1019880" y="799920"/>
            <a:ext cx="7978680" cy="4757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"/>
          <p:cNvSpPr/>
          <p:nvPr/>
        </p:nvSpPr>
        <p:spPr>
          <a:xfrm>
            <a:off x="3189240" y="48960"/>
            <a:ext cx="5255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Derivative of likelihood function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3" name="" descr=""/>
          <p:cNvPicPr/>
          <p:nvPr/>
        </p:nvPicPr>
        <p:blipFill>
          <a:blip r:embed="rId1"/>
          <a:srcRect l="14282" t="4752" r="14282" b="4765"/>
          <a:stretch/>
        </p:blipFill>
        <p:spPr>
          <a:xfrm>
            <a:off x="9372600" y="10080"/>
            <a:ext cx="684720" cy="867600"/>
          </a:xfrm>
          <a:prstGeom prst="rect">
            <a:avLst/>
          </a:prstGeom>
          <a:ln w="0">
            <a:noFill/>
          </a:ln>
        </p:spPr>
      </p:pic>
      <p:pic>
        <p:nvPicPr>
          <p:cNvPr id="254" name="" descr=""/>
          <p:cNvPicPr/>
          <p:nvPr/>
        </p:nvPicPr>
        <p:blipFill>
          <a:blip r:embed="rId2"/>
          <a:srcRect l="0" t="18200" r="1637" b="17168"/>
          <a:stretch/>
        </p:blipFill>
        <p:spPr>
          <a:xfrm>
            <a:off x="48600" y="108000"/>
            <a:ext cx="2465280" cy="501840"/>
          </a:xfrm>
          <a:prstGeom prst="rect">
            <a:avLst/>
          </a:prstGeom>
          <a:ln w="0">
            <a:noFill/>
          </a:ln>
        </p:spPr>
      </p:pic>
      <p:pic>
        <p:nvPicPr>
          <p:cNvPr id="255" name="" descr=""/>
          <p:cNvPicPr/>
          <p:nvPr/>
        </p:nvPicPr>
        <p:blipFill>
          <a:blip r:embed="rId3"/>
          <a:srcRect l="4103" t="71391" r="3077" b="0"/>
          <a:stretch/>
        </p:blipFill>
        <p:spPr>
          <a:xfrm>
            <a:off x="29520" y="2719800"/>
            <a:ext cx="4770360" cy="1090080"/>
          </a:xfrm>
          <a:prstGeom prst="rect">
            <a:avLst/>
          </a:prstGeom>
          <a:ln w="0">
            <a:noFill/>
          </a:ln>
        </p:spPr>
      </p:pic>
      <p:pic>
        <p:nvPicPr>
          <p:cNvPr id="256" name="" descr=""/>
          <p:cNvPicPr/>
          <p:nvPr/>
        </p:nvPicPr>
        <p:blipFill>
          <a:blip r:embed="rId4"/>
          <a:srcRect l="3087" t="0" r="3087" b="0"/>
          <a:stretch/>
        </p:blipFill>
        <p:spPr>
          <a:xfrm>
            <a:off x="4888080" y="1132200"/>
            <a:ext cx="5150520" cy="2753280"/>
          </a:xfrm>
          <a:prstGeom prst="rect">
            <a:avLst/>
          </a:prstGeom>
          <a:ln w="0">
            <a:noFill/>
          </a:ln>
        </p:spPr>
      </p:pic>
      <p:pic>
        <p:nvPicPr>
          <p:cNvPr id="257" name="" descr=""/>
          <p:cNvPicPr/>
          <p:nvPr/>
        </p:nvPicPr>
        <p:blipFill>
          <a:blip r:embed="rId5"/>
          <a:srcRect l="4103" t="0" r="3077" b="64343"/>
          <a:stretch/>
        </p:blipFill>
        <p:spPr>
          <a:xfrm>
            <a:off x="29160" y="1150200"/>
            <a:ext cx="4770720" cy="1364760"/>
          </a:xfrm>
          <a:prstGeom prst="rect">
            <a:avLst/>
          </a:prstGeom>
          <a:ln w="0">
            <a:noFill/>
          </a:ln>
        </p:spPr>
      </p:pic>
      <p:sp>
        <p:nvSpPr>
          <p:cNvPr id="258" name=""/>
          <p:cNvSpPr/>
          <p:nvPr/>
        </p:nvSpPr>
        <p:spPr>
          <a:xfrm>
            <a:off x="1177200" y="4343400"/>
            <a:ext cx="7345800" cy="85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The necessary condition of likelihood extremum is zero first derivative! </a:t>
            </a:r>
            <a:br>
              <a:rPr sz="1800"/>
            </a:br>
            <a:br>
              <a:rPr sz="1800"/>
            </a:b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Ziheng Yang, Computational Molecular Evolution 2006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"/>
          <p:cNvSpPr/>
          <p:nvPr/>
        </p:nvSpPr>
        <p:spPr>
          <a:xfrm>
            <a:off x="3189240" y="48960"/>
            <a:ext cx="5255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Phylogenetic tree with highest likelihood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0" name="" descr=""/>
          <p:cNvPicPr/>
          <p:nvPr/>
        </p:nvPicPr>
        <p:blipFill>
          <a:blip r:embed="rId1"/>
          <a:srcRect l="14282" t="4752" r="14282" b="4765"/>
          <a:stretch/>
        </p:blipFill>
        <p:spPr>
          <a:xfrm>
            <a:off x="9372600" y="10080"/>
            <a:ext cx="684720" cy="867600"/>
          </a:xfrm>
          <a:prstGeom prst="rect">
            <a:avLst/>
          </a:prstGeom>
          <a:ln w="0">
            <a:noFill/>
          </a:ln>
        </p:spPr>
      </p:pic>
      <p:pic>
        <p:nvPicPr>
          <p:cNvPr id="261" name="" descr=""/>
          <p:cNvPicPr/>
          <p:nvPr/>
        </p:nvPicPr>
        <p:blipFill>
          <a:blip r:embed="rId2"/>
          <a:srcRect l="0" t="18200" r="1637" b="17168"/>
          <a:stretch/>
        </p:blipFill>
        <p:spPr>
          <a:xfrm>
            <a:off x="48600" y="108000"/>
            <a:ext cx="2465280" cy="501840"/>
          </a:xfrm>
          <a:prstGeom prst="rect">
            <a:avLst/>
          </a:prstGeom>
          <a:ln w="0">
            <a:noFill/>
          </a:ln>
        </p:spPr>
      </p:pic>
      <p:pic>
        <p:nvPicPr>
          <p:cNvPr id="262" name="" descr=""/>
          <p:cNvPicPr/>
          <p:nvPr/>
        </p:nvPicPr>
        <p:blipFill>
          <a:blip r:embed="rId3"/>
          <a:stretch/>
        </p:blipFill>
        <p:spPr>
          <a:xfrm>
            <a:off x="1625400" y="661320"/>
            <a:ext cx="7165080" cy="4872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"/>
          <p:cNvSpPr/>
          <p:nvPr/>
        </p:nvSpPr>
        <p:spPr>
          <a:xfrm>
            <a:off x="2688840" y="-65160"/>
            <a:ext cx="6215760" cy="34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0066cc"/>
                </a:solidFill>
                <a:latin typeface="Arial"/>
                <a:ea typeface="Droid Sans Fallback"/>
              </a:rPr>
              <a:t>Some types of data analysis </a:t>
            </a: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roid Sans Fallback"/>
              </a:rPr>
              <a:t>in Life Sciences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"/>
          <p:cNvSpPr/>
          <p:nvPr/>
        </p:nvSpPr>
        <p:spPr>
          <a:xfrm>
            <a:off x="2576520" y="4788720"/>
            <a:ext cx="4595040" cy="46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94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roid Sans Fallback"/>
              </a:rPr>
              <a:t>P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roid Sans Fallback"/>
              </a:rPr>
              <a:t> is the number of features (genes, proteins, genetic variants etc.)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4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roid Sans Fallback"/>
              </a:rPr>
              <a:t>N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roid Sans Fallback"/>
              </a:rPr>
              <a:t> is the number of observations (samples, cells, nucleotides etc.)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5" name="" descr=""/>
          <p:cNvPicPr/>
          <p:nvPr/>
        </p:nvPicPr>
        <p:blipFill>
          <a:blip r:embed="rId1"/>
          <a:stretch/>
        </p:blipFill>
        <p:spPr>
          <a:xfrm>
            <a:off x="2884320" y="1405080"/>
            <a:ext cx="1872720" cy="2008800"/>
          </a:xfrm>
          <a:prstGeom prst="rect">
            <a:avLst/>
          </a:prstGeom>
          <a:ln w="0">
            <a:noFill/>
          </a:ln>
        </p:spPr>
      </p:pic>
      <p:pic>
        <p:nvPicPr>
          <p:cNvPr id="266" name="" descr=""/>
          <p:cNvPicPr/>
          <p:nvPr/>
        </p:nvPicPr>
        <p:blipFill>
          <a:blip r:embed="rId2"/>
          <a:stretch/>
        </p:blipFill>
        <p:spPr>
          <a:xfrm>
            <a:off x="4973760" y="1405080"/>
            <a:ext cx="1651680" cy="2008800"/>
          </a:xfrm>
          <a:prstGeom prst="rect">
            <a:avLst/>
          </a:prstGeom>
          <a:ln w="0">
            <a:noFill/>
          </a:ln>
        </p:spPr>
      </p:pic>
      <p:pic>
        <p:nvPicPr>
          <p:cNvPr id="267" name="" descr=""/>
          <p:cNvPicPr/>
          <p:nvPr/>
        </p:nvPicPr>
        <p:blipFill>
          <a:blip r:embed="rId3"/>
          <a:stretch/>
        </p:blipFill>
        <p:spPr>
          <a:xfrm>
            <a:off x="6777000" y="1417680"/>
            <a:ext cx="2675880" cy="1996200"/>
          </a:xfrm>
          <a:prstGeom prst="rect">
            <a:avLst/>
          </a:prstGeom>
          <a:ln w="0">
            <a:noFill/>
          </a:ln>
        </p:spPr>
      </p:pic>
      <p:pic>
        <p:nvPicPr>
          <p:cNvPr id="268" name="" descr=""/>
          <p:cNvPicPr/>
          <p:nvPr/>
        </p:nvPicPr>
        <p:blipFill>
          <a:blip r:embed="rId4"/>
          <a:stretch/>
        </p:blipFill>
        <p:spPr>
          <a:xfrm>
            <a:off x="368280" y="1405080"/>
            <a:ext cx="2337840" cy="2008800"/>
          </a:xfrm>
          <a:prstGeom prst="rect">
            <a:avLst/>
          </a:prstGeom>
          <a:ln w="0">
            <a:noFill/>
          </a:ln>
        </p:spPr>
      </p:pic>
      <p:sp>
        <p:nvSpPr>
          <p:cNvPr id="269" name=""/>
          <p:cNvSpPr/>
          <p:nvPr/>
        </p:nvSpPr>
        <p:spPr>
          <a:xfrm>
            <a:off x="3998880" y="4076640"/>
            <a:ext cx="188064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800" spc="-1" strike="noStrike">
                <a:solidFill>
                  <a:srgbClr val="dc143c"/>
                </a:solidFill>
                <a:latin typeface="Arial"/>
                <a:ea typeface="DejaVu Sans"/>
              </a:rPr>
              <a:t>Amount of Data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"/>
          <p:cNvSpPr/>
          <p:nvPr/>
        </p:nvSpPr>
        <p:spPr>
          <a:xfrm>
            <a:off x="3209760" y="1093680"/>
            <a:ext cx="1416960" cy="31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600" spc="-1" strike="noStrike">
                <a:solidFill>
                  <a:srgbClr val="dc143c"/>
                </a:solidFill>
                <a:latin typeface="Arial"/>
                <a:ea typeface="DejaVu Sans"/>
              </a:rPr>
              <a:t>Bayesianism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"/>
          <p:cNvSpPr/>
          <p:nvPr/>
        </p:nvSpPr>
        <p:spPr>
          <a:xfrm>
            <a:off x="5083200" y="1095480"/>
            <a:ext cx="1393200" cy="31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600" spc="-1" strike="noStrike">
                <a:solidFill>
                  <a:srgbClr val="dc143c"/>
                </a:solidFill>
                <a:latin typeface="Arial"/>
                <a:ea typeface="DejaVu Sans"/>
              </a:rPr>
              <a:t>Frequentism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"/>
          <p:cNvSpPr/>
          <p:nvPr/>
        </p:nvSpPr>
        <p:spPr>
          <a:xfrm>
            <a:off x="7170840" y="1095480"/>
            <a:ext cx="1901160" cy="31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600" spc="-1" strike="noStrike">
                <a:solidFill>
                  <a:srgbClr val="dc143c"/>
                </a:solidFill>
                <a:latin typeface="Arial"/>
                <a:ea typeface="DejaVu Sans"/>
              </a:rPr>
              <a:t>Machine Learning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"/>
          <p:cNvSpPr/>
          <p:nvPr/>
        </p:nvSpPr>
        <p:spPr>
          <a:xfrm>
            <a:off x="403200" y="1095480"/>
            <a:ext cx="2417040" cy="31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600" spc="-1" strike="noStrike">
                <a:solidFill>
                  <a:srgbClr val="dc143c"/>
                </a:solidFill>
                <a:latin typeface="Arial"/>
                <a:ea typeface="DejaVu Sans"/>
              </a:rPr>
              <a:t>Mathematical modeling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"/>
          <p:cNvSpPr/>
          <p:nvPr/>
        </p:nvSpPr>
        <p:spPr>
          <a:xfrm>
            <a:off x="3462480" y="3435480"/>
            <a:ext cx="810360" cy="31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600" spc="-1" strike="noStrike">
                <a:solidFill>
                  <a:srgbClr val="dc143c"/>
                </a:solidFill>
                <a:latin typeface="Arial"/>
                <a:ea typeface="DejaVu Sans"/>
              </a:rPr>
              <a:t>N &lt;&lt; P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"/>
          <p:cNvSpPr/>
          <p:nvPr/>
        </p:nvSpPr>
        <p:spPr>
          <a:xfrm>
            <a:off x="5335560" y="3435480"/>
            <a:ext cx="683640" cy="31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600" spc="-1" strike="noStrike">
                <a:solidFill>
                  <a:srgbClr val="dc143c"/>
                </a:solidFill>
                <a:latin typeface="Arial"/>
                <a:ea typeface="DejaVu Sans"/>
              </a:rPr>
              <a:t>N </a:t>
            </a:r>
            <a:r>
              <a:rPr b="1" lang="en-US" sz="1600" spc="-1" strike="noStrike">
                <a:solidFill>
                  <a:srgbClr val="dc143c"/>
                </a:solidFill>
                <a:latin typeface="Arial"/>
                <a:ea typeface="Arial"/>
              </a:rPr>
              <a:t>≈</a:t>
            </a:r>
            <a:r>
              <a:rPr b="1" lang="en-US" sz="1600" spc="-1" strike="noStrike">
                <a:solidFill>
                  <a:srgbClr val="dc143c"/>
                </a:solidFill>
                <a:latin typeface="Arial"/>
                <a:ea typeface="DejaVu Sans"/>
              </a:rPr>
              <a:t> P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"/>
          <p:cNvSpPr/>
          <p:nvPr/>
        </p:nvSpPr>
        <p:spPr>
          <a:xfrm>
            <a:off x="7710480" y="3435480"/>
            <a:ext cx="810360" cy="31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600" spc="-1" strike="noStrike">
                <a:solidFill>
                  <a:srgbClr val="dc143c"/>
                </a:solidFill>
                <a:latin typeface="Arial"/>
                <a:ea typeface="DejaVu Sans"/>
              </a:rPr>
              <a:t>N &gt;&gt; P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"/>
          <p:cNvSpPr/>
          <p:nvPr/>
        </p:nvSpPr>
        <p:spPr>
          <a:xfrm>
            <a:off x="1158840" y="3363840"/>
            <a:ext cx="82944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600" spc="-1" strike="noStrike">
                <a:solidFill>
                  <a:srgbClr val="dc143c"/>
                </a:solidFill>
                <a:latin typeface="Arial"/>
                <a:ea typeface="DejaVu Sans"/>
              </a:rPr>
              <a:t>N </a:t>
            </a:r>
            <a:r>
              <a:rPr b="1" lang="en-US" sz="2200" spc="-1" strike="noStrike">
                <a:solidFill>
                  <a:srgbClr val="dc143c"/>
                </a:solidFill>
                <a:latin typeface="Arial"/>
                <a:ea typeface="Arial"/>
              </a:rPr>
              <a:t>→</a:t>
            </a:r>
            <a:r>
              <a:rPr b="1" lang="en-US" sz="1600" spc="-1" strike="noStrike">
                <a:solidFill>
                  <a:srgbClr val="dc143c"/>
                </a:solidFill>
                <a:latin typeface="Arial"/>
                <a:ea typeface="DejaVu Sans"/>
              </a:rPr>
              <a:t> 0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"/>
          <p:cNvSpPr/>
          <p:nvPr/>
        </p:nvSpPr>
        <p:spPr>
          <a:xfrm>
            <a:off x="330120" y="3635280"/>
            <a:ext cx="9325800" cy="605880"/>
          </a:xfrm>
          <a:prstGeom prst="rightArrow">
            <a:avLst>
              <a:gd name="adj1" fmla="val 53426"/>
              <a:gd name="adj2" fmla="val 89047"/>
            </a:avLst>
          </a:prstGeom>
          <a:solidFill>
            <a:srgbClr val="729fcf"/>
          </a:solidFill>
          <a:ln w="936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79" name=""/>
          <p:cNvSpPr/>
          <p:nvPr/>
        </p:nvSpPr>
        <p:spPr>
          <a:xfrm>
            <a:off x="399960" y="3763800"/>
            <a:ext cx="196956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600" spc="-1" strike="noStrike">
                <a:solidFill>
                  <a:srgbClr val="006400"/>
                </a:solidFill>
                <a:latin typeface="Arial"/>
                <a:ea typeface="DejaVu Sans"/>
              </a:rPr>
              <a:t>Hypothesis-driven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"/>
          <p:cNvSpPr/>
          <p:nvPr/>
        </p:nvSpPr>
        <p:spPr>
          <a:xfrm>
            <a:off x="7746840" y="3773520"/>
            <a:ext cx="1258200" cy="25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600" spc="-1" strike="noStrike">
                <a:solidFill>
                  <a:srgbClr val="006400"/>
                </a:solidFill>
                <a:latin typeface="Arial"/>
                <a:ea typeface="DejaVu Sans"/>
              </a:rPr>
              <a:t>Data-driven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"/>
          <p:cNvSpPr/>
          <p:nvPr/>
        </p:nvSpPr>
        <p:spPr>
          <a:xfrm>
            <a:off x="2835360" y="1133640"/>
            <a:ext cx="2010600" cy="2615400"/>
          </a:xfrm>
          <a:prstGeom prst="rect">
            <a:avLst/>
          </a:prstGeom>
          <a:noFill/>
          <a:ln w="3672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282" name="" descr=""/>
          <p:cNvPicPr/>
          <p:nvPr/>
        </p:nvPicPr>
        <p:blipFill>
          <a:blip r:embed="rId5"/>
          <a:srcRect l="14282" t="4752" r="14282" b="4765"/>
          <a:stretch/>
        </p:blipFill>
        <p:spPr>
          <a:xfrm>
            <a:off x="9372600" y="10080"/>
            <a:ext cx="684720" cy="867600"/>
          </a:xfrm>
          <a:prstGeom prst="rect">
            <a:avLst/>
          </a:prstGeom>
          <a:ln w="0">
            <a:noFill/>
          </a:ln>
        </p:spPr>
      </p:pic>
      <p:pic>
        <p:nvPicPr>
          <p:cNvPr id="283" name="" descr=""/>
          <p:cNvPicPr/>
          <p:nvPr/>
        </p:nvPicPr>
        <p:blipFill>
          <a:blip r:embed="rId6"/>
          <a:srcRect l="0" t="18200" r="1637" b="17168"/>
          <a:stretch/>
        </p:blipFill>
        <p:spPr>
          <a:xfrm>
            <a:off x="48600" y="108000"/>
            <a:ext cx="2465280" cy="501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" descr=""/>
          <p:cNvPicPr/>
          <p:nvPr/>
        </p:nvPicPr>
        <p:blipFill>
          <a:blip r:embed="rId1"/>
          <a:stretch/>
        </p:blipFill>
        <p:spPr>
          <a:xfrm>
            <a:off x="44280" y="878040"/>
            <a:ext cx="4892040" cy="3701160"/>
          </a:xfrm>
          <a:prstGeom prst="rect">
            <a:avLst/>
          </a:prstGeom>
          <a:ln w="0">
            <a:noFill/>
          </a:ln>
        </p:spPr>
      </p:pic>
      <p:pic>
        <p:nvPicPr>
          <p:cNvPr id="285" name="" descr=""/>
          <p:cNvPicPr/>
          <p:nvPr/>
        </p:nvPicPr>
        <p:blipFill>
          <a:blip r:embed="rId2"/>
          <a:stretch/>
        </p:blipFill>
        <p:spPr>
          <a:xfrm>
            <a:off x="5121360" y="873000"/>
            <a:ext cx="4920480" cy="3706200"/>
          </a:xfrm>
          <a:prstGeom prst="rect">
            <a:avLst/>
          </a:prstGeom>
          <a:ln w="0">
            <a:noFill/>
          </a:ln>
        </p:spPr>
      </p:pic>
      <p:sp>
        <p:nvSpPr>
          <p:cNvPr id="286" name=""/>
          <p:cNvSpPr/>
          <p:nvPr/>
        </p:nvSpPr>
        <p:spPr>
          <a:xfrm>
            <a:off x="2795400" y="11160"/>
            <a:ext cx="6119280" cy="34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Frequentist vs. Bayesian linear fitting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"/>
          <p:cNvSpPr/>
          <p:nvPr/>
        </p:nvSpPr>
        <p:spPr>
          <a:xfrm>
            <a:off x="1096920" y="4754520"/>
            <a:ext cx="3312360" cy="34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Fitting Frequentist linear model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"/>
          <p:cNvSpPr/>
          <p:nvPr/>
        </p:nvSpPr>
        <p:spPr>
          <a:xfrm>
            <a:off x="6208560" y="4754520"/>
            <a:ext cx="3107880" cy="34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Fitting Bayesian linear model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9" name="" descr=""/>
          <p:cNvPicPr/>
          <p:nvPr/>
        </p:nvPicPr>
        <p:blipFill>
          <a:blip r:embed="rId3"/>
          <a:srcRect l="14282" t="4752" r="14282" b="4765"/>
          <a:stretch/>
        </p:blipFill>
        <p:spPr>
          <a:xfrm>
            <a:off x="9372600" y="10080"/>
            <a:ext cx="684720" cy="867600"/>
          </a:xfrm>
          <a:prstGeom prst="rect">
            <a:avLst/>
          </a:prstGeom>
          <a:ln w="0">
            <a:noFill/>
          </a:ln>
        </p:spPr>
      </p:pic>
      <p:pic>
        <p:nvPicPr>
          <p:cNvPr id="290" name="" descr=""/>
          <p:cNvPicPr/>
          <p:nvPr/>
        </p:nvPicPr>
        <p:blipFill>
          <a:blip r:embed="rId4"/>
          <a:srcRect l="0" t="18200" r="1637" b="17168"/>
          <a:stretch/>
        </p:blipFill>
        <p:spPr>
          <a:xfrm>
            <a:off x="48600" y="108000"/>
            <a:ext cx="2465280" cy="501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" descr=""/>
          <p:cNvPicPr/>
          <p:nvPr/>
        </p:nvPicPr>
        <p:blipFill>
          <a:blip r:embed="rId1"/>
          <a:stretch/>
        </p:blipFill>
        <p:spPr>
          <a:xfrm>
            <a:off x="5923080" y="1023840"/>
            <a:ext cx="4156920" cy="3090240"/>
          </a:xfrm>
          <a:prstGeom prst="rect">
            <a:avLst/>
          </a:prstGeom>
          <a:ln w="0">
            <a:noFill/>
          </a:ln>
        </p:spPr>
      </p:pic>
      <p:pic>
        <p:nvPicPr>
          <p:cNvPr id="292" name="" descr=""/>
          <p:cNvPicPr/>
          <p:nvPr/>
        </p:nvPicPr>
        <p:blipFill>
          <a:blip r:embed="rId2"/>
          <a:stretch/>
        </p:blipFill>
        <p:spPr>
          <a:xfrm>
            <a:off x="88920" y="950760"/>
            <a:ext cx="5928480" cy="3255480"/>
          </a:xfrm>
          <a:prstGeom prst="rect">
            <a:avLst/>
          </a:prstGeom>
          <a:ln w="0">
            <a:noFill/>
          </a:ln>
        </p:spPr>
      </p:pic>
      <p:sp>
        <p:nvSpPr>
          <p:cNvPr id="293" name=""/>
          <p:cNvSpPr/>
          <p:nvPr/>
        </p:nvSpPr>
        <p:spPr>
          <a:xfrm>
            <a:off x="2687400" y="11160"/>
            <a:ext cx="6119280" cy="34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Drawing possible fits from Posterior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"/>
          <p:cNvSpPr/>
          <p:nvPr/>
        </p:nvSpPr>
        <p:spPr>
          <a:xfrm>
            <a:off x="571680" y="4479840"/>
            <a:ext cx="5188680" cy="34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Slope and intersect are not fixed values any more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"/>
          <p:cNvSpPr/>
          <p:nvPr/>
        </p:nvSpPr>
        <p:spPr>
          <a:xfrm>
            <a:off x="6350040" y="4392720"/>
            <a:ext cx="3437640" cy="85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MCMC can draw infinite number</a:t>
            </a:r>
            <a:br>
              <a:rPr sz="1800"/>
            </a:b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of fits from proximity of optimal</a:t>
            </a:r>
            <a:br>
              <a:rPr sz="1800"/>
            </a:b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slope and intercept parameters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6" name="" descr=""/>
          <p:cNvPicPr/>
          <p:nvPr/>
        </p:nvPicPr>
        <p:blipFill>
          <a:blip r:embed="rId3"/>
          <a:srcRect l="14282" t="4752" r="14282" b="4765"/>
          <a:stretch/>
        </p:blipFill>
        <p:spPr>
          <a:xfrm>
            <a:off x="9372600" y="10080"/>
            <a:ext cx="684720" cy="867600"/>
          </a:xfrm>
          <a:prstGeom prst="rect">
            <a:avLst/>
          </a:prstGeom>
          <a:ln w="0">
            <a:noFill/>
          </a:ln>
        </p:spPr>
      </p:pic>
      <p:pic>
        <p:nvPicPr>
          <p:cNvPr id="297" name="" descr=""/>
          <p:cNvPicPr/>
          <p:nvPr/>
        </p:nvPicPr>
        <p:blipFill>
          <a:blip r:embed="rId4"/>
          <a:srcRect l="0" t="18200" r="1637" b="17168"/>
          <a:stretch/>
        </p:blipFill>
        <p:spPr>
          <a:xfrm>
            <a:off x="48600" y="108000"/>
            <a:ext cx="2465280" cy="501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"/>
          <p:cNvSpPr/>
          <p:nvPr/>
        </p:nvSpPr>
        <p:spPr>
          <a:xfrm>
            <a:off x="3189240" y="48960"/>
            <a:ext cx="5255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Bayes theorem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9" name="" descr=""/>
          <p:cNvPicPr/>
          <p:nvPr/>
        </p:nvPicPr>
        <p:blipFill>
          <a:blip r:embed="rId1"/>
          <a:srcRect l="14282" t="4752" r="14282" b="4765"/>
          <a:stretch/>
        </p:blipFill>
        <p:spPr>
          <a:xfrm>
            <a:off x="9372600" y="10080"/>
            <a:ext cx="684720" cy="867600"/>
          </a:xfrm>
          <a:prstGeom prst="rect">
            <a:avLst/>
          </a:prstGeom>
          <a:ln w="0">
            <a:noFill/>
          </a:ln>
        </p:spPr>
      </p:pic>
      <p:pic>
        <p:nvPicPr>
          <p:cNvPr id="300" name="" descr=""/>
          <p:cNvPicPr/>
          <p:nvPr/>
        </p:nvPicPr>
        <p:blipFill>
          <a:blip r:embed="rId2"/>
          <a:srcRect l="0" t="18200" r="1637" b="17168"/>
          <a:stretch/>
        </p:blipFill>
        <p:spPr>
          <a:xfrm>
            <a:off x="48600" y="108000"/>
            <a:ext cx="2465280" cy="501840"/>
          </a:xfrm>
          <a:prstGeom prst="rect">
            <a:avLst/>
          </a:prstGeom>
          <a:ln w="0">
            <a:noFill/>
          </a:ln>
        </p:spPr>
      </p:pic>
      <p:pic>
        <p:nvPicPr>
          <p:cNvPr id="301" name="" descr=""/>
          <p:cNvPicPr/>
          <p:nvPr/>
        </p:nvPicPr>
        <p:blipFill>
          <a:blip r:embed="rId3"/>
          <a:stretch/>
        </p:blipFill>
        <p:spPr>
          <a:xfrm>
            <a:off x="927000" y="828720"/>
            <a:ext cx="8243280" cy="4656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" descr=""/>
          <p:cNvPicPr/>
          <p:nvPr/>
        </p:nvPicPr>
        <p:blipFill>
          <a:blip r:embed="rId1"/>
          <a:srcRect l="0" t="8017" r="3014" b="1701"/>
          <a:stretch/>
        </p:blipFill>
        <p:spPr>
          <a:xfrm>
            <a:off x="117360" y="277920"/>
            <a:ext cx="9773640" cy="5117400"/>
          </a:xfrm>
          <a:prstGeom prst="rect">
            <a:avLst/>
          </a:prstGeom>
          <a:ln w="0">
            <a:noFill/>
          </a:ln>
        </p:spPr>
      </p:pic>
      <p:sp>
        <p:nvSpPr>
          <p:cNvPr id="303" name=""/>
          <p:cNvSpPr/>
          <p:nvPr/>
        </p:nvSpPr>
        <p:spPr>
          <a:xfrm>
            <a:off x="36360" y="5303880"/>
            <a:ext cx="913680" cy="345240"/>
          </a:xfrm>
          <a:prstGeom prst="rect">
            <a:avLst/>
          </a:prstGeom>
          <a:solidFill>
            <a:srgbClr val="ffffff"/>
          </a:solidFill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04" name=""/>
          <p:cNvSpPr/>
          <p:nvPr/>
        </p:nvSpPr>
        <p:spPr>
          <a:xfrm rot="5520000">
            <a:off x="-55800" y="4942800"/>
            <a:ext cx="913680" cy="345240"/>
          </a:xfrm>
          <a:prstGeom prst="rect">
            <a:avLst/>
          </a:prstGeom>
          <a:solidFill>
            <a:srgbClr val="ffffff"/>
          </a:solidFill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" descr=""/>
          <p:cNvPicPr/>
          <p:nvPr/>
        </p:nvPicPr>
        <p:blipFill>
          <a:blip r:embed="rId1"/>
          <a:srcRect l="2776" t="8017" r="3014" b="1648"/>
          <a:stretch/>
        </p:blipFill>
        <p:spPr>
          <a:xfrm>
            <a:off x="55440" y="164160"/>
            <a:ext cx="10005480" cy="5393520"/>
          </a:xfrm>
          <a:prstGeom prst="rect">
            <a:avLst/>
          </a:prstGeom>
          <a:ln w="0">
            <a:noFill/>
          </a:ln>
        </p:spPr>
      </p:pic>
      <p:sp>
        <p:nvSpPr>
          <p:cNvPr id="306" name=""/>
          <p:cNvSpPr/>
          <p:nvPr/>
        </p:nvSpPr>
        <p:spPr>
          <a:xfrm>
            <a:off x="36360" y="5267160"/>
            <a:ext cx="913680" cy="345600"/>
          </a:xfrm>
          <a:prstGeom prst="rect">
            <a:avLst/>
          </a:prstGeom>
          <a:solidFill>
            <a:srgbClr val="ffffff"/>
          </a:solidFill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07" name=""/>
          <p:cNvSpPr/>
          <p:nvPr/>
        </p:nvSpPr>
        <p:spPr>
          <a:xfrm rot="5520000">
            <a:off x="-55800" y="4906080"/>
            <a:ext cx="913680" cy="345240"/>
          </a:xfrm>
          <a:prstGeom prst="rect">
            <a:avLst/>
          </a:prstGeom>
          <a:solidFill>
            <a:srgbClr val="ffffff"/>
          </a:solidFill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"/>
          <p:cNvSpPr/>
          <p:nvPr/>
        </p:nvSpPr>
        <p:spPr>
          <a:xfrm>
            <a:off x="3189240" y="48960"/>
            <a:ext cx="5255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Combining priors with likelihoods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9" name="" descr=""/>
          <p:cNvPicPr/>
          <p:nvPr/>
        </p:nvPicPr>
        <p:blipFill>
          <a:blip r:embed="rId1"/>
          <a:srcRect l="14282" t="4752" r="14282" b="4765"/>
          <a:stretch/>
        </p:blipFill>
        <p:spPr>
          <a:xfrm>
            <a:off x="9372600" y="10080"/>
            <a:ext cx="684720" cy="867600"/>
          </a:xfrm>
          <a:prstGeom prst="rect">
            <a:avLst/>
          </a:prstGeom>
          <a:ln w="0">
            <a:noFill/>
          </a:ln>
        </p:spPr>
      </p:pic>
      <p:pic>
        <p:nvPicPr>
          <p:cNvPr id="310" name="" descr=""/>
          <p:cNvPicPr/>
          <p:nvPr/>
        </p:nvPicPr>
        <p:blipFill>
          <a:blip r:embed="rId2"/>
          <a:srcRect l="0" t="18200" r="1637" b="17168"/>
          <a:stretch/>
        </p:blipFill>
        <p:spPr>
          <a:xfrm>
            <a:off x="48600" y="108000"/>
            <a:ext cx="2465280" cy="501840"/>
          </a:xfrm>
          <a:prstGeom prst="rect">
            <a:avLst/>
          </a:prstGeom>
          <a:ln w="0">
            <a:noFill/>
          </a:ln>
        </p:spPr>
      </p:pic>
      <p:pic>
        <p:nvPicPr>
          <p:cNvPr id="311" name="" descr=""/>
          <p:cNvPicPr/>
          <p:nvPr/>
        </p:nvPicPr>
        <p:blipFill>
          <a:blip r:embed="rId3"/>
          <a:stretch/>
        </p:blipFill>
        <p:spPr>
          <a:xfrm>
            <a:off x="1288080" y="682560"/>
            <a:ext cx="7175160" cy="4875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"/>
          <p:cNvSpPr/>
          <p:nvPr/>
        </p:nvSpPr>
        <p:spPr>
          <a:xfrm>
            <a:off x="2902320" y="61920"/>
            <a:ext cx="52552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Thank you for your attention!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3" name="" descr=""/>
          <p:cNvPicPr/>
          <p:nvPr/>
        </p:nvPicPr>
        <p:blipFill>
          <a:blip r:embed="rId1"/>
          <a:srcRect l="14282" t="4752" r="14282" b="4765"/>
          <a:stretch/>
        </p:blipFill>
        <p:spPr>
          <a:xfrm>
            <a:off x="9372600" y="10080"/>
            <a:ext cx="684720" cy="867600"/>
          </a:xfrm>
          <a:prstGeom prst="rect">
            <a:avLst/>
          </a:prstGeom>
          <a:ln w="0">
            <a:noFill/>
          </a:ln>
        </p:spPr>
      </p:pic>
      <p:pic>
        <p:nvPicPr>
          <p:cNvPr id="314" name="" descr=""/>
          <p:cNvPicPr/>
          <p:nvPr/>
        </p:nvPicPr>
        <p:blipFill>
          <a:blip r:embed="rId2"/>
          <a:srcRect l="0" t="18200" r="1637" b="17168"/>
          <a:stretch/>
        </p:blipFill>
        <p:spPr>
          <a:xfrm>
            <a:off x="48600" y="108000"/>
            <a:ext cx="2465280" cy="501840"/>
          </a:xfrm>
          <a:prstGeom prst="rect">
            <a:avLst/>
          </a:prstGeom>
          <a:ln w="0">
            <a:noFill/>
          </a:ln>
        </p:spPr>
      </p:pic>
      <p:pic>
        <p:nvPicPr>
          <p:cNvPr id="315" name="" descr=""/>
          <p:cNvPicPr/>
          <p:nvPr/>
        </p:nvPicPr>
        <p:blipFill>
          <a:blip r:embed="rId3"/>
          <a:stretch/>
        </p:blipFill>
        <p:spPr>
          <a:xfrm>
            <a:off x="1863720" y="721800"/>
            <a:ext cx="6857280" cy="4799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1057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2026-09-10T15:18:20Z</dcterms:created>
  <dc:creator/>
  <dc:description/>
  <dc:language>en-US</dc:language>
  <cp:lastModifiedBy/>
  <cp:lastPrinted>2026-09-10T18:39:44Z</cp:lastPrinted>
  <dcterms:modified xsi:type="dcterms:W3CDTF">2026-09-28T12:13:33Z</dcterms:modified>
  <cp:revision>21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