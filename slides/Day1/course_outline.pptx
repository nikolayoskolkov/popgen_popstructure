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0.jpeg" ContentType="image/jpeg"/>
  <Override PartName="/ppt/media/image9.png" ContentType="image/png"/>
  <Override PartName="/ppt/media/image18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6.png" ContentType="image/png"/>
  <Override PartName="/ppt/media/image15.png" ContentType="image/png"/>
  <Override PartName="/ppt/media/image27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6.png" ContentType="image/png"/>
  <Override PartName="/ppt/media/image20.jpeg" ContentType="image/jpeg"/>
  <Override PartName="/ppt/media/image19.png" ContentType="image/png"/>
  <Override PartName="/ppt/media/image21.png" ContentType="image/png"/>
  <Override PartName="/ppt/media/image14.png" ContentType="image/png"/>
  <Override PartName="/ppt/media/image5.png" ContentType="image/png"/>
  <Override PartName="/ppt/media/image16.jpeg" ContentType="image/jpeg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</p:sldMasterIdLst>
  <p:sldIdLst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264" r:id="rId50"/>
    <p:sldId id="265" r:id="rId51"/>
    <p:sldId id="266" r:id="rId52"/>
    <p:sldId id="267" r:id="rId53"/>
    <p:sldId id="268" r:id="rId54"/>
    <p:sldId id="269" r:id="rId55"/>
    <p:sldId id="270" r:id="rId5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" Target="slides/slide1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Relationship Id="rId52" Type="http://schemas.openxmlformats.org/officeDocument/2006/relationships/slide" Target="slides/slide11.xml"/><Relationship Id="rId53" Type="http://schemas.openxmlformats.org/officeDocument/2006/relationships/slide" Target="slides/slide12.xml"/><Relationship Id="rId54" Type="http://schemas.openxmlformats.org/officeDocument/2006/relationships/slide" Target="slides/slide13.xml"/><Relationship Id="rId55" Type="http://schemas.openxmlformats.org/officeDocument/2006/relationships/slide" Target="slides/slide14.xml"/><Relationship Id="rId56" Type="http://schemas.openxmlformats.org/officeDocument/2006/relationships/slide" Target="slides/slide15.xml"/><Relationship Id="rId5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4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e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NikolayOskolkov/PopGen_PopStructure" TargetMode="External"/><Relationship Id="rId2" Type="http://schemas.openxmlformats.org/officeDocument/2006/relationships/image" Target="../media/image19.png"/><Relationship Id="rId3" Type="http://schemas.openxmlformats.org/officeDocument/2006/relationships/image" Target="../media/image20.jpe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-18360" y="9000"/>
            <a:ext cx="10074600" cy="5669640"/>
          </a:xfrm>
          <a:prstGeom prst="rect">
            <a:avLst/>
          </a:prstGeom>
          <a:ln w="0">
            <a:noFill/>
          </a:ln>
        </p:spPr>
      </p:pic>
      <p:sp>
        <p:nvSpPr>
          <p:cNvPr id="181" name="CustomShape 7"/>
          <p:cNvSpPr/>
          <p:nvPr/>
        </p:nvSpPr>
        <p:spPr>
          <a:xfrm>
            <a:off x="693000" y="1344600"/>
            <a:ext cx="655128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7909200" y="23760"/>
            <a:ext cx="2068560" cy="96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" descr=""/>
          <p:cNvPicPr/>
          <p:nvPr/>
        </p:nvPicPr>
        <p:blipFill>
          <a:blip r:embed="rId1"/>
          <a:srcRect l="0" t="0" r="0" b="26665"/>
          <a:stretch/>
        </p:blipFill>
        <p:spPr>
          <a:xfrm>
            <a:off x="109440" y="750960"/>
            <a:ext cx="6321240" cy="339228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2"/>
          <a:srcRect l="9896" t="0" r="11923" b="24361"/>
          <a:stretch/>
        </p:blipFill>
        <p:spPr>
          <a:xfrm>
            <a:off x="6595200" y="750960"/>
            <a:ext cx="1497600" cy="2327040"/>
          </a:xfrm>
          <a:prstGeom prst="rect">
            <a:avLst/>
          </a:prstGeom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3"/>
          <a:srcRect l="14518" t="0" r="6000" b="0"/>
          <a:stretch/>
        </p:blipFill>
        <p:spPr>
          <a:xfrm>
            <a:off x="8382960" y="3278880"/>
            <a:ext cx="1514880" cy="193572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8216640" y="5207400"/>
            <a:ext cx="1825200" cy="384480"/>
          </a:xfrm>
          <a:custGeom>
            <a:avLst/>
            <a:gdLst>
              <a:gd name="textAreaLeft" fmla="*/ 0 w 1825200"/>
              <a:gd name="textAreaRight" fmla="*/ 1830600 w 1825200"/>
              <a:gd name="textAreaTop" fmla="*/ 0 h 384480"/>
              <a:gd name="textAreaBottom" fmla="*/ 389160 h 384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Daniel Rivas, MD,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004480" y="65160"/>
            <a:ext cx="5250960" cy="450000"/>
          </a:xfrm>
          <a:custGeom>
            <a:avLst/>
            <a:gdLst>
              <a:gd name="textAreaLeft" fmla="*/ 0 w 5250960"/>
              <a:gd name="textAreaRight" fmla="*/ 5256360 w 5250960"/>
              <a:gd name="textAreaTop" fmla="*/ 0 h 450000"/>
              <a:gd name="textAreaBottom" fmla="*/ 455400 h 450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3"/>
              </a:spcBef>
              <a:spcAft>
                <a:spcPts val="1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Metabolic Research Group at NIRI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-66600" y="4348440"/>
            <a:ext cx="661788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008000"/>
                </a:solidFill>
                <a:latin typeface="Arial"/>
                <a:ea typeface="DejaVu Sans"/>
              </a:rPr>
              <a:t>1 more postdoctoral fellow and 1 PhD student to be hired</a:t>
            </a: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If you know anyone who might be interested, </a:t>
            </a: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please contact me!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380640" y="5208840"/>
            <a:ext cx="1824840" cy="509040"/>
          </a:xfrm>
          <a:custGeom>
            <a:avLst/>
            <a:gdLst>
              <a:gd name="textAreaLeft" fmla="*/ 0 w 1824840"/>
              <a:gd name="textAreaRight" fmla="*/ 1830240 w 1824840"/>
              <a:gd name="textAreaTop" fmla="*/ 0 h 509040"/>
              <a:gd name="textAreaBottom" fmla="*/ 514440 h 509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Kristina Grausa, PhD student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4"/>
          <a:stretch/>
        </p:blipFill>
        <p:spPr>
          <a:xfrm>
            <a:off x="69840" y="36360"/>
            <a:ext cx="610560" cy="58212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5"/>
          <a:srcRect l="4511" t="13458" r="4511" b="13458"/>
          <a:stretch/>
        </p:blipFill>
        <p:spPr>
          <a:xfrm>
            <a:off x="8375400" y="79200"/>
            <a:ext cx="1683000" cy="44640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6"/>
          <a:srcRect l="30849" t="3870" r="21487" b="0"/>
          <a:stretch/>
        </p:blipFill>
        <p:spPr>
          <a:xfrm>
            <a:off x="6607800" y="3285000"/>
            <a:ext cx="1436040" cy="193428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7"/>
          <a:srcRect l="29844" t="0" r="0" b="0"/>
          <a:stretch/>
        </p:blipFill>
        <p:spPr>
          <a:xfrm>
            <a:off x="8429040" y="785880"/>
            <a:ext cx="1397160" cy="187272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8216640" y="2651400"/>
            <a:ext cx="1825200" cy="384480"/>
          </a:xfrm>
          <a:custGeom>
            <a:avLst/>
            <a:gdLst>
              <a:gd name="textAreaLeft" fmla="*/ 0 w 1825200"/>
              <a:gd name="textAreaRight" fmla="*/ 1830600 w 1825200"/>
              <a:gd name="textAreaTop" fmla="*/ 0 h 384480"/>
              <a:gd name="textAreaBottom" fmla="*/ 389160 h 384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Mohammad Banabazi,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2214720" y="9720"/>
            <a:ext cx="5252760" cy="452160"/>
          </a:xfrm>
          <a:custGeom>
            <a:avLst/>
            <a:gdLst>
              <a:gd name="textAreaLeft" fmla="*/ 0 w 5252760"/>
              <a:gd name="textAreaRight" fmla="*/ 5255640 w 5252760"/>
              <a:gd name="textAreaTop" fmla="*/ 0 h 452160"/>
              <a:gd name="textAreaBottom" fmla="*/ 455040 h 45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1139400" y="771120"/>
            <a:ext cx="6403320" cy="37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Organizer:</a:t>
            </a: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 Oliver Hooker, PR Stats courses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oliver@prstats.org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Instructor: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Dr. Nikolay Oskolkov, MRG Group Leader, NIRI, Riga,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lecturer at Lund University, Lund,Sweden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nikolay.oskolkov@niri.lv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rcRect l="0" t="4749" r="0" b="0"/>
          <a:stretch/>
        </p:blipFill>
        <p:spPr>
          <a:xfrm>
            <a:off x="7677720" y="2515680"/>
            <a:ext cx="1217160" cy="1715760"/>
          </a:xfrm>
          <a:prstGeom prst="rect">
            <a:avLst/>
          </a:prstGeom>
          <a:ln w="0">
            <a:noFill/>
          </a:ln>
        </p:spPr>
      </p:pic>
      <p:sp>
        <p:nvSpPr>
          <p:cNvPr id="198" name="CustomShape 3"/>
          <p:cNvSpPr/>
          <p:nvPr/>
        </p:nvSpPr>
        <p:spPr>
          <a:xfrm>
            <a:off x="1513800" y="5325120"/>
            <a:ext cx="1353600" cy="281520"/>
          </a:xfrm>
          <a:custGeom>
            <a:avLst/>
            <a:gdLst>
              <a:gd name="textAreaLeft" fmla="*/ 0 w 1353600"/>
              <a:gd name="textAreaRight" fmla="*/ 1356480 w 1353600"/>
              <a:gd name="textAreaTop" fmla="*/ 0 h 281520"/>
              <a:gd name="textAreaBottom" fmla="*/ 284400 h 281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Group 4"/>
          <p:cNvGrpSpPr/>
          <p:nvPr/>
        </p:nvGrpSpPr>
        <p:grpSpPr>
          <a:xfrm>
            <a:off x="1199520" y="4480560"/>
            <a:ext cx="2092680" cy="843480"/>
            <a:chOff x="1199520" y="4480560"/>
            <a:chExt cx="2092680" cy="843480"/>
          </a:xfrm>
        </p:grpSpPr>
        <p:pic>
          <p:nvPicPr>
            <p:cNvPr id="200" name="" descr=""/>
            <p:cNvPicPr/>
            <p:nvPr/>
          </p:nvPicPr>
          <p:blipFill>
            <a:blip r:embed="rId2"/>
            <a:srcRect l="58332" t="18655" r="0" b="20725"/>
            <a:stretch/>
          </p:blipFill>
          <p:spPr>
            <a:xfrm>
              <a:off x="2267640" y="4501080"/>
              <a:ext cx="1024560" cy="822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1" name="" descr=""/>
            <p:cNvPicPr/>
            <p:nvPr/>
          </p:nvPicPr>
          <p:blipFill>
            <a:blip r:embed="rId3"/>
            <a:srcRect l="0" t="18655" r="56415" b="20725"/>
            <a:stretch/>
          </p:blipFill>
          <p:spPr>
            <a:xfrm>
              <a:off x="1199520" y="4480560"/>
              <a:ext cx="1071720" cy="822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2" name="CustomShape 5"/>
          <p:cNvSpPr/>
          <p:nvPr/>
        </p:nvSpPr>
        <p:spPr>
          <a:xfrm>
            <a:off x="5939280" y="5248800"/>
            <a:ext cx="1829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4"/>
          <a:srcRect l="11567" t="14531" r="7772" b="12490"/>
          <a:stretch/>
        </p:blipFill>
        <p:spPr>
          <a:xfrm>
            <a:off x="6313680" y="4381560"/>
            <a:ext cx="1000800" cy="905040"/>
          </a:xfrm>
          <a:prstGeom prst="rect">
            <a:avLst/>
          </a:prstGeom>
          <a:ln w="0">
            <a:noFill/>
          </a:ln>
        </p:spPr>
      </p:pic>
      <p:sp>
        <p:nvSpPr>
          <p:cNvPr id="204" name="CustomShape 6"/>
          <p:cNvSpPr/>
          <p:nvPr/>
        </p:nvSpPr>
        <p:spPr>
          <a:xfrm>
            <a:off x="3888000" y="5369040"/>
            <a:ext cx="1605240" cy="226800"/>
          </a:xfrm>
          <a:custGeom>
            <a:avLst/>
            <a:gdLst>
              <a:gd name="textAreaLeft" fmla="*/ 0 w 1605240"/>
              <a:gd name="textAreaRight" fmla="*/ 1608120 w 1605240"/>
              <a:gd name="textAreaTop" fmla="*/ 0 h 226800"/>
              <a:gd name="textAreaBottom" fmla="*/ 229680 h 226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5"/>
          <a:stretch/>
        </p:blipFill>
        <p:spPr>
          <a:xfrm>
            <a:off x="4182840" y="4398840"/>
            <a:ext cx="974160" cy="961920"/>
          </a:xfrm>
          <a:prstGeom prst="rect">
            <a:avLst/>
          </a:prstGeom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6"/>
          <a:stretch/>
        </p:blipFill>
        <p:spPr>
          <a:xfrm>
            <a:off x="7495920" y="829800"/>
            <a:ext cx="2068560" cy="96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70920" y="36720"/>
            <a:ext cx="610560" cy="582120"/>
          </a:xfrm>
          <a:prstGeom prst="rect">
            <a:avLst/>
          </a:prstGeom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2257560" y="30240"/>
            <a:ext cx="5252760" cy="451800"/>
          </a:xfrm>
          <a:custGeom>
            <a:avLst/>
            <a:gdLst>
              <a:gd name="textAreaLeft" fmla="*/ 0 w 5252760"/>
              <a:gd name="textAreaRight" fmla="*/ 5256360 w 5252760"/>
              <a:gd name="textAreaTop" fmla="*/ 0 h 451800"/>
              <a:gd name="textAreaBottom" fmla="*/ 455400 h 451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Brief introduction: who am 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55480" y="519120"/>
            <a:ext cx="4000680" cy="1892160"/>
          </a:xfrm>
          <a:custGeom>
            <a:avLst/>
            <a:gdLst>
              <a:gd name="textAreaLeft" fmla="*/ 0 w 4000680"/>
              <a:gd name="textAreaRight" fmla="*/ 4004280 w 4000680"/>
              <a:gd name="textAreaTop" fmla="*/ 0 h 1892160"/>
              <a:gd name="textAreaBottom" fmla="*/ 1895760 h 189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2007   PhD in theoretical physics in Moscow, Russia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2011   medical genomics at Lund University,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2016   bioinformatician at NBIS SciLifeLab,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2025   Metabolic Research Group leader, NIRI, Latvia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60+ publications; h-index = 28; 4,600+ citations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2"/>
          <a:srcRect l="0" t="4801" r="248" b="444"/>
          <a:stretch/>
        </p:blipFill>
        <p:spPr>
          <a:xfrm>
            <a:off x="371520" y="2498760"/>
            <a:ext cx="5829120" cy="311292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3"/>
          <a:srcRect l="0" t="9377" r="0" b="0"/>
          <a:stretch/>
        </p:blipFill>
        <p:spPr>
          <a:xfrm>
            <a:off x="7525080" y="654120"/>
            <a:ext cx="2512440" cy="1471320"/>
          </a:xfrm>
          <a:prstGeom prst="rect">
            <a:avLst/>
          </a:prstGeom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4"/>
          <a:stretch/>
        </p:blipFill>
        <p:spPr>
          <a:xfrm>
            <a:off x="4692600" y="668160"/>
            <a:ext cx="2800440" cy="146052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7539480" y="638280"/>
            <a:ext cx="1096560" cy="271080"/>
          </a:xfrm>
          <a:custGeom>
            <a:avLst/>
            <a:gdLst>
              <a:gd name="textAreaLeft" fmla="*/ 0 w 1096560"/>
              <a:gd name="textAreaRight" fmla="*/ 1100160 w 1096560"/>
              <a:gd name="textAreaTop" fmla="*/ 0 h 271080"/>
              <a:gd name="textAreaBottom" fmla="*/ 274680 h 2710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DejaVu Sans"/>
              </a:rPr>
              <a:t>Lund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990040" y="673200"/>
            <a:ext cx="1472760" cy="271080"/>
          </a:xfrm>
          <a:custGeom>
            <a:avLst/>
            <a:gdLst>
              <a:gd name="textAreaLeft" fmla="*/ 0 w 1472760"/>
              <a:gd name="textAreaRight" fmla="*/ 1476360 w 1472760"/>
              <a:gd name="textAreaTop" fmla="*/ 0 h 271080"/>
              <a:gd name="textAreaBottom" fmla="*/ 274680 h 2710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69a2e"/>
                </a:solidFill>
                <a:latin typeface="Arial"/>
                <a:ea typeface="DejaVu Sans"/>
              </a:rPr>
              <a:t>Moscow State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5" name=""/>
          <p:cNvGrpSpPr/>
          <p:nvPr/>
        </p:nvGrpSpPr>
        <p:grpSpPr>
          <a:xfrm>
            <a:off x="6620400" y="2149560"/>
            <a:ext cx="3178080" cy="1744560"/>
            <a:chOff x="6620400" y="2149560"/>
            <a:chExt cx="3178080" cy="1744560"/>
          </a:xfrm>
        </p:grpSpPr>
        <p:pic>
          <p:nvPicPr>
            <p:cNvPr id="216" name="" descr=""/>
            <p:cNvPicPr/>
            <p:nvPr/>
          </p:nvPicPr>
          <p:blipFill>
            <a:blip r:embed="rId5"/>
            <a:srcRect l="0" t="37333" r="0" b="0"/>
            <a:stretch/>
          </p:blipFill>
          <p:spPr>
            <a:xfrm>
              <a:off x="6620400" y="2166840"/>
              <a:ext cx="3081240" cy="1727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7" name=""/>
            <p:cNvSpPr/>
            <p:nvPr/>
          </p:nvSpPr>
          <p:spPr>
            <a:xfrm>
              <a:off x="8942760" y="2149560"/>
              <a:ext cx="855720" cy="256680"/>
            </a:xfrm>
            <a:custGeom>
              <a:avLst/>
              <a:gdLst>
                <a:gd name="textAreaLeft" fmla="*/ 0 w 855720"/>
                <a:gd name="textAreaRight" fmla="*/ 859320 w 855720"/>
                <a:gd name="textAreaTop" fmla="*/ 0 h 256680"/>
                <a:gd name="textAreaBottom" fmla="*/ 260280 h 25668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SciLifeLab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" name=""/>
          <p:cNvGrpSpPr/>
          <p:nvPr/>
        </p:nvGrpSpPr>
        <p:grpSpPr>
          <a:xfrm>
            <a:off x="6623280" y="3922920"/>
            <a:ext cx="3086280" cy="1762200"/>
            <a:chOff x="6623280" y="3922920"/>
            <a:chExt cx="3086280" cy="1762200"/>
          </a:xfrm>
        </p:grpSpPr>
        <p:pic>
          <p:nvPicPr>
            <p:cNvPr id="219" name="" descr=""/>
            <p:cNvPicPr/>
            <p:nvPr/>
          </p:nvPicPr>
          <p:blipFill>
            <a:blip r:embed="rId6"/>
            <a:stretch/>
          </p:blipFill>
          <p:spPr>
            <a:xfrm>
              <a:off x="6623280" y="3922920"/>
              <a:ext cx="3086280" cy="1727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0" name=""/>
            <p:cNvSpPr/>
            <p:nvPr/>
          </p:nvSpPr>
          <p:spPr>
            <a:xfrm>
              <a:off x="8620560" y="5426640"/>
              <a:ext cx="1089000" cy="25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NIRI=LIOS+BMC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21" name="" descr=""/>
          <p:cNvPicPr/>
          <p:nvPr/>
        </p:nvPicPr>
        <p:blipFill>
          <a:blip r:embed="rId7"/>
          <a:srcRect l="4511" t="13458" r="4511" b="13458"/>
          <a:stretch/>
        </p:blipFill>
        <p:spPr>
          <a:xfrm>
            <a:off x="8214840" y="43560"/>
            <a:ext cx="1879560" cy="49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2206800" y="27360"/>
            <a:ext cx="5252760" cy="452160"/>
          </a:xfrm>
          <a:custGeom>
            <a:avLst/>
            <a:gdLst>
              <a:gd name="textAreaLeft" fmla="*/ 0 w 5252760"/>
              <a:gd name="textAreaRight" fmla="*/ 5255640 w 5252760"/>
              <a:gd name="textAreaTop" fmla="*/ 0 h 452160"/>
              <a:gd name="textAreaBottom" fmla="*/ 455040 h 45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you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2033280" y="914400"/>
            <a:ext cx="7336800" cy="29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Name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University / Institute / Company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Research interest(s)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Previous experience with computational analysis and bioinformatics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Motivation to join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Expectations from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59040" y="66960"/>
            <a:ext cx="1270440" cy="44496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7955280" y="9720"/>
            <a:ext cx="2095920" cy="529200"/>
          </a:xfrm>
          <a:prstGeom prst="rect">
            <a:avLst/>
          </a:prstGeom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25200" y="4667760"/>
            <a:ext cx="2068560" cy="96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23"/>
          <p:cNvSpPr/>
          <p:nvPr/>
        </p:nvSpPr>
        <p:spPr>
          <a:xfrm>
            <a:off x="2223360" y="70920"/>
            <a:ext cx="5253480" cy="452880"/>
          </a:xfrm>
          <a:custGeom>
            <a:avLst/>
            <a:gdLst>
              <a:gd name="textAreaLeft" fmla="*/ 0 w 5253480"/>
              <a:gd name="textAreaRight" fmla="*/ 5256360 w 5253480"/>
              <a:gd name="textAreaTop" fmla="*/ 0 h 452880"/>
              <a:gd name="textAreaBottom" fmla="*/ 455760 h 45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outline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24"/>
          <p:cNvSpPr/>
          <p:nvPr/>
        </p:nvSpPr>
        <p:spPr>
          <a:xfrm>
            <a:off x="881280" y="753840"/>
            <a:ext cx="8779320" cy="16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 1: introduction to next generation data analysis, GATK and ANGSD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Day2: dimensionality reduction with PCA, tSNE and UMAP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Day3: clustering methods, phylogenetic analysis, Admixture and 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Day4: selection scans with Fst, F-statistics for population structure, relation to PCA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Day5: capturing gene flow, introgression detection with D-statistic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59400" y="67320"/>
            <a:ext cx="1270440" cy="444960"/>
          </a:xfrm>
          <a:prstGeom prst="rect">
            <a:avLst/>
          </a:prstGeom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"/>
          <a:stretch/>
        </p:blipFill>
        <p:spPr>
          <a:xfrm>
            <a:off x="7955640" y="10080"/>
            <a:ext cx="2095920" cy="52920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3"/>
          <a:stretch/>
        </p:blipFill>
        <p:spPr>
          <a:xfrm>
            <a:off x="156600" y="2362320"/>
            <a:ext cx="9851400" cy="328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59760" y="67680"/>
            <a:ext cx="1270440" cy="444960"/>
          </a:xfrm>
          <a:prstGeom prst="rect">
            <a:avLst/>
          </a:prstGeom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7956000" y="10440"/>
            <a:ext cx="2095920" cy="529200"/>
          </a:xfrm>
          <a:prstGeom prst="rect">
            <a:avLst/>
          </a:prstGeom>
          <a:ln w="0">
            <a:noFill/>
          </a:ln>
        </p:spPr>
      </p:pic>
      <p:sp>
        <p:nvSpPr>
          <p:cNvPr id="234" name="CustomShape 4"/>
          <p:cNvSpPr/>
          <p:nvPr/>
        </p:nvSpPr>
        <p:spPr>
          <a:xfrm>
            <a:off x="2223720" y="-37080"/>
            <a:ext cx="5253480" cy="452880"/>
          </a:xfrm>
          <a:custGeom>
            <a:avLst/>
            <a:gdLst>
              <a:gd name="textAreaLeft" fmla="*/ 0 w 5253480"/>
              <a:gd name="textAreaRight" fmla="*/ 5256360 w 5253480"/>
              <a:gd name="textAreaTop" fmla="*/ 0 h 452880"/>
              <a:gd name="textAreaBottom" fmla="*/ 455760 h 45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program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3"/>
          <a:srcRect l="11909" t="0" r="12494" b="0"/>
          <a:stretch/>
        </p:blipFill>
        <p:spPr>
          <a:xfrm>
            <a:off x="1662840" y="457200"/>
            <a:ext cx="6227640" cy="514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58680" y="120600"/>
            <a:ext cx="1274040" cy="448560"/>
          </a:xfrm>
          <a:prstGeom prst="rect">
            <a:avLst/>
          </a:prstGeom>
          <a:ln w="0">
            <a:noFill/>
          </a:ln>
        </p:spPr>
      </p:pic>
      <p:pic>
        <p:nvPicPr>
          <p:cNvPr id="237" name="" descr=""/>
          <p:cNvPicPr/>
          <p:nvPr/>
        </p:nvPicPr>
        <p:blipFill>
          <a:blip r:embed="rId2"/>
          <a:stretch/>
        </p:blipFill>
        <p:spPr>
          <a:xfrm>
            <a:off x="7955280" y="98280"/>
            <a:ext cx="2099520" cy="532800"/>
          </a:xfrm>
          <a:prstGeom prst="rect">
            <a:avLst/>
          </a:prstGeom>
          <a:ln w="0">
            <a:noFill/>
          </a:ln>
        </p:spPr>
      </p:pic>
      <p:sp>
        <p:nvSpPr>
          <p:cNvPr id="238" name="CustomShape 25"/>
          <p:cNvSpPr/>
          <p:nvPr/>
        </p:nvSpPr>
        <p:spPr>
          <a:xfrm>
            <a:off x="2251080" y="63360"/>
            <a:ext cx="5252760" cy="453240"/>
          </a:xfrm>
          <a:custGeom>
            <a:avLst/>
            <a:gdLst>
              <a:gd name="textAreaLeft" fmla="*/ 0 w 5252760"/>
              <a:gd name="textAreaRight" fmla="*/ 5255640 w 5252760"/>
              <a:gd name="textAreaTop" fmla="*/ 0 h 453240"/>
              <a:gd name="textAreaBottom" fmla="*/ 456120 h 453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Housekeeping rules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26"/>
          <p:cNvSpPr/>
          <p:nvPr/>
        </p:nvSpPr>
        <p:spPr>
          <a:xfrm>
            <a:off x="543240" y="811800"/>
            <a:ext cx="8838720" cy="4500360"/>
          </a:xfrm>
          <a:custGeom>
            <a:avLst/>
            <a:gdLst>
              <a:gd name="textAreaLeft" fmla="*/ 0 w 8838720"/>
              <a:gd name="textAreaRight" fmla="*/ 8841600 w 8838720"/>
              <a:gd name="textAreaTop" fmla="*/ 0 h 4500360"/>
              <a:gd name="textAreaBottom" fmla="*/ 4503240 h 450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Please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your questions anytime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it is ok to interrupt me, or you can raise your hand and ask. You can also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questions online in the zoom chat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or later by email.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 kindly ask you to please keep your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webcams on for better communication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this is of course not mandatory an up to you but will help me to adjust me explanations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includes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10 lectures (~1 h each) and 10 practicals (~1.5 h each)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there is a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15 min break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after each lecture and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 h lunch break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every day of the course. We can potentially make longer breaks if needed.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During practicals, we will use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Rmarkdown and Jupyter notebooks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. At the end of each practical, I will use rendered html-versions of the notebooks to go through command lines with my explanations.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material is based on data and problems from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computational biology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however the concepts discussed are general and can be applied for other types of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27"/>
          <p:cNvSpPr/>
          <p:nvPr/>
        </p:nvSpPr>
        <p:spPr>
          <a:xfrm>
            <a:off x="1746720" y="9720"/>
            <a:ext cx="5936040" cy="452880"/>
          </a:xfrm>
          <a:custGeom>
            <a:avLst/>
            <a:gdLst>
              <a:gd name="textAreaLeft" fmla="*/ 0 w 5936040"/>
              <a:gd name="textAreaRight" fmla="*/ 5938920 w 5936040"/>
              <a:gd name="textAreaTop" fmla="*/ 0 h 452880"/>
              <a:gd name="textAreaBottom" fmla="*/ 455760 h 45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Practical information: time and github repo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28"/>
          <p:cNvSpPr/>
          <p:nvPr/>
        </p:nvSpPr>
        <p:spPr>
          <a:xfrm>
            <a:off x="1051920" y="1113840"/>
            <a:ext cx="8318520" cy="29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will take place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from 2 pm to 8 pm UK time ( 3 pm to 9 pm CET)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The course GitHub repository containing lectures and exercises is: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br>
              <a:rPr sz="1800"/>
            </a:br>
            <a:r>
              <a:rPr b="1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https://github.com/NikolayOskolkov/PopGen_PopStructure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Please bookmark this address!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59400" y="67320"/>
            <a:ext cx="1270440" cy="44496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3"/>
          <a:stretch/>
        </p:blipFill>
        <p:spPr>
          <a:xfrm>
            <a:off x="7955640" y="10080"/>
            <a:ext cx="2095920" cy="52920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4"/>
          <a:stretch/>
        </p:blipFill>
        <p:spPr>
          <a:xfrm>
            <a:off x="61200" y="4631760"/>
            <a:ext cx="2068560" cy="96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745200" y="62280"/>
            <a:ext cx="8915040" cy="557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972720" y="48600"/>
            <a:ext cx="822924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601200" y="25920"/>
            <a:ext cx="9169200" cy="553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35"/>
          <p:cNvSpPr/>
          <p:nvPr/>
        </p:nvSpPr>
        <p:spPr>
          <a:xfrm>
            <a:off x="454320" y="272880"/>
            <a:ext cx="9601920" cy="46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run Jupyter notebooks on Google Colab please do the following: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Clone this repo: https://github.com/NikolayOskolkov/PopGen_PopStructure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Upload the repo to your Google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Start the Jupyter notebook from the Google drive and mount your google drive: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#Mount Google Drive to Colab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from google.colab import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drive.mount('/content/drive')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!ls -l /content/drive/MyDrive/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import 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os.chdir("/content/drive/MyDrive/data")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36"/>
          <p:cNvSpPr/>
          <p:nvPr/>
        </p:nvSpPr>
        <p:spPr>
          <a:xfrm>
            <a:off x="5497920" y="2695680"/>
            <a:ext cx="42170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N.B. you need a Google account</a:t>
            </a:r>
            <a:br>
              <a:rPr sz="1800"/>
            </a:b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to be able to run Google Colab!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25200" y="4667760"/>
            <a:ext cx="2068560" cy="96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6400" cy="56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457200" y="33840"/>
            <a:ext cx="9297000" cy="56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2024-11-07T19:18:06Z</dcterms:created>
  <dc:creator>Nikolay Oskolkov</dc:creator>
  <dc:description/>
  <dc:language>en-US</dc:language>
  <cp:lastModifiedBy/>
  <cp:lastPrinted>2026-09-27T20:55:25Z</cp:lastPrinted>
  <dcterms:modified xsi:type="dcterms:W3CDTF">2026-09-28T15:32:51Z</dcterms:modified>
  <cp:revision>86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