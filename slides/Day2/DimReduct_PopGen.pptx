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3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8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6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72.xml" ContentType="application/vnd.openxmlformats-officedocument.theme+xml"/>
  <Override PartName="/ppt/theme/theme23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66.xml" ContentType="application/vnd.openxmlformats-officedocument.theme+xml"/>
  <Override PartName="/ppt/theme/theme65.xml" ContentType="application/vnd.openxmlformats-officedocument.theme+xml"/>
  <Override PartName="/ppt/theme/theme64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63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24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0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65.jpeg" ContentType="image/jpeg"/>
  <Override PartName="/ppt/media/image20.png" ContentType="image/png"/>
  <Override PartName="/ppt/media/image57.png" ContentType="image/png"/>
  <Override PartName="/ppt/media/image19.png" ContentType="image/png"/>
  <Override PartName="/ppt/media/image61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67.png" ContentType="image/png"/>
  <Override PartName="/ppt/media/image30.png" ContentType="image/png"/>
  <Override PartName="/ppt/media/image66.jpeg" ContentType="image/jpeg"/>
  <Override PartName="/ppt/media/image24.png" ContentType="image/png"/>
  <Override PartName="/ppt/media/image29.png" ContentType="image/png"/>
  <Override PartName="/ppt/media/image28.png" ContentType="image/png"/>
  <Override PartName="/ppt/media/image64.png" ContentType="image/png"/>
  <Override PartName="/ppt/media/image27.png" ContentType="image/png"/>
  <Override PartName="/ppt/media/image63.png" ContentType="image/png"/>
  <Override PartName="/ppt/media/image26.png" ContentType="image/png"/>
  <Override PartName="/ppt/media/image23.png" ContentType="image/png"/>
  <Override PartName="/ppt/media/image60.png" ContentType="image/png"/>
  <Override PartName="/ppt/media/image62.png" ContentType="image/png"/>
  <Override PartName="/ppt/media/image25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18.png" ContentType="image/png"/>
  <Override PartName="/ppt/media/image9.png" ContentType="image/png"/>
  <Override PartName="/ppt/media/image36.png" ContentType="image/png"/>
  <Override PartName="/ppt/media/image4.png" ContentType="image/png"/>
  <Override PartName="/ppt/media/image13.png" ContentType="image/png"/>
  <Override PartName="/ppt/media/image2.jpeg" ContentType="image/jpeg"/>
  <Override PartName="/ppt/media/image31.png" ContentType="image/png"/>
  <Override PartName="/ppt/media/image32.png" ContentType="image/png"/>
  <Override PartName="/ppt/media/image34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</p:sldMasterIdLst>
  <p:sldIdLst>
    <p:sldId id="256" r:id="rId74"/>
    <p:sldId id="257" r:id="rId75"/>
    <p:sldId id="258" r:id="rId76"/>
    <p:sldId id="259" r:id="rId77"/>
    <p:sldId id="260" r:id="rId78"/>
    <p:sldId id="261" r:id="rId79"/>
    <p:sldId id="262" r:id="rId80"/>
    <p:sldId id="263" r:id="rId81"/>
    <p:sldId id="264" r:id="rId82"/>
    <p:sldId id="265" r:id="rId83"/>
    <p:sldId id="266" r:id="rId84"/>
    <p:sldId id="267" r:id="rId85"/>
    <p:sldId id="268" r:id="rId86"/>
    <p:sldId id="269" r:id="rId87"/>
    <p:sldId id="270" r:id="rId88"/>
    <p:sldId id="271" r:id="rId89"/>
    <p:sldId id="272" r:id="rId90"/>
    <p:sldId id="273" r:id="rId91"/>
    <p:sldId id="274" r:id="rId92"/>
    <p:sldId id="275" r:id="rId93"/>
    <p:sldId id="276" r:id="rId94"/>
    <p:sldId id="277" r:id="rId95"/>
    <p:sldId id="278" r:id="rId96"/>
    <p:sldId id="279" r:id="rId97"/>
    <p:sldId id="280" r:id="rId98"/>
    <p:sldId id="281" r:id="rId99"/>
    <p:sldId id="282" r:id="rId100"/>
    <p:sldId id="283" r:id="rId101"/>
    <p:sldId id="284" r:id="rId102"/>
    <p:sldId id="285" r:id="rId103"/>
    <p:sldId id="286" r:id="rId104"/>
    <p:sldId id="287" r:id="rId105"/>
    <p:sldId id="288" r:id="rId106"/>
    <p:sldId id="289" r:id="rId107"/>
    <p:sldId id="290" r:id="rId108"/>
    <p:sldId id="291" r:id="rId109"/>
    <p:sldId id="292" r:id="rId110"/>
    <p:sldId id="293" r:id="rId1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" Target="slides/slide1.xml"/><Relationship Id="rId75" Type="http://schemas.openxmlformats.org/officeDocument/2006/relationships/slide" Target="slides/slide2.xml"/><Relationship Id="rId76" Type="http://schemas.openxmlformats.org/officeDocument/2006/relationships/slide" Target="slides/slide3.xml"/><Relationship Id="rId77" Type="http://schemas.openxmlformats.org/officeDocument/2006/relationships/slide" Target="slides/slide4.xml"/><Relationship Id="rId78" Type="http://schemas.openxmlformats.org/officeDocument/2006/relationships/slide" Target="slides/slide5.xml"/><Relationship Id="rId79" Type="http://schemas.openxmlformats.org/officeDocument/2006/relationships/slide" Target="slides/slide6.xml"/><Relationship Id="rId80" Type="http://schemas.openxmlformats.org/officeDocument/2006/relationships/slide" Target="slides/slide7.xml"/><Relationship Id="rId81" Type="http://schemas.openxmlformats.org/officeDocument/2006/relationships/slide" Target="slides/slide8.xml"/><Relationship Id="rId82" Type="http://schemas.openxmlformats.org/officeDocument/2006/relationships/slide" Target="slides/slide9.xml"/><Relationship Id="rId83" Type="http://schemas.openxmlformats.org/officeDocument/2006/relationships/slide" Target="slides/slide10.xml"/><Relationship Id="rId84" Type="http://schemas.openxmlformats.org/officeDocument/2006/relationships/slide" Target="slides/slide11.xml"/><Relationship Id="rId85" Type="http://schemas.openxmlformats.org/officeDocument/2006/relationships/slide" Target="slides/slide12.xml"/><Relationship Id="rId86" Type="http://schemas.openxmlformats.org/officeDocument/2006/relationships/slide" Target="slides/slide13.xml"/><Relationship Id="rId87" Type="http://schemas.openxmlformats.org/officeDocument/2006/relationships/slide" Target="slides/slide14.xml"/><Relationship Id="rId88" Type="http://schemas.openxmlformats.org/officeDocument/2006/relationships/slide" Target="slides/slide15.xml"/><Relationship Id="rId89" Type="http://schemas.openxmlformats.org/officeDocument/2006/relationships/slide" Target="slides/slide16.xml"/><Relationship Id="rId90" Type="http://schemas.openxmlformats.org/officeDocument/2006/relationships/slide" Target="slides/slide17.xml"/><Relationship Id="rId91" Type="http://schemas.openxmlformats.org/officeDocument/2006/relationships/slide" Target="slides/slide18.xml"/><Relationship Id="rId92" Type="http://schemas.openxmlformats.org/officeDocument/2006/relationships/slide" Target="slides/slide19.xml"/><Relationship Id="rId93" Type="http://schemas.openxmlformats.org/officeDocument/2006/relationships/slide" Target="slides/slide20.xml"/><Relationship Id="rId94" Type="http://schemas.openxmlformats.org/officeDocument/2006/relationships/slide" Target="slides/slide21.xml"/><Relationship Id="rId95" Type="http://schemas.openxmlformats.org/officeDocument/2006/relationships/slide" Target="slides/slide22.xml"/><Relationship Id="rId96" Type="http://schemas.openxmlformats.org/officeDocument/2006/relationships/slide" Target="slides/slide23.xml"/><Relationship Id="rId97" Type="http://schemas.openxmlformats.org/officeDocument/2006/relationships/slide" Target="slides/slide24.xml"/><Relationship Id="rId98" Type="http://schemas.openxmlformats.org/officeDocument/2006/relationships/slide" Target="slides/slide25.xml"/><Relationship Id="rId99" Type="http://schemas.openxmlformats.org/officeDocument/2006/relationships/slide" Target="slides/slide26.xml"/><Relationship Id="rId100" Type="http://schemas.openxmlformats.org/officeDocument/2006/relationships/slide" Target="slides/slide27.xml"/><Relationship Id="rId101" Type="http://schemas.openxmlformats.org/officeDocument/2006/relationships/slide" Target="slides/slide28.xml"/><Relationship Id="rId102" Type="http://schemas.openxmlformats.org/officeDocument/2006/relationships/slide" Target="slides/slide29.xml"/><Relationship Id="rId103" Type="http://schemas.openxmlformats.org/officeDocument/2006/relationships/slide" Target="slides/slide30.xml"/><Relationship Id="rId104" Type="http://schemas.openxmlformats.org/officeDocument/2006/relationships/slide" Target="slides/slide31.xml"/><Relationship Id="rId105" Type="http://schemas.openxmlformats.org/officeDocument/2006/relationships/slide" Target="slides/slide32.xml"/><Relationship Id="rId106" Type="http://schemas.openxmlformats.org/officeDocument/2006/relationships/slide" Target="slides/slide33.xml"/><Relationship Id="rId107" Type="http://schemas.openxmlformats.org/officeDocument/2006/relationships/slide" Target="slides/slide34.xml"/><Relationship Id="rId108" Type="http://schemas.openxmlformats.org/officeDocument/2006/relationships/slide" Target="slides/slide35.xml"/><Relationship Id="rId109" Type="http://schemas.openxmlformats.org/officeDocument/2006/relationships/slide" Target="slides/slide36.xml"/><Relationship Id="rId110" Type="http://schemas.openxmlformats.org/officeDocument/2006/relationships/slide" Target="slides/slide37.xml"/><Relationship Id="rId111" Type="http://schemas.openxmlformats.org/officeDocument/2006/relationships/slide" Target="slides/slide38.xml"/><Relationship Id="rId1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2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2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2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slideLayout" Target="../slideLayouts/slideLayout2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2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2.jpeg"/><Relationship Id="rId3" Type="http://schemas.openxmlformats.org/officeDocument/2006/relationships/image" Target="../media/image39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2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2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5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slideLayout" Target="../slideLayouts/slideLayout6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slideLayout" Target="../slideLayouts/slideLayout6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slideLayout" Target="../slideLayouts/slideLayout6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6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jpeg"/><Relationship Id="rId3" Type="http://schemas.openxmlformats.org/officeDocument/2006/relationships/image" Target="../media/image66.jpeg"/><Relationship Id="rId4" Type="http://schemas.openxmlformats.org/officeDocument/2006/relationships/image" Target="../media/image67.png"/><Relationship Id="rId5" Type="http://schemas.openxmlformats.org/officeDocument/2006/relationships/image" Target="../media/image1.png"/><Relationship Id="rId6" Type="http://schemas.openxmlformats.org/officeDocument/2006/relationships/image" Target="../media/image2.jpeg"/><Relationship Id="rId7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58680" y="10332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345" name="" descr=""/>
          <p:cNvPicPr/>
          <p:nvPr/>
        </p:nvPicPr>
        <p:blipFill>
          <a:blip r:embed="rId2"/>
          <a:stretch/>
        </p:blipFill>
        <p:spPr>
          <a:xfrm>
            <a:off x="8137440" y="81000"/>
            <a:ext cx="1918440" cy="533880"/>
          </a:xfrm>
          <a:prstGeom prst="rect">
            <a:avLst/>
          </a:prstGeom>
          <a:ln w="0">
            <a:noFill/>
          </a:ln>
        </p:spPr>
      </p:pic>
      <p:sp>
        <p:nvSpPr>
          <p:cNvPr id="346" name="CustomShape 2"/>
          <p:cNvSpPr/>
          <p:nvPr/>
        </p:nvSpPr>
        <p:spPr>
          <a:xfrm>
            <a:off x="7189920" y="5351400"/>
            <a:ext cx="2932560" cy="288000"/>
          </a:xfrm>
          <a:custGeom>
            <a:avLst/>
            <a:gdLst>
              <a:gd name="textAreaLeft" fmla="*/ 0 w 2932560"/>
              <a:gd name="textAreaRight" fmla="*/ 2934360 w 2932560"/>
              <a:gd name="textAreaTop" fmla="*/ 0 h 288000"/>
              <a:gd name="textAreaBottom" fmla="*/ 289800 h 288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Image adapted from McInnes et al. 2018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3"/>
          <a:stretch/>
        </p:blipFill>
        <p:spPr>
          <a:xfrm>
            <a:off x="1295280" y="1706400"/>
            <a:ext cx="6836400" cy="3575880"/>
          </a:xfrm>
          <a:prstGeom prst="rect">
            <a:avLst/>
          </a:prstGeom>
          <a:ln w="0">
            <a:noFill/>
          </a:ln>
        </p:spPr>
      </p:pic>
      <p:sp>
        <p:nvSpPr>
          <p:cNvPr id="348" name="CustomShape 3"/>
          <p:cNvSpPr/>
          <p:nvPr/>
        </p:nvSpPr>
        <p:spPr>
          <a:xfrm>
            <a:off x="8508960" y="2316240"/>
            <a:ext cx="1342080" cy="283320"/>
          </a:xfrm>
          <a:custGeom>
            <a:avLst/>
            <a:gdLst>
              <a:gd name="textAreaLeft" fmla="*/ 0 w 1342080"/>
              <a:gd name="textAreaRight" fmla="*/ 1343880 w 1342080"/>
              <a:gd name="textAreaTop" fmla="*/ 0 h 283320"/>
              <a:gd name="textAreaBottom" fmla="*/ 285120 h 283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@NikolayOskolkov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4"/>
          <a:srcRect l="0" t="18655" r="0" b="20725"/>
          <a:stretch/>
        </p:blipFill>
        <p:spPr>
          <a:xfrm>
            <a:off x="8139240" y="1665360"/>
            <a:ext cx="1873800" cy="635760"/>
          </a:xfrm>
          <a:prstGeom prst="rect">
            <a:avLst/>
          </a:prstGeom>
          <a:ln w="0">
            <a:noFill/>
          </a:ln>
        </p:spPr>
      </p:pic>
      <p:sp>
        <p:nvSpPr>
          <p:cNvPr id="350" name="CustomShape 4"/>
          <p:cNvSpPr/>
          <p:nvPr/>
        </p:nvSpPr>
        <p:spPr>
          <a:xfrm>
            <a:off x="8302680" y="4960800"/>
            <a:ext cx="1764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Personal homepage: 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https://nikolay-oskolkov.com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5"/>
          <a:srcRect l="11567" t="14531" r="7772" b="12490"/>
          <a:stretch/>
        </p:blipFill>
        <p:spPr>
          <a:xfrm>
            <a:off x="8690040" y="4021200"/>
            <a:ext cx="1002240" cy="907200"/>
          </a:xfrm>
          <a:prstGeom prst="rect">
            <a:avLst/>
          </a:prstGeom>
          <a:ln w="0">
            <a:noFill/>
          </a:ln>
        </p:spPr>
      </p:pic>
      <p:sp>
        <p:nvSpPr>
          <p:cNvPr id="352" name="CustomShape 5"/>
          <p:cNvSpPr/>
          <p:nvPr/>
        </p:nvSpPr>
        <p:spPr>
          <a:xfrm>
            <a:off x="8373960" y="3578400"/>
            <a:ext cx="1607400" cy="228960"/>
          </a:xfrm>
          <a:custGeom>
            <a:avLst/>
            <a:gdLst>
              <a:gd name="textAreaLeft" fmla="*/ 0 w 1607400"/>
              <a:gd name="textAreaRight" fmla="*/ 1609200 w 1607400"/>
              <a:gd name="textAreaTop" fmla="*/ 0 h 228960"/>
              <a:gd name="textAreaBottom" fmla="*/ 230760 h 228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@oskolkov.bsky.social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6"/>
          <a:stretch/>
        </p:blipFill>
        <p:spPr>
          <a:xfrm>
            <a:off x="8705880" y="2673360"/>
            <a:ext cx="908640" cy="897480"/>
          </a:xfrm>
          <a:prstGeom prst="rect">
            <a:avLst/>
          </a:prstGeom>
          <a:ln w="0">
            <a:noFill/>
          </a:ln>
        </p:spPr>
      </p:pic>
      <p:sp>
        <p:nvSpPr>
          <p:cNvPr id="354" name=""/>
          <p:cNvSpPr/>
          <p:nvPr/>
        </p:nvSpPr>
        <p:spPr>
          <a:xfrm>
            <a:off x="1571760" y="708840"/>
            <a:ext cx="69706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84600" bIns="45000" anchor="t">
            <a:noAutofit/>
          </a:bodyPr>
          <a:p>
            <a:pPr algn="ctr">
              <a:lnSpc>
                <a:spcPct val="87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Dimension reduction with tSNE and UMAP for PopGen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MRG Group Leader, NIRI, Riga, Latvia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326880" y="1646280"/>
            <a:ext cx="9416160" cy="1622880"/>
          </a:xfrm>
          <a:custGeom>
            <a:avLst/>
            <a:gdLst>
              <a:gd name="textAreaLeft" fmla="*/ 0 w 9416160"/>
              <a:gd name="textAreaRight" fmla="*/ 9417960 w 9416160"/>
              <a:gd name="textAreaTop" fmla="*/ 0 h 1622880"/>
              <a:gd name="textAreaBottom" fmla="*/ 1624680 h 162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Dimensionality reduction</a:t>
            </a: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is also supposed to ... reduce dimensions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pic>
        <p:nvPicPr>
          <p:cNvPr id="357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" descr=""/>
          <p:cNvPicPr/>
          <p:nvPr/>
        </p:nvPicPr>
        <p:blipFill>
          <a:blip r:embed="rId1"/>
          <a:srcRect l="22476" t="28504" r="21276" b="24556"/>
          <a:stretch/>
        </p:blipFill>
        <p:spPr>
          <a:xfrm>
            <a:off x="1025640" y="1965240"/>
            <a:ext cx="7769880" cy="3336120"/>
          </a:xfrm>
          <a:prstGeom prst="rect">
            <a:avLst/>
          </a:prstGeom>
          <a:ln w="0">
            <a:noFill/>
          </a:ln>
        </p:spPr>
      </p:pic>
      <p:sp>
        <p:nvSpPr>
          <p:cNvPr id="359" name="CustomShape 1"/>
          <p:cNvSpPr/>
          <p:nvPr/>
        </p:nvSpPr>
        <p:spPr>
          <a:xfrm>
            <a:off x="1393560" y="-12600"/>
            <a:ext cx="6809400" cy="342000"/>
          </a:xfrm>
          <a:custGeom>
            <a:avLst/>
            <a:gdLst>
              <a:gd name="textAreaLeft" fmla="*/ 0 w 6809400"/>
              <a:gd name="textAreaRight" fmla="*/ 6811200 w 6809400"/>
              <a:gd name="textAreaTop" fmla="*/ 0 h 342000"/>
              <a:gd name="textAreaBottom" fmla="*/ 343800 h 342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Dimension reduction</a:t>
            </a: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roid Sans Fallback"/>
              </a:rPr>
              <a:t>: more than visualization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1344600" y="5322960"/>
            <a:ext cx="7238160" cy="257760"/>
          </a:xfrm>
          <a:custGeom>
            <a:avLst/>
            <a:gdLst>
              <a:gd name="textAreaLeft" fmla="*/ 0 w 7238160"/>
              <a:gd name="textAreaRight" fmla="*/ 7239960 w 7238160"/>
              <a:gd name="textAreaTop" fmla="*/ 0 h 257760"/>
              <a:gd name="textAreaBottom" fmla="*/ 259560 h 257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1400" spc="-1" strike="noStrike">
                <a:solidFill>
                  <a:srgbClr val="ff0000"/>
                </a:solidFill>
                <a:latin typeface="Arial"/>
                <a:ea typeface="Droid Sans Fallback"/>
              </a:rPr>
              <a:t>The goal of dimension reduction is not only visualization but also </a:t>
            </a:r>
            <a:r>
              <a:rPr b="1" lang="en-US" sz="1400" spc="-1" strike="noStrike" u="sng">
                <a:solidFill>
                  <a:srgbClr val="ff0000"/>
                </a:solidFill>
                <a:uFillTx/>
                <a:latin typeface="Arial"/>
                <a:ea typeface="Droid Sans Fallback"/>
              </a:rPr>
              <a:t>reducing dimensions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2"/>
          <a:stretch/>
        </p:blipFill>
        <p:spPr>
          <a:xfrm>
            <a:off x="3586320" y="466560"/>
            <a:ext cx="2831040" cy="1450080"/>
          </a:xfrm>
          <a:prstGeom prst="rect">
            <a:avLst/>
          </a:prstGeom>
          <a:ln w="0">
            <a:noFill/>
          </a:ln>
        </p:spPr>
      </p:pic>
      <p:sp>
        <p:nvSpPr>
          <p:cNvPr id="362" name="CustomShape 3"/>
          <p:cNvSpPr/>
          <p:nvPr/>
        </p:nvSpPr>
        <p:spPr>
          <a:xfrm flipH="1" rot="16200000">
            <a:off x="6581520" y="865080"/>
            <a:ext cx="934200" cy="1121400"/>
          </a:xfrm>
          <a:custGeom>
            <a:avLst/>
            <a:gdLst>
              <a:gd name="textAreaLeft" fmla="*/ -1080 w 934200"/>
              <a:gd name="textAreaRight" fmla="*/ 934920 w 934200"/>
              <a:gd name="textAreaTop" fmla="*/ 0 h 1121400"/>
              <a:gd name="textAreaBottom" fmla="*/ 1123200 h 1121400"/>
            </a:gdLst>
            <a:ahLst/>
            <a:rect l="textAreaLeft" t="textAreaTop" r="textAreaRight" b="textAreaBottom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3" name="CustomShape 4"/>
          <p:cNvSpPr/>
          <p:nvPr/>
        </p:nvSpPr>
        <p:spPr>
          <a:xfrm rot="5340000">
            <a:off x="2631960" y="875520"/>
            <a:ext cx="870480" cy="1123200"/>
          </a:xfrm>
          <a:custGeom>
            <a:avLst/>
            <a:gdLst>
              <a:gd name="textAreaLeft" fmla="*/ 0 w 870480"/>
              <a:gd name="textAreaRight" fmla="*/ 872280 w 870480"/>
              <a:gd name="textAreaTop" fmla="*/ 0 h 1123200"/>
              <a:gd name="textAreaBottom" fmla="*/ 1125000 h 1123200"/>
            </a:gdLst>
            <a:ahLst/>
            <a:rect l="textAreaLeft" t="textAreaTop" r="textAreaRight" b="textAreaBottom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64" name="" descr=""/>
          <p:cNvPicPr/>
          <p:nvPr/>
        </p:nvPicPr>
        <p:blipFill>
          <a:blip r:embed="rId3"/>
          <a:stretch/>
        </p:blipFill>
        <p:spPr>
          <a:xfrm>
            <a:off x="58680" y="10332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365" name="" descr=""/>
          <p:cNvPicPr/>
          <p:nvPr/>
        </p:nvPicPr>
        <p:blipFill>
          <a:blip r:embed="rId4"/>
          <a:stretch/>
        </p:blipFill>
        <p:spPr>
          <a:xfrm>
            <a:off x="8137440" y="81000"/>
            <a:ext cx="1918440" cy="5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>
                      <p:stCondLst>
                        <p:cond delay="indefinite"/>
                      </p:stCondLst>
                      <p:childTnLst>
                        <p:par>
                          <p:cTn id="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1269720" y="1646280"/>
            <a:ext cx="7515000" cy="1622880"/>
          </a:xfrm>
          <a:custGeom>
            <a:avLst/>
            <a:gdLst>
              <a:gd name="textAreaLeft" fmla="*/ 0 w 7515000"/>
              <a:gd name="textAreaRight" fmla="*/ 7516800 w 7515000"/>
              <a:gd name="textAreaTop" fmla="*/ 0 h 1622880"/>
              <a:gd name="textAreaBottom" fmla="*/ 1624680 h 162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Dimension reduction techniques: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linear vs. non-linear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pic>
        <p:nvPicPr>
          <p:cNvPr id="368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58680" y="4140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370" name="" descr=""/>
          <p:cNvPicPr/>
          <p:nvPr/>
        </p:nvPicPr>
        <p:blipFill>
          <a:blip r:embed="rId2"/>
          <a:srcRect l="15628" t="854" r="15821" b="8150"/>
          <a:stretch/>
        </p:blipFill>
        <p:spPr>
          <a:xfrm>
            <a:off x="1328760" y="420840"/>
            <a:ext cx="6950880" cy="5190120"/>
          </a:xfrm>
          <a:prstGeom prst="rect">
            <a:avLst/>
          </a:prstGeom>
          <a:ln w="0">
            <a:noFill/>
          </a:ln>
        </p:spPr>
      </p:pic>
      <p:sp>
        <p:nvSpPr>
          <p:cNvPr id="371" name="CustomShape 1"/>
          <p:cNvSpPr/>
          <p:nvPr/>
        </p:nvSpPr>
        <p:spPr>
          <a:xfrm>
            <a:off x="2111400" y="-23760"/>
            <a:ext cx="5255280" cy="45468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Linear dimensionality reduction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" descr=""/>
          <p:cNvPicPr/>
          <p:nvPr/>
        </p:nvPicPr>
        <p:blipFill>
          <a:blip r:embed="rId3"/>
          <a:stretch/>
        </p:blipFill>
        <p:spPr>
          <a:xfrm>
            <a:off x="7954920" y="190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373" name="CustomShape 2"/>
          <p:cNvSpPr/>
          <p:nvPr/>
        </p:nvSpPr>
        <p:spPr>
          <a:xfrm>
            <a:off x="8058240" y="5276880"/>
            <a:ext cx="2050200" cy="370440"/>
          </a:xfrm>
          <a:custGeom>
            <a:avLst/>
            <a:gdLst>
              <a:gd name="textAreaLeft" fmla="*/ 0 w 2050200"/>
              <a:gd name="textAreaRight" fmla="*/ 2052000 w 2050200"/>
              <a:gd name="textAreaTop" fmla="*/ 0 h 370440"/>
              <a:gd name="textAreaBottom" fmla="*/ 372240 h 370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M. Bartoschek, N. Oskolkov et al.,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Nature Communications 2018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7954920" y="190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375" name="CustomShape 1"/>
          <p:cNvSpPr/>
          <p:nvPr/>
        </p:nvSpPr>
        <p:spPr>
          <a:xfrm>
            <a:off x="2108160" y="-7920"/>
            <a:ext cx="5255280" cy="45468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Non-linear dimensionality reduction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2"/>
          <a:srcRect l="16128" t="1505" r="15821" b="7706"/>
          <a:stretch/>
        </p:blipFill>
        <p:spPr>
          <a:xfrm>
            <a:off x="1281240" y="439560"/>
            <a:ext cx="6874560" cy="5158800"/>
          </a:xfrm>
          <a:prstGeom prst="rect">
            <a:avLst/>
          </a:prstGeom>
          <a:ln w="0">
            <a:noFill/>
          </a:ln>
        </p:spPr>
      </p:pic>
      <p:sp>
        <p:nvSpPr>
          <p:cNvPr id="377" name="CustomShape 2"/>
          <p:cNvSpPr/>
          <p:nvPr/>
        </p:nvSpPr>
        <p:spPr>
          <a:xfrm>
            <a:off x="8059680" y="5276880"/>
            <a:ext cx="2050200" cy="370440"/>
          </a:xfrm>
          <a:custGeom>
            <a:avLst/>
            <a:gdLst>
              <a:gd name="textAreaLeft" fmla="*/ 0 w 2050200"/>
              <a:gd name="textAreaRight" fmla="*/ 2052000 w 2050200"/>
              <a:gd name="textAreaTop" fmla="*/ 0 h 370440"/>
              <a:gd name="textAreaBottom" fmla="*/ 372240 h 370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M. Bartoschek, N. Oskolkov et al.,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Nature Communications 2018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3"/>
          <a:stretch/>
        </p:blipFill>
        <p:spPr>
          <a:xfrm>
            <a:off x="58680" y="41400"/>
            <a:ext cx="1275480" cy="44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9212400" y="1549440"/>
            <a:ext cx="532440" cy="486360"/>
          </a:xfrm>
          <a:custGeom>
            <a:avLst/>
            <a:gdLst>
              <a:gd name="textAreaLeft" fmla="*/ 0 w 532440"/>
              <a:gd name="textAreaRight" fmla="*/ 534240 w 53244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0" name="Group 2"/>
          <p:cNvGrpSpPr/>
          <p:nvPr/>
        </p:nvGrpSpPr>
        <p:grpSpPr>
          <a:xfrm>
            <a:off x="766800" y="1515960"/>
            <a:ext cx="2160720" cy="2119320"/>
            <a:chOff x="766800" y="1515960"/>
            <a:chExt cx="2160720" cy="2119320"/>
          </a:xfrm>
        </p:grpSpPr>
        <p:sp>
          <p:nvSpPr>
            <p:cNvPr id="381" name="CustomShape 3"/>
            <p:cNvSpPr/>
            <p:nvPr/>
          </p:nvSpPr>
          <p:spPr>
            <a:xfrm>
              <a:off x="766800" y="1517760"/>
              <a:ext cx="2158200" cy="2115000"/>
            </a:xfrm>
            <a:prstGeom prst="rect">
              <a:avLst/>
            </a:prstGeom>
            <a:solidFill>
              <a:srgbClr val="729fcf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2" name="Line 4"/>
            <p:cNvSpPr/>
            <p:nvPr/>
          </p:nvSpPr>
          <p:spPr>
            <a:xfrm>
              <a:off x="766800" y="173196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3" name="Line 5"/>
            <p:cNvSpPr/>
            <p:nvPr/>
          </p:nvSpPr>
          <p:spPr>
            <a:xfrm>
              <a:off x="766800" y="195732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4" name="Line 6"/>
            <p:cNvSpPr/>
            <p:nvPr/>
          </p:nvSpPr>
          <p:spPr>
            <a:xfrm>
              <a:off x="766800" y="218448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5" name="Line 7"/>
            <p:cNvSpPr/>
            <p:nvPr/>
          </p:nvSpPr>
          <p:spPr>
            <a:xfrm>
              <a:off x="766800" y="240840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6" name="Line 8"/>
            <p:cNvSpPr/>
            <p:nvPr/>
          </p:nvSpPr>
          <p:spPr>
            <a:xfrm>
              <a:off x="766800" y="266220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7" name="Line 9"/>
            <p:cNvSpPr/>
            <p:nvPr/>
          </p:nvSpPr>
          <p:spPr>
            <a:xfrm>
              <a:off x="766800" y="291636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8" name="Line 10"/>
            <p:cNvSpPr/>
            <p:nvPr/>
          </p:nvSpPr>
          <p:spPr>
            <a:xfrm>
              <a:off x="766800" y="317016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9" name="Line 11"/>
            <p:cNvSpPr/>
            <p:nvPr/>
          </p:nvSpPr>
          <p:spPr>
            <a:xfrm>
              <a:off x="766800" y="3424320"/>
              <a:ext cx="216072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0" name="Line 12"/>
            <p:cNvSpPr/>
            <p:nvPr/>
          </p:nvSpPr>
          <p:spPr>
            <a:xfrm>
              <a:off x="104148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1" name="Line 13"/>
            <p:cNvSpPr/>
            <p:nvPr/>
          </p:nvSpPr>
          <p:spPr>
            <a:xfrm>
              <a:off x="136512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2" name="Line 14"/>
            <p:cNvSpPr/>
            <p:nvPr/>
          </p:nvSpPr>
          <p:spPr>
            <a:xfrm>
              <a:off x="168912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" name="Line 15"/>
            <p:cNvSpPr/>
            <p:nvPr/>
          </p:nvSpPr>
          <p:spPr>
            <a:xfrm>
              <a:off x="201456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4" name="Line 16"/>
            <p:cNvSpPr/>
            <p:nvPr/>
          </p:nvSpPr>
          <p:spPr>
            <a:xfrm>
              <a:off x="233856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5" name="Line 17"/>
            <p:cNvSpPr/>
            <p:nvPr/>
          </p:nvSpPr>
          <p:spPr>
            <a:xfrm>
              <a:off x="266220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96" name="Group 18"/>
          <p:cNvGrpSpPr/>
          <p:nvPr/>
        </p:nvGrpSpPr>
        <p:grpSpPr>
          <a:xfrm>
            <a:off x="6996240" y="1552680"/>
            <a:ext cx="2160360" cy="655560"/>
            <a:chOff x="6996240" y="1552680"/>
            <a:chExt cx="2160360" cy="655560"/>
          </a:xfrm>
        </p:grpSpPr>
        <p:sp>
          <p:nvSpPr>
            <p:cNvPr id="397" name="CustomShape 19"/>
            <p:cNvSpPr/>
            <p:nvPr/>
          </p:nvSpPr>
          <p:spPr>
            <a:xfrm>
              <a:off x="6996240" y="1552680"/>
              <a:ext cx="2157840" cy="653040"/>
            </a:xfrm>
            <a:prstGeom prst="rect">
              <a:avLst/>
            </a:prstGeom>
            <a:solidFill>
              <a:srgbClr val="228b22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98" name="Line 20"/>
            <p:cNvSpPr/>
            <p:nvPr/>
          </p:nvSpPr>
          <p:spPr>
            <a:xfrm>
              <a:off x="6996240" y="1782720"/>
              <a:ext cx="216036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9" name="Line 21"/>
            <p:cNvSpPr/>
            <p:nvPr/>
          </p:nvSpPr>
          <p:spPr>
            <a:xfrm>
              <a:off x="6996240" y="2022480"/>
              <a:ext cx="216036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0" name="Line 22"/>
            <p:cNvSpPr/>
            <p:nvPr/>
          </p:nvSpPr>
          <p:spPr>
            <a:xfrm>
              <a:off x="7269120" y="1552680"/>
              <a:ext cx="360" cy="6555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1" name="Line 23"/>
            <p:cNvSpPr/>
            <p:nvPr/>
          </p:nvSpPr>
          <p:spPr>
            <a:xfrm>
              <a:off x="7594560" y="1552680"/>
              <a:ext cx="360" cy="6555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2" name="Line 24"/>
            <p:cNvSpPr/>
            <p:nvPr/>
          </p:nvSpPr>
          <p:spPr>
            <a:xfrm>
              <a:off x="7918560" y="1552680"/>
              <a:ext cx="360" cy="6555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3" name="Line 25"/>
            <p:cNvSpPr/>
            <p:nvPr/>
          </p:nvSpPr>
          <p:spPr>
            <a:xfrm>
              <a:off x="8242200" y="1552680"/>
              <a:ext cx="360" cy="6555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4" name="Line 26"/>
            <p:cNvSpPr/>
            <p:nvPr/>
          </p:nvSpPr>
          <p:spPr>
            <a:xfrm>
              <a:off x="8566200" y="1552680"/>
              <a:ext cx="360" cy="6555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5" name="Line 27"/>
            <p:cNvSpPr/>
            <p:nvPr/>
          </p:nvSpPr>
          <p:spPr>
            <a:xfrm>
              <a:off x="8889840" y="1552680"/>
              <a:ext cx="360" cy="6555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06" name="Group 28"/>
          <p:cNvGrpSpPr/>
          <p:nvPr/>
        </p:nvGrpSpPr>
        <p:grpSpPr>
          <a:xfrm>
            <a:off x="4727520" y="1515960"/>
            <a:ext cx="919080" cy="2119320"/>
            <a:chOff x="4727520" y="1515960"/>
            <a:chExt cx="919080" cy="2119320"/>
          </a:xfrm>
        </p:grpSpPr>
        <p:sp>
          <p:nvSpPr>
            <p:cNvPr id="407" name="CustomShape 29"/>
            <p:cNvSpPr/>
            <p:nvPr/>
          </p:nvSpPr>
          <p:spPr>
            <a:xfrm>
              <a:off x="4727520" y="1517760"/>
              <a:ext cx="916560" cy="2115000"/>
            </a:xfrm>
            <a:prstGeom prst="rect">
              <a:avLst/>
            </a:prstGeom>
            <a:solidFill>
              <a:srgbClr val="bc312e"/>
            </a:solidFill>
            <a:ln w="936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08" name="Line 30"/>
            <p:cNvSpPr/>
            <p:nvPr/>
          </p:nvSpPr>
          <p:spPr>
            <a:xfrm>
              <a:off x="4727520" y="173196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9" name="Line 31"/>
            <p:cNvSpPr/>
            <p:nvPr/>
          </p:nvSpPr>
          <p:spPr>
            <a:xfrm>
              <a:off x="4727520" y="195732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0" name="Line 32"/>
            <p:cNvSpPr/>
            <p:nvPr/>
          </p:nvSpPr>
          <p:spPr>
            <a:xfrm>
              <a:off x="4727520" y="218448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1" name="Line 33"/>
            <p:cNvSpPr/>
            <p:nvPr/>
          </p:nvSpPr>
          <p:spPr>
            <a:xfrm>
              <a:off x="4727520" y="240840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" name="Line 34"/>
            <p:cNvSpPr/>
            <p:nvPr/>
          </p:nvSpPr>
          <p:spPr>
            <a:xfrm>
              <a:off x="4727520" y="266220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3" name="Line 35"/>
            <p:cNvSpPr/>
            <p:nvPr/>
          </p:nvSpPr>
          <p:spPr>
            <a:xfrm>
              <a:off x="4727520" y="291636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4" name="Line 36"/>
            <p:cNvSpPr/>
            <p:nvPr/>
          </p:nvSpPr>
          <p:spPr>
            <a:xfrm>
              <a:off x="4727520" y="317016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5" name="Line 37"/>
            <p:cNvSpPr/>
            <p:nvPr/>
          </p:nvSpPr>
          <p:spPr>
            <a:xfrm>
              <a:off x="4727520" y="3424320"/>
              <a:ext cx="91908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6" name="Line 38"/>
            <p:cNvSpPr/>
            <p:nvPr/>
          </p:nvSpPr>
          <p:spPr>
            <a:xfrm>
              <a:off x="500220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7" name="Line 39"/>
            <p:cNvSpPr/>
            <p:nvPr/>
          </p:nvSpPr>
          <p:spPr>
            <a:xfrm>
              <a:off x="5326200" y="1515960"/>
              <a:ext cx="360" cy="2119320"/>
            </a:xfrm>
            <a:prstGeom prst="line">
              <a:avLst/>
            </a:prstGeom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18" name="CustomShape 40"/>
          <p:cNvSpPr/>
          <p:nvPr/>
        </p:nvSpPr>
        <p:spPr>
          <a:xfrm>
            <a:off x="3308400" y="2124000"/>
            <a:ext cx="627840" cy="766080"/>
          </a:xfrm>
          <a:custGeom>
            <a:avLst/>
            <a:gdLst>
              <a:gd name="textAreaLeft" fmla="*/ 0 w 627840"/>
              <a:gd name="textAreaRight" fmla="*/ 629640 w 627840"/>
              <a:gd name="textAreaTop" fmla="*/ 0 h 766080"/>
              <a:gd name="textAreaBottom" fmla="*/ 767880 h 7660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0" lang="en-US" sz="6600" spc="-1" strike="noStrike">
                <a:solidFill>
                  <a:srgbClr val="000000"/>
                </a:solidFill>
                <a:latin typeface="Arial"/>
                <a:ea typeface="Arial"/>
              </a:rPr>
              <a:t>≈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ustomShape 41"/>
          <p:cNvSpPr/>
          <p:nvPr/>
        </p:nvSpPr>
        <p:spPr>
          <a:xfrm>
            <a:off x="6116760" y="1476360"/>
            <a:ext cx="448200" cy="486360"/>
          </a:xfrm>
          <a:custGeom>
            <a:avLst/>
            <a:gdLst>
              <a:gd name="textAreaLeft" fmla="*/ 0 w 448200"/>
              <a:gd name="textAreaRight" fmla="*/ 450000 w 44820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x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ustomShape 42"/>
          <p:cNvSpPr/>
          <p:nvPr/>
        </p:nvSpPr>
        <p:spPr>
          <a:xfrm>
            <a:off x="176040" y="2151000"/>
            <a:ext cx="532800" cy="486360"/>
          </a:xfrm>
          <a:custGeom>
            <a:avLst/>
            <a:gdLst>
              <a:gd name="textAreaLeft" fmla="*/ 0 w 532800"/>
              <a:gd name="textAreaRight" fmla="*/ 534600 w 53280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43"/>
          <p:cNvSpPr/>
          <p:nvPr/>
        </p:nvSpPr>
        <p:spPr>
          <a:xfrm>
            <a:off x="1652760" y="963720"/>
            <a:ext cx="505440" cy="486360"/>
          </a:xfrm>
          <a:custGeom>
            <a:avLst/>
            <a:gdLst>
              <a:gd name="textAreaLeft" fmla="*/ 0 w 505440"/>
              <a:gd name="textAreaRight" fmla="*/ 507240 w 50544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CustomShape 44"/>
          <p:cNvSpPr/>
          <p:nvPr/>
        </p:nvSpPr>
        <p:spPr>
          <a:xfrm>
            <a:off x="1544760" y="2043000"/>
            <a:ext cx="854640" cy="642240"/>
          </a:xfrm>
          <a:custGeom>
            <a:avLst/>
            <a:gdLst>
              <a:gd name="textAreaLeft" fmla="*/ 0 w 854640"/>
              <a:gd name="textAreaRight" fmla="*/ 856440 w 854640"/>
              <a:gd name="textAreaTop" fmla="*/ 0 h 642240"/>
              <a:gd name="textAreaBottom" fmla="*/ 644040 h 642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X</a:t>
            </a:r>
            <a:r>
              <a:rPr b="1" lang="en-US" sz="4000" spc="-1" strike="noStrike" baseline="-33000">
                <a:solidFill>
                  <a:srgbClr val="000000"/>
                </a:solidFill>
                <a:latin typeface="Arial"/>
                <a:ea typeface="Arial"/>
              </a:rPr>
              <a:t>ij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ustomShape 45"/>
          <p:cNvSpPr/>
          <p:nvPr/>
        </p:nvSpPr>
        <p:spPr>
          <a:xfrm>
            <a:off x="4892760" y="2043000"/>
            <a:ext cx="854640" cy="642240"/>
          </a:xfrm>
          <a:custGeom>
            <a:avLst/>
            <a:gdLst>
              <a:gd name="textAreaLeft" fmla="*/ 0 w 854640"/>
              <a:gd name="textAreaRight" fmla="*/ 856440 w 854640"/>
              <a:gd name="textAreaTop" fmla="*/ 0 h 642240"/>
              <a:gd name="textAreaBottom" fmla="*/ 644040 h 642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U</a:t>
            </a:r>
            <a:r>
              <a:rPr b="1" lang="en-US" sz="4000" spc="-1" strike="noStrike" baseline="-33000">
                <a:solidFill>
                  <a:srgbClr val="000000"/>
                </a:solidFill>
                <a:latin typeface="Arial"/>
                <a:ea typeface="Arial"/>
              </a:rPr>
              <a:t>ik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CustomShape 46"/>
          <p:cNvSpPr/>
          <p:nvPr/>
        </p:nvSpPr>
        <p:spPr>
          <a:xfrm>
            <a:off x="7808760" y="1457280"/>
            <a:ext cx="855000" cy="641880"/>
          </a:xfrm>
          <a:custGeom>
            <a:avLst/>
            <a:gdLst>
              <a:gd name="textAreaLeft" fmla="*/ 0 w 855000"/>
              <a:gd name="textAreaRight" fmla="*/ 856800 w 855000"/>
              <a:gd name="textAreaTop" fmla="*/ 0 h 641880"/>
              <a:gd name="textAreaBottom" fmla="*/ 643680 h 641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V</a:t>
            </a:r>
            <a:r>
              <a:rPr b="1" lang="en-US" sz="4000" spc="-1" strike="noStrike" baseline="-33000">
                <a:solidFill>
                  <a:srgbClr val="000000"/>
                </a:solidFill>
                <a:latin typeface="Arial"/>
                <a:ea typeface="Arial"/>
              </a:rPr>
              <a:t>kj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CustomShape 47"/>
          <p:cNvSpPr/>
          <p:nvPr/>
        </p:nvSpPr>
        <p:spPr>
          <a:xfrm>
            <a:off x="7880400" y="1000080"/>
            <a:ext cx="505440" cy="486360"/>
          </a:xfrm>
          <a:custGeom>
            <a:avLst/>
            <a:gdLst>
              <a:gd name="textAreaLeft" fmla="*/ 0 w 505440"/>
              <a:gd name="textAreaRight" fmla="*/ 507240 w 50544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CustomShape 48"/>
          <p:cNvSpPr/>
          <p:nvPr/>
        </p:nvSpPr>
        <p:spPr>
          <a:xfrm>
            <a:off x="4172040" y="2151000"/>
            <a:ext cx="532440" cy="486360"/>
          </a:xfrm>
          <a:custGeom>
            <a:avLst/>
            <a:gdLst>
              <a:gd name="textAreaLeft" fmla="*/ 0 w 532440"/>
              <a:gd name="textAreaRight" fmla="*/ 534240 w 53244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49"/>
          <p:cNvSpPr/>
          <p:nvPr/>
        </p:nvSpPr>
        <p:spPr>
          <a:xfrm>
            <a:off x="4927680" y="963720"/>
            <a:ext cx="532440" cy="486360"/>
          </a:xfrm>
          <a:custGeom>
            <a:avLst/>
            <a:gdLst>
              <a:gd name="textAreaLeft" fmla="*/ 0 w 532440"/>
              <a:gd name="textAreaRight" fmla="*/ 534240 w 532440"/>
              <a:gd name="textAreaTop" fmla="*/ 0 h 486360"/>
              <a:gd name="textAreaBottom" fmla="*/ 488160 h 486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CustomShape 50"/>
          <p:cNvSpPr/>
          <p:nvPr/>
        </p:nvSpPr>
        <p:spPr>
          <a:xfrm>
            <a:off x="1528920" y="3736800"/>
            <a:ext cx="648360" cy="250200"/>
          </a:xfrm>
          <a:custGeom>
            <a:avLst/>
            <a:gdLst>
              <a:gd name="textAreaLeft" fmla="*/ 0 w 648360"/>
              <a:gd name="textAreaRight" fmla="*/ 650160 w 648360"/>
              <a:gd name="textAreaTop" fmla="*/ 0 h 250200"/>
              <a:gd name="textAreaBottom" fmla="*/ 252000 h 250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roid Sans Fallback"/>
              </a:rPr>
              <a:t>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CustomShape 51"/>
          <p:cNvSpPr/>
          <p:nvPr/>
        </p:nvSpPr>
        <p:spPr>
          <a:xfrm>
            <a:off x="4121280" y="3691080"/>
            <a:ext cx="2130840" cy="637200"/>
          </a:xfrm>
          <a:custGeom>
            <a:avLst/>
            <a:gdLst>
              <a:gd name="textAreaLeft" fmla="*/ 0 w 2130840"/>
              <a:gd name="textAreaRight" fmla="*/ 2132640 w 2130840"/>
              <a:gd name="textAreaTop" fmla="*/ 0 h 637200"/>
              <a:gd name="textAreaBottom" fmla="*/ 639000 h 637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roid Sans Fallback"/>
              </a:rPr>
              <a:t>Low-dimensional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roid Sans Fallback"/>
              </a:rPr>
              <a:t>data representation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roid Sans Fallback"/>
              </a:rPr>
              <a:t>(embeddings)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CustomShape 52"/>
          <p:cNvSpPr/>
          <p:nvPr/>
        </p:nvSpPr>
        <p:spPr>
          <a:xfrm>
            <a:off x="7605720" y="2266920"/>
            <a:ext cx="1091160" cy="249840"/>
          </a:xfrm>
          <a:custGeom>
            <a:avLst/>
            <a:gdLst>
              <a:gd name="textAreaLeft" fmla="*/ 0 w 1091160"/>
              <a:gd name="textAreaRight" fmla="*/ 1092960 w 1091160"/>
              <a:gd name="textAreaTop" fmla="*/ 0 h 249840"/>
              <a:gd name="textAreaBottom" fmla="*/ 251640 h 249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roid Sans Fallback"/>
              </a:rPr>
              <a:t>Loadings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1" name="" descr=""/>
          <p:cNvPicPr/>
          <p:nvPr/>
        </p:nvPicPr>
        <p:blipFill>
          <a:blip r:embed="rId1"/>
          <a:srcRect l="32453" t="79850" r="29421" b="3993"/>
          <a:stretch/>
        </p:blipFill>
        <p:spPr>
          <a:xfrm>
            <a:off x="3144960" y="4610520"/>
            <a:ext cx="4253400" cy="1026360"/>
          </a:xfrm>
          <a:prstGeom prst="rect">
            <a:avLst/>
          </a:prstGeom>
          <a:ln w="0">
            <a:noFill/>
          </a:ln>
        </p:spPr>
      </p:pic>
      <p:pic>
        <p:nvPicPr>
          <p:cNvPr id="432" name="" descr=""/>
          <p:cNvPicPr/>
          <p:nvPr/>
        </p:nvPicPr>
        <p:blipFill>
          <a:blip r:embed="rId2"/>
          <a:srcRect l="43335" t="87902" r="39398" b="3993"/>
          <a:stretch/>
        </p:blipFill>
        <p:spPr>
          <a:xfrm>
            <a:off x="4022640" y="479520"/>
            <a:ext cx="2008800" cy="546840"/>
          </a:xfrm>
          <a:prstGeom prst="rect">
            <a:avLst/>
          </a:prstGeom>
          <a:ln w="0">
            <a:noFill/>
          </a:ln>
        </p:spPr>
      </p:pic>
      <p:sp>
        <p:nvSpPr>
          <p:cNvPr id="433" name="CustomShape 53"/>
          <p:cNvSpPr/>
          <p:nvPr/>
        </p:nvSpPr>
        <p:spPr>
          <a:xfrm>
            <a:off x="1431720" y="6480"/>
            <a:ext cx="6605280" cy="342000"/>
          </a:xfrm>
          <a:custGeom>
            <a:avLst/>
            <a:gdLst>
              <a:gd name="textAreaLeft" fmla="*/ 0 w 6605280"/>
              <a:gd name="textAreaRight" fmla="*/ 6607080 w 6605280"/>
              <a:gd name="textAreaTop" fmla="*/ 0 h 342000"/>
              <a:gd name="textAreaBottom" fmla="*/ 343800 h 342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Linear dimension reduction: matrix factorization</a:t>
            </a: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roid Sans Fallback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4" name="" descr=""/>
          <p:cNvPicPr/>
          <p:nvPr/>
        </p:nvPicPr>
        <p:blipFill>
          <a:blip r:embed="rId3"/>
          <a:stretch/>
        </p:blipFill>
        <p:spPr>
          <a:xfrm>
            <a:off x="58680" y="6660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435" name="" descr=""/>
          <p:cNvPicPr/>
          <p:nvPr/>
        </p:nvPicPr>
        <p:blipFill>
          <a:blip r:embed="rId4"/>
          <a:stretch/>
        </p:blipFill>
        <p:spPr>
          <a:xfrm>
            <a:off x="7954920" y="44280"/>
            <a:ext cx="2100960" cy="53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" descr=""/>
          <p:cNvPicPr/>
          <p:nvPr/>
        </p:nvPicPr>
        <p:blipFill>
          <a:blip r:embed="rId1"/>
          <a:stretch/>
        </p:blipFill>
        <p:spPr>
          <a:xfrm>
            <a:off x="8321760" y="65160"/>
            <a:ext cx="1735560" cy="533880"/>
          </a:xfrm>
          <a:prstGeom prst="rect">
            <a:avLst/>
          </a:prstGeom>
          <a:ln w="0">
            <a:noFill/>
          </a:ln>
        </p:spPr>
      </p:pic>
      <p:sp>
        <p:nvSpPr>
          <p:cNvPr id="437" name="CustomShape 1"/>
          <p:cNvSpPr/>
          <p:nvPr/>
        </p:nvSpPr>
        <p:spPr>
          <a:xfrm>
            <a:off x="2181240" y="11160"/>
            <a:ext cx="5255280" cy="45468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Non-linear dimension reduction: </a:t>
            </a:r>
            <a:br>
              <a:rPr sz="1800"/>
            </a:b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neighborhood graph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8" name="" descr=""/>
          <p:cNvPicPr/>
          <p:nvPr/>
        </p:nvPicPr>
        <p:blipFill>
          <a:blip r:embed="rId2"/>
          <a:stretch/>
        </p:blipFill>
        <p:spPr>
          <a:xfrm rot="1440000">
            <a:off x="1875240" y="1197000"/>
            <a:ext cx="2026440" cy="2420280"/>
          </a:xfrm>
          <a:prstGeom prst="rect">
            <a:avLst/>
          </a:prstGeom>
          <a:ln w="0">
            <a:noFill/>
          </a:ln>
        </p:spPr>
      </p:pic>
      <p:sp>
        <p:nvSpPr>
          <p:cNvPr id="439" name="CustomShape 2"/>
          <p:cNvSpPr/>
          <p:nvPr/>
        </p:nvSpPr>
        <p:spPr>
          <a:xfrm>
            <a:off x="1438200" y="965160"/>
            <a:ext cx="2140560" cy="316440"/>
          </a:xfrm>
          <a:custGeom>
            <a:avLst/>
            <a:gdLst>
              <a:gd name="textAreaLeft" fmla="*/ 0 w 2140560"/>
              <a:gd name="textAreaRight" fmla="*/ 2142360 w 2140560"/>
              <a:gd name="textAreaTop" fmla="*/ 0 h 316440"/>
              <a:gd name="textAreaBottom" fmla="*/ 318240 h 316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0000"/>
                </a:solidFill>
                <a:latin typeface="Arial"/>
                <a:ea typeface="DejaVu Sans"/>
              </a:rPr>
              <a:t>1) Construct high-dimensional graph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3"/>
          <a:stretch/>
        </p:blipFill>
        <p:spPr>
          <a:xfrm>
            <a:off x="60480" y="87480"/>
            <a:ext cx="1275120" cy="449640"/>
          </a:xfrm>
          <a:prstGeom prst="rect">
            <a:avLst/>
          </a:prstGeom>
          <a:ln w="0">
            <a:noFill/>
          </a:ln>
        </p:spPr>
      </p:pic>
      <p:sp>
        <p:nvSpPr>
          <p:cNvPr id="441" name="CustomShape 3"/>
          <p:cNvSpPr/>
          <p:nvPr/>
        </p:nvSpPr>
        <p:spPr>
          <a:xfrm>
            <a:off x="1168560" y="1943280"/>
            <a:ext cx="448200" cy="594360"/>
          </a:xfrm>
          <a:custGeom>
            <a:avLst/>
            <a:gdLst>
              <a:gd name="textAreaLeft" fmla="*/ 0 w 448200"/>
              <a:gd name="textAreaRight" fmla="*/ 450000 w 448200"/>
              <a:gd name="textAreaTop" fmla="*/ 0 h 594360"/>
              <a:gd name="textAreaBottom" fmla="*/ 596160 h 594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</a:t>
            </a:r>
            <a:r>
              <a:rPr b="0" lang="en-US" sz="2600" spc="-1" strike="noStrike" baseline="-33000">
                <a:solidFill>
                  <a:srgbClr val="0066cc"/>
                </a:solidFill>
                <a:latin typeface="Arial"/>
                <a:ea typeface="DejaVu Sans"/>
              </a:rPr>
              <a:t>ij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2" name="Group 4"/>
          <p:cNvGrpSpPr/>
          <p:nvPr/>
        </p:nvGrpSpPr>
        <p:grpSpPr>
          <a:xfrm>
            <a:off x="1459080" y="4079880"/>
            <a:ext cx="3705840" cy="1391400"/>
            <a:chOff x="1459080" y="4079880"/>
            <a:chExt cx="3705840" cy="1391400"/>
          </a:xfrm>
        </p:grpSpPr>
        <p:grpSp>
          <p:nvGrpSpPr>
            <p:cNvPr id="443" name="Group 5"/>
            <p:cNvGrpSpPr/>
            <p:nvPr/>
          </p:nvGrpSpPr>
          <p:grpSpPr>
            <a:xfrm>
              <a:off x="1459080" y="4079880"/>
              <a:ext cx="3020040" cy="1391400"/>
              <a:chOff x="1459080" y="4079880"/>
              <a:chExt cx="3020040" cy="1391400"/>
            </a:xfrm>
          </p:grpSpPr>
          <p:pic>
            <p:nvPicPr>
              <p:cNvPr id="444" name="" descr=""/>
              <p:cNvPicPr/>
              <p:nvPr/>
            </p:nvPicPr>
            <p:blipFill>
              <a:blip r:embed="rId4"/>
              <a:stretch/>
            </p:blipFill>
            <p:spPr>
              <a:xfrm>
                <a:off x="1752480" y="4397400"/>
                <a:ext cx="2170800" cy="10738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445" name="CustomShape 6"/>
              <p:cNvSpPr/>
              <p:nvPr/>
            </p:nvSpPr>
            <p:spPr>
              <a:xfrm>
                <a:off x="1459080" y="4664160"/>
                <a:ext cx="2885040" cy="527760"/>
              </a:xfrm>
              <a:custGeom>
                <a:avLst/>
                <a:gdLst>
                  <a:gd name="textAreaLeft" fmla="*/ 0 w 2885040"/>
                  <a:gd name="textAreaRight" fmla="*/ 2886840 w 2885040"/>
                  <a:gd name="textAreaTop" fmla="*/ 0 h 527760"/>
                  <a:gd name="textAreaBottom" fmla="*/ 529560 h 527760"/>
                </a:gdLst>
                <a:ahLst/>
                <a:rect l="textAreaLeft" t="textAreaTop" r="textAreaRight" b="textAreaBottom"/>
                <a:pathLst>
                  <a:path w="8023" h="1475">
                    <a:moveTo>
                      <a:pt x="2005" y="0"/>
                    </a:moveTo>
                    <a:lnTo>
                      <a:pt x="8022" y="0"/>
                    </a:lnTo>
                    <a:lnTo>
                      <a:pt x="6016" y="1474"/>
                    </a:lnTo>
                    <a:lnTo>
                      <a:pt x="0" y="1474"/>
                    </a:lnTo>
                    <a:lnTo>
                      <a:pt x="2005" y="0"/>
                    </a:lnTo>
                  </a:path>
                </a:pathLst>
              </a:custGeom>
              <a:noFill/>
              <a:ln w="36720">
                <a:solidFill>
                  <a:srgbClr val="3465a4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46" name="CustomShape 7"/>
              <p:cNvSpPr/>
              <p:nvPr/>
            </p:nvSpPr>
            <p:spPr>
              <a:xfrm>
                <a:off x="1525680" y="4079880"/>
                <a:ext cx="2953440" cy="265680"/>
              </a:xfrm>
              <a:custGeom>
                <a:avLst/>
                <a:gdLst>
                  <a:gd name="textAreaLeft" fmla="*/ 0 w 2953440"/>
                  <a:gd name="textAreaRight" fmla="*/ 2955240 w 2953440"/>
                  <a:gd name="textAreaTop" fmla="*/ 0 h 265680"/>
                  <a:gd name="textAreaBottom" fmla="*/ 267480 h 26568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600" spc="-1" strike="noStrike">
                    <a:solidFill>
                      <a:srgbClr val="ff0000"/>
                    </a:solidFill>
                    <a:latin typeface="Arial"/>
                    <a:ea typeface="DejaVu Sans"/>
                  </a:rPr>
                  <a:t>2) Construct low-dimensional graph</a:t>
                </a:r>
                <a:endParaRPr b="0" lang="en-US" sz="1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47" name="CustomShape 8"/>
            <p:cNvSpPr/>
            <p:nvPr/>
          </p:nvSpPr>
          <p:spPr>
            <a:xfrm>
              <a:off x="4730760" y="4498920"/>
              <a:ext cx="434160" cy="580320"/>
            </a:xfrm>
            <a:custGeom>
              <a:avLst/>
              <a:gdLst>
                <a:gd name="textAreaLeft" fmla="*/ 0 w 434160"/>
                <a:gd name="textAreaRight" fmla="*/ 435960 w 434160"/>
                <a:gd name="textAreaTop" fmla="*/ 0 h 580320"/>
                <a:gd name="textAreaBottom" fmla="*/ 582120 h 58032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2600" spc="-1" strike="noStrike">
                  <a:solidFill>
                    <a:srgbClr val="cc9100"/>
                  </a:solidFill>
                  <a:latin typeface="Arial"/>
                  <a:ea typeface="DejaVu Sans"/>
                </a:rPr>
                <a:t>q</a:t>
              </a:r>
              <a:r>
                <a:rPr b="0" lang="en-US" sz="2600" spc="-1" strike="noStrike" baseline="-33000">
                  <a:solidFill>
                    <a:srgbClr val="cc9100"/>
                  </a:solidFill>
                  <a:latin typeface="Arial"/>
                  <a:ea typeface="DejaVu Sans"/>
                </a:rPr>
                <a:t>ij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8" name="Group 9"/>
          <p:cNvGrpSpPr/>
          <p:nvPr/>
        </p:nvGrpSpPr>
        <p:grpSpPr>
          <a:xfrm>
            <a:off x="6137280" y="2063880"/>
            <a:ext cx="2961360" cy="2051640"/>
            <a:chOff x="6137280" y="2063880"/>
            <a:chExt cx="2961360" cy="2051640"/>
          </a:xfrm>
        </p:grpSpPr>
        <p:grpSp>
          <p:nvGrpSpPr>
            <p:cNvPr id="449" name="Group 10"/>
            <p:cNvGrpSpPr/>
            <p:nvPr/>
          </p:nvGrpSpPr>
          <p:grpSpPr>
            <a:xfrm>
              <a:off x="6178680" y="2063880"/>
              <a:ext cx="2815200" cy="1394280"/>
              <a:chOff x="6178680" y="2063880"/>
              <a:chExt cx="2815200" cy="1394280"/>
            </a:xfrm>
          </p:grpSpPr>
          <p:pic>
            <p:nvPicPr>
              <p:cNvPr id="450" name="" descr=""/>
              <p:cNvPicPr/>
              <p:nvPr/>
            </p:nvPicPr>
            <p:blipFill>
              <a:blip r:embed="rId5"/>
              <a:srcRect l="14167" t="9431" r="11411" b="14943"/>
              <a:stretch/>
            </p:blipFill>
            <p:spPr>
              <a:xfrm>
                <a:off x="6178680" y="2398680"/>
                <a:ext cx="2815200" cy="10594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451" name="CustomShape 11"/>
              <p:cNvSpPr/>
              <p:nvPr/>
            </p:nvSpPr>
            <p:spPr>
              <a:xfrm>
                <a:off x="6797520" y="2676600"/>
                <a:ext cx="343800" cy="419760"/>
              </a:xfrm>
              <a:custGeom>
                <a:avLst/>
                <a:gdLst>
                  <a:gd name="textAreaLeft" fmla="*/ 0 w 343800"/>
                  <a:gd name="textAreaRight" fmla="*/ 345600 w 343800"/>
                  <a:gd name="textAreaTop" fmla="*/ 0 h 419760"/>
                  <a:gd name="textAreaBottom" fmla="*/ 421560 h 4197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729fcf"/>
                    </a:solidFill>
                    <a:latin typeface="Arial"/>
                    <a:ea typeface="DejaVu Sans"/>
                  </a:rPr>
                  <a:t>p</a:t>
                </a:r>
                <a:r>
                  <a:rPr b="0" lang="en-US" sz="1800" spc="-1" strike="noStrike" baseline="-33000">
                    <a:solidFill>
                      <a:srgbClr val="729fcf"/>
                    </a:solidFill>
                    <a:latin typeface="Arial"/>
                    <a:ea typeface="DejaVu Sans"/>
                  </a:rPr>
                  <a:t>ij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2" name="CustomShape 12"/>
              <p:cNvSpPr/>
              <p:nvPr/>
            </p:nvSpPr>
            <p:spPr>
              <a:xfrm>
                <a:off x="8381880" y="2244600"/>
                <a:ext cx="343800" cy="419760"/>
              </a:xfrm>
              <a:custGeom>
                <a:avLst/>
                <a:gdLst>
                  <a:gd name="textAreaLeft" fmla="*/ 0 w 343800"/>
                  <a:gd name="textAreaRight" fmla="*/ 345600 w 343800"/>
                  <a:gd name="textAreaTop" fmla="*/ 0 h 419760"/>
                  <a:gd name="textAreaBottom" fmla="*/ 421560 h 4197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ffa07a"/>
                    </a:solidFill>
                    <a:latin typeface="Arial"/>
                    <a:ea typeface="DejaVu Sans"/>
                  </a:rPr>
                  <a:t>q</a:t>
                </a:r>
                <a:r>
                  <a:rPr b="0" lang="en-US" sz="1800" spc="-1" strike="noStrike" baseline="-33000">
                    <a:solidFill>
                      <a:srgbClr val="ffa07a"/>
                    </a:solidFill>
                    <a:latin typeface="Arial"/>
                    <a:ea typeface="DejaVu Sans"/>
                  </a:rPr>
                  <a:t>ij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3" name="CustomShape 13"/>
              <p:cNvSpPr/>
              <p:nvPr/>
            </p:nvSpPr>
            <p:spPr>
              <a:xfrm>
                <a:off x="6242040" y="2063880"/>
                <a:ext cx="2648520" cy="265680"/>
              </a:xfrm>
              <a:custGeom>
                <a:avLst/>
                <a:gdLst>
                  <a:gd name="textAreaLeft" fmla="*/ 0 w 2648520"/>
                  <a:gd name="textAreaRight" fmla="*/ 2650320 w 2648520"/>
                  <a:gd name="textAreaTop" fmla="*/ 0 h 265680"/>
                  <a:gd name="textAreaBottom" fmla="*/ 267480 h 26568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600" spc="-1" strike="noStrike">
                    <a:solidFill>
                      <a:srgbClr val="ff0000"/>
                    </a:solidFill>
                    <a:latin typeface="Arial"/>
                    <a:ea typeface="DejaVu Sans"/>
                  </a:rPr>
                  <a:t>3) Collapse the graphs together</a:t>
                </a:r>
                <a:endParaRPr b="0" lang="en-US" sz="1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54" name="CustomShape 14"/>
            <p:cNvSpPr/>
            <p:nvPr/>
          </p:nvSpPr>
          <p:spPr>
            <a:xfrm>
              <a:off x="6137280" y="3787920"/>
              <a:ext cx="2961360" cy="327600"/>
            </a:xfrm>
            <a:custGeom>
              <a:avLst/>
              <a:gdLst>
                <a:gd name="textAreaLeft" fmla="*/ 0 w 2961360"/>
                <a:gd name="textAreaRight" fmla="*/ 2963160 w 2961360"/>
                <a:gd name="textAreaTop" fmla="*/ 0 h 327600"/>
                <a:gd name="textAreaBottom" fmla="*/ 329400 h 3276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Kullback-Leibler divergence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dur="indefinite" fill="hold">
                      <p:stCondLst>
                        <p:cond delay="indefinite"/>
                      </p:stCondLst>
                      <p:childTnLst>
                        <p:par>
                          <p:cTn id="1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dur="indefinite" fill="hold">
                      <p:stCondLst>
                        <p:cond delay="indefinite"/>
                      </p:stCondLst>
                      <p:childTnLst>
                        <p:par>
                          <p:cTn id="1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CustomShape 1"/>
          <p:cNvSpPr/>
          <p:nvPr/>
        </p:nvSpPr>
        <p:spPr>
          <a:xfrm>
            <a:off x="1377720" y="1646280"/>
            <a:ext cx="7332120" cy="1622880"/>
          </a:xfrm>
          <a:custGeom>
            <a:avLst/>
            <a:gdLst>
              <a:gd name="textAreaLeft" fmla="*/ 0 w 7332120"/>
              <a:gd name="textAreaRight" fmla="*/ 7333920 w 7332120"/>
              <a:gd name="textAreaTop" fmla="*/ 0 h 1622880"/>
              <a:gd name="textAreaBottom" fmla="*/ 1624680 h 162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When linear dimension reduction</a:t>
            </a: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is not good enough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6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pic>
        <p:nvPicPr>
          <p:cNvPr id="457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1"/>
          <p:cNvSpPr/>
          <p:nvPr/>
        </p:nvSpPr>
        <p:spPr>
          <a:xfrm>
            <a:off x="2125800" y="6480"/>
            <a:ext cx="5255280" cy="34344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343440"/>
              <a:gd name="textAreaBottom" fmla="*/ 345240 h 343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200" spc="-1" strike="noStrike">
                <a:solidFill>
                  <a:srgbClr val="0066cc"/>
                </a:solidFill>
                <a:latin typeface="Arial"/>
                <a:ea typeface="Droid Sans Fallback"/>
              </a:rPr>
              <a:t>PCA works fine on a linear manifold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9" name="" descr=""/>
          <p:cNvPicPr/>
          <p:nvPr/>
        </p:nvPicPr>
        <p:blipFill>
          <a:blip r:embed="rId1"/>
          <a:stretch/>
        </p:blipFill>
        <p:spPr>
          <a:xfrm>
            <a:off x="731880" y="477720"/>
            <a:ext cx="4109040" cy="2628000"/>
          </a:xfrm>
          <a:prstGeom prst="rect">
            <a:avLst/>
          </a:prstGeom>
          <a:ln w="0">
            <a:noFill/>
          </a:ln>
        </p:spPr>
      </p:pic>
      <p:pic>
        <p:nvPicPr>
          <p:cNvPr id="460" name="" descr=""/>
          <p:cNvPicPr/>
          <p:nvPr/>
        </p:nvPicPr>
        <p:blipFill>
          <a:blip r:embed="rId2"/>
          <a:stretch/>
        </p:blipFill>
        <p:spPr>
          <a:xfrm>
            <a:off x="731880" y="3108240"/>
            <a:ext cx="4126680" cy="2521800"/>
          </a:xfrm>
          <a:prstGeom prst="rect">
            <a:avLst/>
          </a:prstGeom>
          <a:ln w="0">
            <a:noFill/>
          </a:ln>
        </p:spPr>
      </p:pic>
      <p:pic>
        <p:nvPicPr>
          <p:cNvPr id="461" name="" descr=""/>
          <p:cNvPicPr/>
          <p:nvPr/>
        </p:nvPicPr>
        <p:blipFill>
          <a:blip r:embed="rId3"/>
          <a:stretch/>
        </p:blipFill>
        <p:spPr>
          <a:xfrm>
            <a:off x="5094360" y="3124080"/>
            <a:ext cx="4229640" cy="2521800"/>
          </a:xfrm>
          <a:prstGeom prst="rect">
            <a:avLst/>
          </a:prstGeom>
          <a:ln w="0">
            <a:noFill/>
          </a:ln>
        </p:spPr>
      </p:pic>
      <p:pic>
        <p:nvPicPr>
          <p:cNvPr id="462" name="" descr=""/>
          <p:cNvPicPr/>
          <p:nvPr/>
        </p:nvPicPr>
        <p:blipFill>
          <a:blip r:embed="rId4"/>
          <a:stretch/>
        </p:blipFill>
        <p:spPr>
          <a:xfrm>
            <a:off x="58680" y="5544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463" name="" descr=""/>
          <p:cNvPicPr/>
          <p:nvPr/>
        </p:nvPicPr>
        <p:blipFill>
          <a:blip r:embed="rId5"/>
          <a:stretch/>
        </p:blipFill>
        <p:spPr>
          <a:xfrm>
            <a:off x="7954920" y="33480"/>
            <a:ext cx="2100960" cy="533880"/>
          </a:xfrm>
          <a:prstGeom prst="rect">
            <a:avLst/>
          </a:prstGeom>
          <a:ln w="0">
            <a:noFill/>
          </a:ln>
        </p:spPr>
      </p:pic>
      <p:pic>
        <p:nvPicPr>
          <p:cNvPr id="464" name="" descr=""/>
          <p:cNvPicPr/>
          <p:nvPr/>
        </p:nvPicPr>
        <p:blipFill>
          <a:blip r:embed="rId6"/>
          <a:stretch/>
        </p:blipFill>
        <p:spPr>
          <a:xfrm>
            <a:off x="5014800" y="506520"/>
            <a:ext cx="4309200" cy="26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dur="indefinite" fill="hold">
                      <p:stCondLst>
                        <p:cond delay="indefinite"/>
                      </p:stCondLst>
                      <p:childTnLst>
                        <p:par>
                          <p:cTn id="2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dur="indefinite" fill="hold">
                      <p:stCondLst>
                        <p:cond delay="indefinite"/>
                      </p:stCondLst>
                      <p:childTnLst>
                        <p:par>
                          <p:cTn id="2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dur="indefinite" fill="hold">
                      <p:stCondLst>
                        <p:cond delay="indefinite"/>
                      </p:stCondLst>
                      <p:childTnLst>
                        <p:par>
                          <p:cTn id="2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" descr=""/>
          <p:cNvPicPr/>
          <p:nvPr/>
        </p:nvPicPr>
        <p:blipFill>
          <a:blip r:embed="rId1"/>
          <a:srcRect l="8347" t="4396" r="5869" b="0"/>
          <a:stretch/>
        </p:blipFill>
        <p:spPr>
          <a:xfrm>
            <a:off x="1006560" y="457200"/>
            <a:ext cx="4077360" cy="2631240"/>
          </a:xfrm>
          <a:prstGeom prst="rect">
            <a:avLst/>
          </a:prstGeom>
          <a:ln w="0">
            <a:noFill/>
          </a:ln>
        </p:spPr>
      </p:pic>
      <p:pic>
        <p:nvPicPr>
          <p:cNvPr id="466" name="" descr=""/>
          <p:cNvPicPr/>
          <p:nvPr/>
        </p:nvPicPr>
        <p:blipFill>
          <a:blip r:embed="rId2"/>
          <a:stretch/>
        </p:blipFill>
        <p:spPr>
          <a:xfrm>
            <a:off x="914400" y="3017880"/>
            <a:ext cx="4112280" cy="2621520"/>
          </a:xfrm>
          <a:prstGeom prst="rect">
            <a:avLst/>
          </a:prstGeom>
          <a:ln w="0">
            <a:noFill/>
          </a:ln>
        </p:spPr>
      </p:pic>
      <p:pic>
        <p:nvPicPr>
          <p:cNvPr id="467" name="" descr=""/>
          <p:cNvPicPr/>
          <p:nvPr/>
        </p:nvPicPr>
        <p:blipFill>
          <a:blip r:embed="rId3"/>
          <a:stretch/>
        </p:blipFill>
        <p:spPr>
          <a:xfrm>
            <a:off x="5211720" y="3017880"/>
            <a:ext cx="4021920" cy="2621520"/>
          </a:xfrm>
          <a:prstGeom prst="rect">
            <a:avLst/>
          </a:prstGeom>
          <a:ln w="0">
            <a:noFill/>
          </a:ln>
        </p:spPr>
      </p:pic>
      <p:pic>
        <p:nvPicPr>
          <p:cNvPr id="468" name="" descr=""/>
          <p:cNvPicPr/>
          <p:nvPr/>
        </p:nvPicPr>
        <p:blipFill>
          <a:blip r:embed="rId4"/>
          <a:stretch/>
        </p:blipFill>
        <p:spPr>
          <a:xfrm>
            <a:off x="58680" y="55440"/>
            <a:ext cx="1218240" cy="450000"/>
          </a:xfrm>
          <a:prstGeom prst="rect">
            <a:avLst/>
          </a:prstGeom>
          <a:ln w="0">
            <a:noFill/>
          </a:ln>
        </p:spPr>
      </p:pic>
      <p:pic>
        <p:nvPicPr>
          <p:cNvPr id="469" name="" descr=""/>
          <p:cNvPicPr/>
          <p:nvPr/>
        </p:nvPicPr>
        <p:blipFill>
          <a:blip r:embed="rId5"/>
          <a:stretch/>
        </p:blipFill>
        <p:spPr>
          <a:xfrm>
            <a:off x="8047080" y="33480"/>
            <a:ext cx="2008800" cy="533880"/>
          </a:xfrm>
          <a:prstGeom prst="rect">
            <a:avLst/>
          </a:prstGeom>
          <a:ln w="0">
            <a:noFill/>
          </a:ln>
        </p:spPr>
      </p:pic>
      <p:pic>
        <p:nvPicPr>
          <p:cNvPr id="470" name="" descr=""/>
          <p:cNvPicPr/>
          <p:nvPr/>
        </p:nvPicPr>
        <p:blipFill>
          <a:blip r:embed="rId6"/>
          <a:stretch/>
        </p:blipFill>
        <p:spPr>
          <a:xfrm>
            <a:off x="5211720" y="549360"/>
            <a:ext cx="4020120" cy="2466000"/>
          </a:xfrm>
          <a:prstGeom prst="rect">
            <a:avLst/>
          </a:prstGeom>
          <a:ln w="0">
            <a:noFill/>
          </a:ln>
        </p:spPr>
      </p:pic>
      <p:sp>
        <p:nvSpPr>
          <p:cNvPr id="471" name="CustomShape 1"/>
          <p:cNvSpPr/>
          <p:nvPr/>
        </p:nvSpPr>
        <p:spPr>
          <a:xfrm>
            <a:off x="1792080" y="50760"/>
            <a:ext cx="6019920" cy="343440"/>
          </a:xfrm>
          <a:custGeom>
            <a:avLst/>
            <a:gdLst>
              <a:gd name="textAreaLeft" fmla="*/ 0 w 6019920"/>
              <a:gd name="textAreaRight" fmla="*/ 6021720 w 6019920"/>
              <a:gd name="textAreaTop" fmla="*/ 0 h 343440"/>
              <a:gd name="textAreaBottom" fmla="*/ 345240 h 343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200" spc="-1" strike="noStrike">
                <a:solidFill>
                  <a:srgbClr val="0066cc"/>
                </a:solidFill>
                <a:latin typeface="Arial"/>
                <a:ea typeface="Droid Sans Fallback"/>
              </a:rPr>
              <a:t>PCA vs. tSNE vs. UMAP on non-linear manifold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dur="indefinite" fill="hold">
                      <p:stCondLst>
                        <p:cond delay="indefinite"/>
                      </p:stCondLst>
                      <p:childTnLst>
                        <p:par>
                          <p:cTn id="3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dur="indefinite" fill="hold">
                      <p:stCondLst>
                        <p:cond delay="indefinite"/>
                      </p:stCondLst>
                      <p:childTnLst>
                        <p:par>
                          <p:cTn id="3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dur="indefinite" fill="hold">
                      <p:stCondLst>
                        <p:cond delay="indefinite"/>
                      </p:stCondLst>
                      <p:childTnLst>
                        <p:par>
                          <p:cTn id="4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1"/>
          <p:cNvSpPr/>
          <p:nvPr/>
        </p:nvSpPr>
        <p:spPr>
          <a:xfrm>
            <a:off x="1897920" y="46080"/>
            <a:ext cx="5767200" cy="342000"/>
          </a:xfrm>
          <a:custGeom>
            <a:avLst/>
            <a:gdLst>
              <a:gd name="textAreaLeft" fmla="*/ 0 w 5767200"/>
              <a:gd name="textAreaRight" fmla="*/ 5769000 w 5767200"/>
              <a:gd name="textAreaTop" fmla="*/ 0 h 342000"/>
              <a:gd name="textAreaBottom" fmla="*/ 343800 h 342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Why PCA can’t unwrap the Swiss Roll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3" name="" descr=""/>
          <p:cNvPicPr/>
          <p:nvPr/>
        </p:nvPicPr>
        <p:blipFill>
          <a:blip r:embed="rId1"/>
          <a:stretch/>
        </p:blipFill>
        <p:spPr>
          <a:xfrm>
            <a:off x="1335240" y="3090960"/>
            <a:ext cx="7568280" cy="2520000"/>
          </a:xfrm>
          <a:prstGeom prst="rect">
            <a:avLst/>
          </a:prstGeom>
          <a:ln w="0">
            <a:noFill/>
          </a:ln>
        </p:spPr>
      </p:pic>
      <p:pic>
        <p:nvPicPr>
          <p:cNvPr id="474" name="" descr=""/>
          <p:cNvPicPr/>
          <p:nvPr/>
        </p:nvPicPr>
        <p:blipFill>
          <a:blip r:embed="rId2"/>
          <a:srcRect l="3948" t="3705" r="3219" b="4793"/>
          <a:stretch/>
        </p:blipFill>
        <p:spPr>
          <a:xfrm>
            <a:off x="1371600" y="549360"/>
            <a:ext cx="7495200" cy="2466000"/>
          </a:xfrm>
          <a:prstGeom prst="rect">
            <a:avLst/>
          </a:prstGeom>
          <a:ln w="0">
            <a:noFill/>
          </a:ln>
        </p:spPr>
      </p:pic>
      <p:pic>
        <p:nvPicPr>
          <p:cNvPr id="475" name="" descr=""/>
          <p:cNvPicPr/>
          <p:nvPr/>
        </p:nvPicPr>
        <p:blipFill>
          <a:blip r:embed="rId3"/>
          <a:stretch/>
        </p:blipFill>
        <p:spPr>
          <a:xfrm>
            <a:off x="58680" y="9216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476" name="" descr=""/>
          <p:cNvPicPr/>
          <p:nvPr/>
        </p:nvPicPr>
        <p:blipFill>
          <a:blip r:embed="rId4"/>
          <a:stretch/>
        </p:blipFill>
        <p:spPr>
          <a:xfrm>
            <a:off x="7954920" y="69840"/>
            <a:ext cx="2100960" cy="53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" descr=""/>
          <p:cNvPicPr/>
          <p:nvPr/>
        </p:nvPicPr>
        <p:blipFill>
          <a:blip r:embed="rId1"/>
          <a:srcRect l="1901" t="11696" r="8243" b="2370"/>
          <a:stretch/>
        </p:blipFill>
        <p:spPr>
          <a:xfrm>
            <a:off x="38160" y="1017720"/>
            <a:ext cx="4988520" cy="3246840"/>
          </a:xfrm>
          <a:prstGeom prst="rect">
            <a:avLst/>
          </a:prstGeom>
          <a:ln w="0">
            <a:noFill/>
          </a:ln>
        </p:spPr>
      </p:pic>
      <p:pic>
        <p:nvPicPr>
          <p:cNvPr id="478" name="" descr=""/>
          <p:cNvPicPr/>
          <p:nvPr/>
        </p:nvPicPr>
        <p:blipFill>
          <a:blip r:embed="rId2"/>
          <a:srcRect l="2799" t="11754" r="9726" b="8"/>
          <a:stretch/>
        </p:blipFill>
        <p:spPr>
          <a:xfrm>
            <a:off x="5041800" y="976320"/>
            <a:ext cx="4898160" cy="3380400"/>
          </a:xfrm>
          <a:prstGeom prst="rect">
            <a:avLst/>
          </a:prstGeom>
          <a:ln w="0">
            <a:noFill/>
          </a:ln>
        </p:spPr>
      </p:pic>
      <p:pic>
        <p:nvPicPr>
          <p:cNvPr id="479" name="" descr=""/>
          <p:cNvPicPr/>
          <p:nvPr/>
        </p:nvPicPr>
        <p:blipFill>
          <a:blip r:embed="rId3"/>
          <a:stretch/>
        </p:blipFill>
        <p:spPr>
          <a:xfrm>
            <a:off x="58680" y="4140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480" name="" descr=""/>
          <p:cNvPicPr/>
          <p:nvPr/>
        </p:nvPicPr>
        <p:blipFill>
          <a:blip r:embed="rId4"/>
          <a:stretch/>
        </p:blipFill>
        <p:spPr>
          <a:xfrm>
            <a:off x="7954920" y="190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481" name="CustomShape 1"/>
          <p:cNvSpPr/>
          <p:nvPr/>
        </p:nvSpPr>
        <p:spPr>
          <a:xfrm>
            <a:off x="1944000" y="42840"/>
            <a:ext cx="5646240" cy="454680"/>
          </a:xfrm>
          <a:custGeom>
            <a:avLst/>
            <a:gdLst>
              <a:gd name="textAreaLeft" fmla="*/ 0 w 5646240"/>
              <a:gd name="textAreaRight" fmla="*/ 5648040 w 564624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Why PCA is not enough in Single Cell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CustomShape 2"/>
          <p:cNvSpPr/>
          <p:nvPr/>
        </p:nvSpPr>
        <p:spPr>
          <a:xfrm>
            <a:off x="5559480" y="5365800"/>
            <a:ext cx="4567680" cy="284760"/>
          </a:xfrm>
          <a:custGeom>
            <a:avLst/>
            <a:gdLst>
              <a:gd name="textAreaLeft" fmla="*/ 0 w 4567680"/>
              <a:gd name="textAreaRight" fmla="*/ 4569480 w 4567680"/>
              <a:gd name="textAreaTop" fmla="*/ 0 h 284760"/>
              <a:gd name="textAreaBottom" fmla="*/ 286560 h 284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https://satijalab.org/seurat/articles/pbmc3k_tutorial.html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CustomShape 3"/>
          <p:cNvSpPr/>
          <p:nvPr/>
        </p:nvSpPr>
        <p:spPr>
          <a:xfrm>
            <a:off x="2757600" y="627120"/>
            <a:ext cx="4537440" cy="229320"/>
          </a:xfrm>
          <a:custGeom>
            <a:avLst/>
            <a:gdLst>
              <a:gd name="textAreaLeft" fmla="*/ 0 w 4537440"/>
              <a:gd name="textAreaRight" fmla="*/ 4539240 w 4537440"/>
              <a:gd name="textAreaTop" fmla="*/ 0 h 229320"/>
              <a:gd name="textAreaBottom" fmla="*/ 231120 h 229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3k Peripheral Blood Mononuclear Cells (PBMC) available from 10X Genomics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CustomShape 4"/>
          <p:cNvSpPr/>
          <p:nvPr/>
        </p:nvSpPr>
        <p:spPr>
          <a:xfrm>
            <a:off x="182880" y="4479840"/>
            <a:ext cx="9668160" cy="878760"/>
          </a:xfrm>
          <a:custGeom>
            <a:avLst/>
            <a:gdLst>
              <a:gd name="textAreaLeft" fmla="*/ 0 w 9668160"/>
              <a:gd name="textAreaRight" fmla="*/ 9669960 w 9668160"/>
              <a:gd name="textAreaTop" fmla="*/ 0 h 878760"/>
              <a:gd name="textAreaBottom" fmla="*/ 880560 h 878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Two principal components (PCs) seem to be insufficient to fully reveal heterogeneity in single cell gene expression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0000"/>
                </a:solidFill>
                <a:latin typeface="Arial"/>
                <a:ea typeface="DejaVu Sans"/>
              </a:rPr>
              <a:t>Solution: use more PCs or tSNE / UMAP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dur="indefinite" fill="hold">
                      <p:stCondLst>
                        <p:cond delay="indefinite"/>
                      </p:stCondLst>
                      <p:childTnLst>
                        <p:par>
                          <p:cTn id="4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dur="indefinite" fill="hold">
                      <p:stCondLst>
                        <p:cond delay="indefinite"/>
                      </p:stCondLst>
                      <p:childTnLst>
                        <p:par>
                          <p:cTn id="5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dur="indefinite" fill="hold">
                      <p:stCondLst>
                        <p:cond delay="indefinite"/>
                      </p:stCondLst>
                      <p:childTnLst>
                        <p:par>
                          <p:cTn id="5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" descr=""/>
          <p:cNvPicPr/>
          <p:nvPr/>
        </p:nvPicPr>
        <p:blipFill>
          <a:blip r:embed="rId1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486" name="" descr=""/>
          <p:cNvPicPr/>
          <p:nvPr/>
        </p:nvPicPr>
        <p:blipFill>
          <a:blip r:embed="rId2"/>
          <a:stretch/>
        </p:blipFill>
        <p:spPr>
          <a:xfrm>
            <a:off x="8137440" y="55440"/>
            <a:ext cx="1918440" cy="534240"/>
          </a:xfrm>
          <a:prstGeom prst="rect">
            <a:avLst/>
          </a:prstGeom>
          <a:ln w="0">
            <a:noFill/>
          </a:ln>
        </p:spPr>
      </p:pic>
      <p:pic>
        <p:nvPicPr>
          <p:cNvPr id="487" name="" descr=""/>
          <p:cNvPicPr/>
          <p:nvPr/>
        </p:nvPicPr>
        <p:blipFill>
          <a:blip r:embed="rId3"/>
          <a:stretch/>
        </p:blipFill>
        <p:spPr>
          <a:xfrm>
            <a:off x="19080" y="1204920"/>
            <a:ext cx="4825080" cy="3596400"/>
          </a:xfrm>
          <a:prstGeom prst="rect">
            <a:avLst/>
          </a:prstGeom>
          <a:ln w="0">
            <a:noFill/>
          </a:ln>
        </p:spPr>
      </p:pic>
      <p:pic>
        <p:nvPicPr>
          <p:cNvPr id="488" name="" descr=""/>
          <p:cNvPicPr/>
          <p:nvPr/>
        </p:nvPicPr>
        <p:blipFill>
          <a:blip r:embed="rId4"/>
          <a:stretch/>
        </p:blipFill>
        <p:spPr>
          <a:xfrm>
            <a:off x="5114880" y="1214280"/>
            <a:ext cx="4869720" cy="3629880"/>
          </a:xfrm>
          <a:prstGeom prst="rect">
            <a:avLst/>
          </a:prstGeom>
          <a:ln w="0">
            <a:noFill/>
          </a:ln>
        </p:spPr>
      </p:pic>
      <p:sp>
        <p:nvSpPr>
          <p:cNvPr id="489" name="CustomShape 1"/>
          <p:cNvSpPr/>
          <p:nvPr/>
        </p:nvSpPr>
        <p:spPr>
          <a:xfrm>
            <a:off x="1427040" y="77760"/>
            <a:ext cx="6763680" cy="454680"/>
          </a:xfrm>
          <a:custGeom>
            <a:avLst/>
            <a:gdLst>
              <a:gd name="textAreaLeft" fmla="*/ 0 w 6763680"/>
              <a:gd name="textAreaRight" fmla="*/ 6765480 w 676368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PCA vs. tSNE: when data complexity grows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CustomShape 2"/>
          <p:cNvSpPr/>
          <p:nvPr/>
        </p:nvSpPr>
        <p:spPr>
          <a:xfrm>
            <a:off x="914400" y="776160"/>
            <a:ext cx="3032640" cy="343800"/>
          </a:xfrm>
          <a:custGeom>
            <a:avLst/>
            <a:gdLst>
              <a:gd name="textAreaLeft" fmla="*/ 0 w 3032640"/>
              <a:gd name="textAreaRight" fmla="*/ 3034440 w 3032640"/>
              <a:gd name="textAreaTop" fmla="*/ 0 h 343800"/>
              <a:gd name="textAreaBottom" fmla="*/ 345600 h 343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0840" bIns="45000" anchor="t">
            <a:noAutofit/>
          </a:bodyPr>
          <a:p>
            <a:pPr>
              <a:lnSpc>
                <a:spcPct val="93000"/>
              </a:lnSpc>
            </a:pPr>
            <a:r>
              <a:rPr b="0" lang="en-US" sz="1800" spc="-1" strike="noStrike">
                <a:solidFill>
                  <a:srgbClr val="006400"/>
                </a:solidFill>
                <a:latin typeface="Arial"/>
                <a:ea typeface="DejaVu Sans"/>
              </a:rPr>
              <a:t>Three classes of data points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CustomShape 3"/>
          <p:cNvSpPr/>
          <p:nvPr/>
        </p:nvSpPr>
        <p:spPr>
          <a:xfrm>
            <a:off x="6027840" y="776160"/>
            <a:ext cx="2804040" cy="343800"/>
          </a:xfrm>
          <a:custGeom>
            <a:avLst/>
            <a:gdLst>
              <a:gd name="textAreaLeft" fmla="*/ 0 w 2804040"/>
              <a:gd name="textAreaRight" fmla="*/ 2805840 w 2804040"/>
              <a:gd name="textAreaTop" fmla="*/ 0 h 343800"/>
              <a:gd name="textAreaBottom" fmla="*/ 345600 h 343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0840" bIns="45000" anchor="t">
            <a:noAutofit/>
          </a:bodyPr>
          <a:p>
            <a:pPr>
              <a:lnSpc>
                <a:spcPct val="93000"/>
              </a:lnSpc>
            </a:pPr>
            <a:r>
              <a:rPr b="0" lang="en-US" sz="1800" spc="-1" strike="noStrike">
                <a:solidFill>
                  <a:srgbClr val="006400"/>
                </a:solidFill>
                <a:latin typeface="Arial"/>
                <a:ea typeface="DejaVu Sans"/>
              </a:rPr>
              <a:t>Ten classes of data points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CustomShape 4"/>
          <p:cNvSpPr/>
          <p:nvPr/>
        </p:nvSpPr>
        <p:spPr>
          <a:xfrm>
            <a:off x="8188200" y="5430960"/>
            <a:ext cx="1866240" cy="202320"/>
          </a:xfrm>
          <a:custGeom>
            <a:avLst/>
            <a:gdLst>
              <a:gd name="textAreaLeft" fmla="*/ 0 w 1866240"/>
              <a:gd name="textAreaRight" fmla="*/ 1868040 w 1866240"/>
              <a:gd name="textAreaTop" fmla="*/ 0 h 202320"/>
              <a:gd name="textAreaBottom" fmla="*/ 204120 h 202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Oskolkov et al., unpublished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CustomShape 5"/>
          <p:cNvSpPr/>
          <p:nvPr/>
        </p:nvSpPr>
        <p:spPr>
          <a:xfrm>
            <a:off x="725400" y="4957920"/>
            <a:ext cx="3606120" cy="341640"/>
          </a:xfrm>
          <a:custGeom>
            <a:avLst/>
            <a:gdLst>
              <a:gd name="textAreaLeft" fmla="*/ 0 w 3606120"/>
              <a:gd name="textAreaRight" fmla="*/ 3607920 w 3606120"/>
              <a:gd name="textAreaTop" fmla="*/ 0 h 341640"/>
              <a:gd name="textAreaBottom" fmla="*/ 343440 h 341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PCA and tSNE tell the same story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CustomShape 6"/>
          <p:cNvSpPr/>
          <p:nvPr/>
        </p:nvSpPr>
        <p:spPr>
          <a:xfrm>
            <a:off x="5727600" y="4957920"/>
            <a:ext cx="3744000" cy="341640"/>
          </a:xfrm>
          <a:custGeom>
            <a:avLst/>
            <a:gdLst>
              <a:gd name="textAreaLeft" fmla="*/ 0 w 3744000"/>
              <a:gd name="textAreaRight" fmla="*/ 3745800 w 3744000"/>
              <a:gd name="textAreaTop" fmla="*/ 0 h 341640"/>
              <a:gd name="textAreaBottom" fmla="*/ 343440 h 341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is more informative than PCA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dur="indefinite" fill="hold">
                      <p:stCondLst>
                        <p:cond delay="indefinite"/>
                      </p:stCondLst>
                      <p:childTnLst>
                        <p:par>
                          <p:cTn id="6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dur="indefinite" fill="hold">
                      <p:stCondLst>
                        <p:cond delay="indefinite"/>
                      </p:stCondLst>
                      <p:childTnLst>
                        <p:par>
                          <p:cTn id="6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dur="indefinite" fill="hold">
                      <p:stCondLst>
                        <p:cond delay="indefinite"/>
                      </p:stCondLst>
                      <p:childTnLst>
                        <p:par>
                          <p:cTn id="7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dur="indefinite" fill="hold">
                      <p:stCondLst>
                        <p:cond delay="indefinite"/>
                      </p:stCondLst>
                      <p:childTnLst>
                        <p:par>
                          <p:cTn id="7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7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CustomShape 1"/>
          <p:cNvSpPr/>
          <p:nvPr/>
        </p:nvSpPr>
        <p:spPr>
          <a:xfrm>
            <a:off x="379440" y="1574280"/>
            <a:ext cx="9374760" cy="1622880"/>
          </a:xfrm>
          <a:custGeom>
            <a:avLst/>
            <a:gdLst>
              <a:gd name="textAreaLeft" fmla="*/ 0 w 9374760"/>
              <a:gd name="textAreaRight" fmla="*/ 9376560 w 9374760"/>
              <a:gd name="textAreaTop" fmla="*/ 0 h 1622880"/>
              <a:gd name="textAreaBottom" fmla="*/ 1624680 h 162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Neighborhood graph dimension reduction:</a:t>
            </a: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tSNE and UMAP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6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pic>
        <p:nvPicPr>
          <p:cNvPr id="497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" descr=""/>
          <p:cNvPicPr/>
          <p:nvPr/>
        </p:nvPicPr>
        <p:blipFill>
          <a:blip r:embed="rId1"/>
          <a:srcRect l="932" t="0" r="683" b="0"/>
          <a:stretch/>
        </p:blipFill>
        <p:spPr>
          <a:xfrm>
            <a:off x="19080" y="549360"/>
            <a:ext cx="4915440" cy="5024880"/>
          </a:xfrm>
          <a:prstGeom prst="rect">
            <a:avLst/>
          </a:prstGeom>
          <a:ln w="0">
            <a:noFill/>
          </a:ln>
        </p:spPr>
      </p:pic>
      <p:sp>
        <p:nvSpPr>
          <p:cNvPr id="499" name="CustomShape 1"/>
          <p:cNvSpPr/>
          <p:nvPr/>
        </p:nvSpPr>
        <p:spPr>
          <a:xfrm>
            <a:off x="2293920" y="-23760"/>
            <a:ext cx="5255280" cy="34200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342000"/>
              <a:gd name="textAreaBottom" fmla="*/ 343800 h 342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tSNE dimension reduction algorithm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0" name="" descr=""/>
          <p:cNvPicPr/>
          <p:nvPr/>
        </p:nvPicPr>
        <p:blipFill>
          <a:blip r:embed="rId2"/>
          <a:stretch/>
        </p:blipFill>
        <p:spPr>
          <a:xfrm>
            <a:off x="7956720" y="7920"/>
            <a:ext cx="2100600" cy="534240"/>
          </a:xfrm>
          <a:prstGeom prst="rect">
            <a:avLst/>
          </a:prstGeom>
          <a:ln w="0">
            <a:noFill/>
          </a:ln>
        </p:spPr>
      </p:pic>
      <p:pic>
        <p:nvPicPr>
          <p:cNvPr id="501" name="" descr=""/>
          <p:cNvPicPr/>
          <p:nvPr/>
        </p:nvPicPr>
        <p:blipFill>
          <a:blip r:embed="rId3"/>
          <a:stretch/>
        </p:blipFill>
        <p:spPr>
          <a:xfrm>
            <a:off x="60480" y="31680"/>
            <a:ext cx="1275120" cy="450000"/>
          </a:xfrm>
          <a:prstGeom prst="rect">
            <a:avLst/>
          </a:prstGeom>
          <a:ln w="0">
            <a:noFill/>
          </a:ln>
        </p:spPr>
      </p:pic>
      <p:pic>
        <p:nvPicPr>
          <p:cNvPr id="502" name="" descr=""/>
          <p:cNvPicPr/>
          <p:nvPr/>
        </p:nvPicPr>
        <p:blipFill>
          <a:blip r:embed="rId4"/>
          <a:srcRect l="0" t="0" r="-18" b="0"/>
          <a:stretch/>
        </p:blipFill>
        <p:spPr>
          <a:xfrm>
            <a:off x="4479840" y="533520"/>
            <a:ext cx="5574600" cy="2178720"/>
          </a:xfrm>
          <a:prstGeom prst="rect">
            <a:avLst/>
          </a:prstGeom>
          <a:ln w="0">
            <a:noFill/>
          </a:ln>
        </p:spPr>
      </p:pic>
      <p:pic>
        <p:nvPicPr>
          <p:cNvPr id="503" name="" descr=""/>
          <p:cNvPicPr/>
          <p:nvPr/>
        </p:nvPicPr>
        <p:blipFill>
          <a:blip r:embed="rId5"/>
          <a:srcRect l="0" t="9390" r="2378" b="3056"/>
          <a:stretch/>
        </p:blipFill>
        <p:spPr>
          <a:xfrm>
            <a:off x="5292720" y="2684520"/>
            <a:ext cx="4275720" cy="298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dur="indefinite" fill="hold">
                      <p:stCondLst>
                        <p:cond delay="indefinite"/>
                      </p:stCondLst>
                      <p:childTnLst>
                        <p:par>
                          <p:cTn id="8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dur="indefinite" fill="hold">
                      <p:stCondLst>
                        <p:cond delay="indefinite"/>
                      </p:stCondLst>
                      <p:childTnLst>
                        <p:par>
                          <p:cTn id="8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8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" descr=""/>
          <p:cNvPicPr/>
          <p:nvPr/>
        </p:nvPicPr>
        <p:blipFill>
          <a:blip r:embed="rId1"/>
          <a:stretch/>
        </p:blipFill>
        <p:spPr>
          <a:xfrm>
            <a:off x="2193840" y="996840"/>
            <a:ext cx="5495040" cy="3815640"/>
          </a:xfrm>
          <a:prstGeom prst="rect">
            <a:avLst/>
          </a:prstGeom>
          <a:ln w="0">
            <a:noFill/>
          </a:ln>
        </p:spPr>
      </p:pic>
      <p:sp>
        <p:nvSpPr>
          <p:cNvPr id="505" name="CustomShape 1"/>
          <p:cNvSpPr/>
          <p:nvPr/>
        </p:nvSpPr>
        <p:spPr>
          <a:xfrm>
            <a:off x="541440" y="652320"/>
            <a:ext cx="9416160" cy="599400"/>
          </a:xfrm>
          <a:custGeom>
            <a:avLst/>
            <a:gdLst>
              <a:gd name="textAreaLeft" fmla="*/ 0 w 9416160"/>
              <a:gd name="textAreaRight" fmla="*/ 9417960 w 9416160"/>
              <a:gd name="textAreaTop" fmla="*/ 0 h 599400"/>
              <a:gd name="textAreaBottom" fmla="*/ 601200 h 5994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8680" bIns="45000" anchor="t">
            <a:noAutofit/>
          </a:bodyPr>
          <a:p>
            <a:pPr>
              <a:lnSpc>
                <a:spcPct val="94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Van der Maaten: “Loosely speaking, one could say that a larger / denser dataset requires a larger perplexity.“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CustomShape 2"/>
          <p:cNvSpPr/>
          <p:nvPr/>
        </p:nvSpPr>
        <p:spPr>
          <a:xfrm>
            <a:off x="3379680" y="4781520"/>
            <a:ext cx="3437640" cy="856440"/>
          </a:xfrm>
          <a:custGeom>
            <a:avLst/>
            <a:gdLst>
              <a:gd name="textAreaLeft" fmla="*/ 0 w 3437640"/>
              <a:gd name="textAreaRight" fmla="*/ 3439440 w 3437640"/>
              <a:gd name="textAreaTop" fmla="*/ 0 h 856440"/>
              <a:gd name="textAreaBottom" fmla="*/ 858240 h 856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5868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log(Perp) = -0.179 + 0.51*log(N)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4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4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Perp ~ N^(1/2)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7" name="" descr=""/>
          <p:cNvPicPr/>
          <p:nvPr/>
        </p:nvPicPr>
        <p:blipFill>
          <a:blip r:embed="rId2"/>
          <a:stretch/>
        </p:blipFill>
        <p:spPr>
          <a:xfrm>
            <a:off x="58680" y="10332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508" name="" descr=""/>
          <p:cNvPicPr/>
          <p:nvPr/>
        </p:nvPicPr>
        <p:blipFill>
          <a:blip r:embed="rId3"/>
          <a:stretch/>
        </p:blipFill>
        <p:spPr>
          <a:xfrm>
            <a:off x="7954920" y="8100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509" name="CustomShape 3"/>
          <p:cNvSpPr/>
          <p:nvPr/>
        </p:nvSpPr>
        <p:spPr>
          <a:xfrm>
            <a:off x="2346480" y="39600"/>
            <a:ext cx="5255280" cy="45468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How to select optimal perplexity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dur="indefinite" fill="hold">
                      <p:stCondLst>
                        <p:cond delay="indefinite"/>
                      </p:stCondLst>
                      <p:childTnLst>
                        <p:par>
                          <p:cTn id="9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dur="indefinite" fill="hold">
                      <p:stCondLst>
                        <p:cond delay="indefinite"/>
                      </p:stCondLst>
                      <p:childTnLst>
                        <p:par>
                          <p:cTn id="9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9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" descr=""/>
          <p:cNvPicPr/>
          <p:nvPr/>
        </p:nvPicPr>
        <p:blipFill>
          <a:blip r:embed="rId1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511" name="" descr=""/>
          <p:cNvPicPr/>
          <p:nvPr/>
        </p:nvPicPr>
        <p:blipFill>
          <a:blip r:embed="rId2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sp>
        <p:nvSpPr>
          <p:cNvPr id="512" name="CustomShape 1"/>
          <p:cNvSpPr/>
          <p:nvPr/>
        </p:nvSpPr>
        <p:spPr>
          <a:xfrm>
            <a:off x="233280" y="509400"/>
            <a:ext cx="4386960" cy="5030280"/>
          </a:xfrm>
          <a:custGeom>
            <a:avLst/>
            <a:gdLst>
              <a:gd name="textAreaLeft" fmla="*/ 0 w 4386960"/>
              <a:gd name="textAreaRight" fmla="*/ 4388760 w 4386960"/>
              <a:gd name="textAreaTop" fmla="*/ 0 h 5030280"/>
              <a:gd name="textAreaBottom" fmla="*/ 5032080 h 5030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does not scale for large data sets?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does not preserve global structure?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can only embed into 2-3 dims?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performs non-parametric mapping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(no variance explained statistics)?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can not work with high-dimensional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data directly (PCA needed)?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tSNE uses too much RAM at large perp?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Line 2"/>
          <p:cNvSpPr/>
          <p:nvPr/>
        </p:nvSpPr>
        <p:spPr>
          <a:xfrm>
            <a:off x="306360" y="1728720"/>
            <a:ext cx="4265640" cy="1440"/>
          </a:xfrm>
          <a:prstGeom prst="line">
            <a:avLst/>
          </a:prstGeom>
          <a:ln w="36720">
            <a:solidFill>
              <a:srgbClr val="4079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514" name="" descr=""/>
          <p:cNvPicPr/>
          <p:nvPr/>
        </p:nvPicPr>
        <p:blipFill>
          <a:blip r:embed="rId3"/>
          <a:srcRect l="3761" t="0" r="3066" b="0"/>
          <a:stretch/>
        </p:blipFill>
        <p:spPr>
          <a:xfrm>
            <a:off x="4756320" y="695160"/>
            <a:ext cx="5298120" cy="4136400"/>
          </a:xfrm>
          <a:prstGeom prst="rect">
            <a:avLst/>
          </a:prstGeom>
          <a:ln w="0">
            <a:noFill/>
          </a:ln>
        </p:spPr>
      </p:pic>
      <p:sp>
        <p:nvSpPr>
          <p:cNvPr id="515" name="CustomShape 3"/>
          <p:cNvSpPr/>
          <p:nvPr/>
        </p:nvSpPr>
        <p:spPr>
          <a:xfrm>
            <a:off x="1608480" y="25560"/>
            <a:ext cx="6242400" cy="454680"/>
          </a:xfrm>
          <a:custGeom>
            <a:avLst/>
            <a:gdLst>
              <a:gd name="textAreaLeft" fmla="*/ 0 w 6242400"/>
              <a:gd name="textAreaRight" fmla="*/ 6244200 w 624240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Limitations of tSNE and promise of UMAP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Line 4"/>
          <p:cNvSpPr/>
          <p:nvPr/>
        </p:nvSpPr>
        <p:spPr>
          <a:xfrm>
            <a:off x="306360" y="3637080"/>
            <a:ext cx="4265640" cy="1440"/>
          </a:xfrm>
          <a:prstGeom prst="line">
            <a:avLst/>
          </a:prstGeom>
          <a:ln w="36720">
            <a:solidFill>
              <a:srgbClr val="4079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" descr=""/>
          <p:cNvPicPr/>
          <p:nvPr/>
        </p:nvPicPr>
        <p:blipFill>
          <a:blip r:embed="rId1"/>
          <a:stretch/>
        </p:blipFill>
        <p:spPr>
          <a:xfrm>
            <a:off x="58680" y="41400"/>
            <a:ext cx="1275480" cy="449640"/>
          </a:xfrm>
          <a:prstGeom prst="rect">
            <a:avLst/>
          </a:prstGeom>
          <a:ln w="0">
            <a:noFill/>
          </a:ln>
        </p:spPr>
      </p:pic>
      <p:pic>
        <p:nvPicPr>
          <p:cNvPr id="518" name="" descr=""/>
          <p:cNvPicPr/>
          <p:nvPr/>
        </p:nvPicPr>
        <p:blipFill>
          <a:blip r:embed="rId2"/>
          <a:stretch/>
        </p:blipFill>
        <p:spPr>
          <a:xfrm>
            <a:off x="7954920" y="190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519" name="CustomShape 1"/>
          <p:cNvSpPr/>
          <p:nvPr/>
        </p:nvSpPr>
        <p:spPr>
          <a:xfrm>
            <a:off x="2328840" y="61920"/>
            <a:ext cx="5255280" cy="45468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454680"/>
              <a:gd name="textAreaBottom" fmla="*/ 45648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How is UMAP different from tSNE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0" name="" descr=""/>
          <p:cNvPicPr/>
          <p:nvPr/>
        </p:nvPicPr>
        <p:blipFill>
          <a:blip r:embed="rId3"/>
          <a:stretch/>
        </p:blipFill>
        <p:spPr>
          <a:xfrm>
            <a:off x="6335640" y="620640"/>
            <a:ext cx="2875680" cy="610200"/>
          </a:xfrm>
          <a:prstGeom prst="rect">
            <a:avLst/>
          </a:prstGeom>
          <a:ln w="0">
            <a:noFill/>
          </a:ln>
        </p:spPr>
      </p:pic>
      <p:sp>
        <p:nvSpPr>
          <p:cNvPr id="521" name="CustomShape 2"/>
          <p:cNvSpPr/>
          <p:nvPr/>
        </p:nvSpPr>
        <p:spPr>
          <a:xfrm>
            <a:off x="141120" y="669960"/>
            <a:ext cx="5696640" cy="838800"/>
          </a:xfrm>
          <a:custGeom>
            <a:avLst/>
            <a:gdLst>
              <a:gd name="textAreaLeft" fmla="*/ 0 w 5696640"/>
              <a:gd name="textAreaRight" fmla="*/ 5698440 w 5696640"/>
              <a:gd name="textAreaTop" fmla="*/ 0 h 838800"/>
              <a:gd name="textAreaBottom" fmla="*/ 840600 h 838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UMAP uses local connectivity for high-dim probabilities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UMAP does not normalize probabilities (speed-up)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2" name="" descr=""/>
          <p:cNvPicPr/>
          <p:nvPr/>
        </p:nvPicPr>
        <p:blipFill>
          <a:blip r:embed="rId4"/>
          <a:stretch/>
        </p:blipFill>
        <p:spPr>
          <a:xfrm>
            <a:off x="685800" y="4311720"/>
            <a:ext cx="8506440" cy="732600"/>
          </a:xfrm>
          <a:prstGeom prst="rect">
            <a:avLst/>
          </a:prstGeom>
          <a:ln w="0">
            <a:noFill/>
          </a:ln>
        </p:spPr>
      </p:pic>
      <p:sp>
        <p:nvSpPr>
          <p:cNvPr id="523" name="CustomShape 3"/>
          <p:cNvSpPr/>
          <p:nvPr/>
        </p:nvSpPr>
        <p:spPr>
          <a:xfrm>
            <a:off x="1668600" y="5203800"/>
            <a:ext cx="3737520" cy="324360"/>
          </a:xfrm>
          <a:custGeom>
            <a:avLst/>
            <a:gdLst>
              <a:gd name="textAreaLeft" fmla="*/ 0 w 3737520"/>
              <a:gd name="textAreaRight" fmla="*/ 3739320 w 3737520"/>
              <a:gd name="textAreaTop" fmla="*/ 0 h 324360"/>
              <a:gd name="textAreaBottom" fmla="*/ 326160 h 324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This is similar to tSNE cost function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Line 4"/>
          <p:cNvSpPr/>
          <p:nvPr/>
        </p:nvSpPr>
        <p:spPr>
          <a:xfrm flipV="1">
            <a:off x="3419640" y="4832280"/>
            <a:ext cx="237960" cy="441360"/>
          </a:xfrm>
          <a:prstGeom prst="line">
            <a:avLst/>
          </a:prstGeom>
          <a:ln w="183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5" name="CustomShape 5"/>
          <p:cNvSpPr/>
          <p:nvPr/>
        </p:nvSpPr>
        <p:spPr>
          <a:xfrm>
            <a:off x="6168960" y="5203800"/>
            <a:ext cx="2886840" cy="324360"/>
          </a:xfrm>
          <a:custGeom>
            <a:avLst/>
            <a:gdLst>
              <a:gd name="textAreaLeft" fmla="*/ 0 w 2886840"/>
              <a:gd name="textAreaRight" fmla="*/ 2888640 w 2886840"/>
              <a:gd name="textAreaTop" fmla="*/ 0 h 324360"/>
              <a:gd name="textAreaBottom" fmla="*/ 326160 h 324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This term is UMAP specific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Line 6"/>
          <p:cNvSpPr/>
          <p:nvPr/>
        </p:nvSpPr>
        <p:spPr>
          <a:xfrm flipV="1">
            <a:off x="6991200" y="4830480"/>
            <a:ext cx="100080" cy="460440"/>
          </a:xfrm>
          <a:prstGeom prst="line">
            <a:avLst/>
          </a:prstGeom>
          <a:ln w="183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7" name="CustomShape 7"/>
          <p:cNvSpPr/>
          <p:nvPr/>
        </p:nvSpPr>
        <p:spPr>
          <a:xfrm>
            <a:off x="147600" y="3059280"/>
            <a:ext cx="5298120" cy="840240"/>
          </a:xfrm>
          <a:custGeom>
            <a:avLst/>
            <a:gdLst>
              <a:gd name="textAreaLeft" fmla="*/ 0 w 5298120"/>
              <a:gd name="textAreaRight" fmla="*/ 5299920 w 5298120"/>
              <a:gd name="textAreaTop" fmla="*/ 0 h 840240"/>
              <a:gd name="textAreaBottom" fmla="*/ 842040 h 840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just"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UMAP uses Laplacian Eigenmap for initialization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94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4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UMAP uses Cross-Entropy (not KL) as cost function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CustomShape 8"/>
          <p:cNvSpPr/>
          <p:nvPr/>
        </p:nvSpPr>
        <p:spPr>
          <a:xfrm>
            <a:off x="128520" y="2254320"/>
            <a:ext cx="5961960" cy="345240"/>
          </a:xfrm>
          <a:custGeom>
            <a:avLst/>
            <a:gdLst>
              <a:gd name="textAreaLeft" fmla="*/ 0 w 5961960"/>
              <a:gd name="textAreaRight" fmla="*/ 5963760 w 5961960"/>
              <a:gd name="textAreaTop" fmla="*/ 0 h 345240"/>
              <a:gd name="textAreaBottom" fmla="*/ 347040 h 345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UMAP can deliver a number of components for clustering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9" name="" descr=""/>
          <p:cNvPicPr/>
          <p:nvPr/>
        </p:nvPicPr>
        <p:blipFill>
          <a:blip r:embed="rId5"/>
          <a:srcRect l="0" t="3042" r="3179" b="2656"/>
          <a:stretch/>
        </p:blipFill>
        <p:spPr>
          <a:xfrm>
            <a:off x="6043680" y="1263600"/>
            <a:ext cx="3967920" cy="300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CustomShape 1"/>
          <p:cNvSpPr/>
          <p:nvPr/>
        </p:nvSpPr>
        <p:spPr>
          <a:xfrm>
            <a:off x="1810080" y="1646280"/>
            <a:ext cx="6531120" cy="1622880"/>
          </a:xfrm>
          <a:custGeom>
            <a:avLst/>
            <a:gdLst>
              <a:gd name="textAreaLeft" fmla="*/ 0 w 6531120"/>
              <a:gd name="textAreaRight" fmla="*/ 6532920 w 6531120"/>
              <a:gd name="textAreaTop" fmla="*/ 0 h 1622880"/>
              <a:gd name="textAreaBottom" fmla="*/ 1624680 h 1622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tSNE vs. UMAP:</a:t>
            </a:r>
            <a:br>
              <a:rPr sz="1800"/>
            </a:b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global structure preservation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1" name="" descr=""/>
          <p:cNvPicPr/>
          <p:nvPr/>
        </p:nvPicPr>
        <p:blipFill>
          <a:blip r:embed="rId1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pic>
        <p:nvPicPr>
          <p:cNvPr id="532" name="" descr=""/>
          <p:cNvPicPr/>
          <p:nvPr/>
        </p:nvPicPr>
        <p:blipFill>
          <a:blip r:embed="rId2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" descr=""/>
          <p:cNvPicPr/>
          <p:nvPr/>
        </p:nvPicPr>
        <p:blipFill>
          <a:blip r:embed="rId1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534" name="" descr=""/>
          <p:cNvPicPr/>
          <p:nvPr/>
        </p:nvPicPr>
        <p:blipFill>
          <a:blip r:embed="rId2"/>
          <a:stretch/>
        </p:blipFill>
        <p:spPr>
          <a:xfrm>
            <a:off x="7954920" y="55440"/>
            <a:ext cx="2100960" cy="534240"/>
          </a:xfrm>
          <a:prstGeom prst="rect">
            <a:avLst/>
          </a:prstGeom>
          <a:ln w="0">
            <a:noFill/>
          </a:ln>
        </p:spPr>
      </p:pic>
      <p:pic>
        <p:nvPicPr>
          <p:cNvPr id="535" name="" descr=""/>
          <p:cNvPicPr/>
          <p:nvPr/>
        </p:nvPicPr>
        <p:blipFill>
          <a:blip r:embed="rId3"/>
          <a:stretch/>
        </p:blipFill>
        <p:spPr>
          <a:xfrm>
            <a:off x="914400" y="1077840"/>
            <a:ext cx="7700040" cy="3428280"/>
          </a:xfrm>
          <a:prstGeom prst="rect">
            <a:avLst/>
          </a:prstGeom>
          <a:ln w="0">
            <a:noFill/>
          </a:ln>
        </p:spPr>
      </p:pic>
      <p:sp>
        <p:nvSpPr>
          <p:cNvPr id="536" name="CustomShape 1"/>
          <p:cNvSpPr/>
          <p:nvPr/>
        </p:nvSpPr>
        <p:spPr>
          <a:xfrm>
            <a:off x="1849320" y="4809960"/>
            <a:ext cx="2720160" cy="308880"/>
          </a:xfrm>
          <a:custGeom>
            <a:avLst/>
            <a:gdLst>
              <a:gd name="textAreaLeft" fmla="*/ 0 w 2720160"/>
              <a:gd name="textAreaRight" fmla="*/ 2721960 w 2720160"/>
              <a:gd name="textAreaTop" fmla="*/ 0 h 308880"/>
              <a:gd name="textAreaBottom" fmla="*/ 310680 h 3088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X → infinity, Y can be any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CustomShape 2"/>
          <p:cNvSpPr/>
          <p:nvPr/>
        </p:nvSpPr>
        <p:spPr>
          <a:xfrm>
            <a:off x="5632560" y="4773600"/>
            <a:ext cx="2081880" cy="243720"/>
          </a:xfrm>
          <a:custGeom>
            <a:avLst/>
            <a:gdLst>
              <a:gd name="textAreaLeft" fmla="*/ 0 w 2081880"/>
              <a:gd name="textAreaRight" fmla="*/ 2083680 w 2081880"/>
              <a:gd name="textAreaTop" fmla="*/ 0 h 243720"/>
              <a:gd name="textAreaBottom" fmla="*/ 245520 h 243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X → infinity, Y → infinity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CustomShape 3"/>
          <p:cNvSpPr/>
          <p:nvPr/>
        </p:nvSpPr>
        <p:spPr>
          <a:xfrm>
            <a:off x="1321920" y="-46080"/>
            <a:ext cx="6698160" cy="775440"/>
          </a:xfrm>
          <a:custGeom>
            <a:avLst/>
            <a:gdLst>
              <a:gd name="textAreaLeft" fmla="*/ 0 w 6698160"/>
              <a:gd name="textAreaRight" fmla="*/ 6699960 w 6698160"/>
              <a:gd name="textAreaTop" fmla="*/ 0 h 775440"/>
              <a:gd name="textAreaBottom" fmla="*/ 777240 h 775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Cost function seems to make UMAP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preserve more of global structure than tSNE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" descr=""/>
          <p:cNvPicPr/>
          <p:nvPr/>
        </p:nvPicPr>
        <p:blipFill>
          <a:blip r:embed="rId1"/>
          <a:stretch/>
        </p:blipFill>
        <p:spPr>
          <a:xfrm>
            <a:off x="781200" y="493560"/>
            <a:ext cx="7758720" cy="5139720"/>
          </a:xfrm>
          <a:prstGeom prst="rect">
            <a:avLst/>
          </a:prstGeom>
          <a:ln w="0">
            <a:noFill/>
          </a:ln>
        </p:spPr>
      </p:pic>
      <p:pic>
        <p:nvPicPr>
          <p:cNvPr id="540" name="" descr=""/>
          <p:cNvPicPr/>
          <p:nvPr/>
        </p:nvPicPr>
        <p:blipFill>
          <a:blip r:embed="rId2"/>
          <a:stretch/>
        </p:blipFill>
        <p:spPr>
          <a:xfrm>
            <a:off x="7954920" y="334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541" name="CustomShape 1"/>
          <p:cNvSpPr/>
          <p:nvPr/>
        </p:nvSpPr>
        <p:spPr>
          <a:xfrm>
            <a:off x="1662480" y="-20520"/>
            <a:ext cx="6188400" cy="343440"/>
          </a:xfrm>
          <a:custGeom>
            <a:avLst/>
            <a:gdLst>
              <a:gd name="textAreaLeft" fmla="*/ 0 w 6188400"/>
              <a:gd name="textAreaRight" fmla="*/ 6190200 w 6188400"/>
              <a:gd name="textAreaTop" fmla="*/ 0 h 343440"/>
              <a:gd name="textAreaBottom" fmla="*/ 345240 h 343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Why preserving global structure is important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CustomShape 2"/>
          <p:cNvSpPr/>
          <p:nvPr/>
        </p:nvSpPr>
        <p:spPr>
          <a:xfrm>
            <a:off x="565200" y="493560"/>
            <a:ext cx="4008960" cy="255816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543" name="" descr=""/>
          <p:cNvPicPr/>
          <p:nvPr/>
        </p:nvPicPr>
        <p:blipFill>
          <a:blip r:embed="rId3"/>
          <a:stretch/>
        </p:blipFill>
        <p:spPr>
          <a:xfrm>
            <a:off x="984240" y="549360"/>
            <a:ext cx="3532680" cy="2524680"/>
          </a:xfrm>
          <a:prstGeom prst="rect">
            <a:avLst/>
          </a:prstGeom>
          <a:ln w="0">
            <a:noFill/>
          </a:ln>
        </p:spPr>
      </p:pic>
      <p:pic>
        <p:nvPicPr>
          <p:cNvPr id="544" name="" descr=""/>
          <p:cNvPicPr/>
          <p:nvPr/>
        </p:nvPicPr>
        <p:blipFill>
          <a:blip r:embed="rId4"/>
          <a:stretch/>
        </p:blipFill>
        <p:spPr>
          <a:xfrm>
            <a:off x="58680" y="55440"/>
            <a:ext cx="1275480" cy="450000"/>
          </a:xfrm>
          <a:prstGeom prst="rect">
            <a:avLst/>
          </a:prstGeom>
          <a:ln w="0">
            <a:noFill/>
          </a:ln>
        </p:spPr>
      </p:pic>
      <p:sp>
        <p:nvSpPr>
          <p:cNvPr id="545" name="CustomShape 3"/>
          <p:cNvSpPr/>
          <p:nvPr/>
        </p:nvSpPr>
        <p:spPr>
          <a:xfrm>
            <a:off x="8431200" y="2560680"/>
            <a:ext cx="1643760" cy="822960"/>
          </a:xfrm>
          <a:custGeom>
            <a:avLst/>
            <a:gdLst>
              <a:gd name="textAreaLeft" fmla="*/ 0 w 1643760"/>
              <a:gd name="textAreaRight" fmla="*/ 1645560 w 1643760"/>
              <a:gd name="textAreaTop" fmla="*/ 0 h 822960"/>
              <a:gd name="textAreaBottom" fmla="*/ 824760 h 822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300" spc="-1" strike="noStrike">
                <a:solidFill>
                  <a:srgbClr val="f80606"/>
                </a:solidFill>
                <a:latin typeface="Arial"/>
                <a:ea typeface="DejaVu Sans"/>
              </a:rPr>
              <a:t>Can large perplexity solve the problem of global structure for tSNE?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" descr=""/>
          <p:cNvPicPr/>
          <p:nvPr/>
        </p:nvPicPr>
        <p:blipFill>
          <a:blip r:embed="rId1"/>
          <a:stretch/>
        </p:blipFill>
        <p:spPr>
          <a:xfrm>
            <a:off x="577800" y="549360"/>
            <a:ext cx="7893720" cy="5107680"/>
          </a:xfrm>
          <a:prstGeom prst="rect">
            <a:avLst/>
          </a:prstGeom>
          <a:ln w="0">
            <a:noFill/>
          </a:ln>
        </p:spPr>
      </p:pic>
      <p:pic>
        <p:nvPicPr>
          <p:cNvPr id="547" name="" descr=""/>
          <p:cNvPicPr/>
          <p:nvPr/>
        </p:nvPicPr>
        <p:blipFill>
          <a:blip r:embed="rId2"/>
          <a:stretch/>
        </p:blipFill>
        <p:spPr>
          <a:xfrm>
            <a:off x="58680" y="5544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548" name="" descr=""/>
          <p:cNvPicPr/>
          <p:nvPr/>
        </p:nvPicPr>
        <p:blipFill>
          <a:blip r:embed="rId3"/>
          <a:stretch/>
        </p:blipFill>
        <p:spPr>
          <a:xfrm>
            <a:off x="7954920" y="33480"/>
            <a:ext cx="2100960" cy="533880"/>
          </a:xfrm>
          <a:prstGeom prst="rect">
            <a:avLst/>
          </a:prstGeom>
          <a:ln w="0">
            <a:noFill/>
          </a:ln>
        </p:spPr>
      </p:pic>
      <p:sp>
        <p:nvSpPr>
          <p:cNvPr id="549" name="CustomShape 1"/>
          <p:cNvSpPr/>
          <p:nvPr/>
        </p:nvSpPr>
        <p:spPr>
          <a:xfrm>
            <a:off x="1696680" y="-3240"/>
            <a:ext cx="6098760" cy="343800"/>
          </a:xfrm>
          <a:custGeom>
            <a:avLst/>
            <a:gdLst>
              <a:gd name="textAreaLeft" fmla="*/ 0 w 6098760"/>
              <a:gd name="textAreaRight" fmla="*/ 6100560 w 6098760"/>
              <a:gd name="textAreaTop" fmla="*/ 0 h 343800"/>
              <a:gd name="textAreaBottom" fmla="*/ 345600 h 343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Why preserving global structure is important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CustomShape 2"/>
          <p:cNvSpPr/>
          <p:nvPr/>
        </p:nvSpPr>
        <p:spPr>
          <a:xfrm>
            <a:off x="8431200" y="2560680"/>
            <a:ext cx="1643760" cy="822960"/>
          </a:xfrm>
          <a:custGeom>
            <a:avLst/>
            <a:gdLst>
              <a:gd name="textAreaLeft" fmla="*/ 0 w 1643760"/>
              <a:gd name="textAreaRight" fmla="*/ 1645560 w 1643760"/>
              <a:gd name="textAreaTop" fmla="*/ 0 h 822960"/>
              <a:gd name="textAreaBottom" fmla="*/ 824760 h 822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300" spc="-1" strike="noStrike">
                <a:solidFill>
                  <a:srgbClr val="f80606"/>
                </a:solidFill>
                <a:latin typeface="Arial"/>
                <a:ea typeface="DejaVu Sans"/>
              </a:rPr>
              <a:t>Can large perplexity solve the problem of global structure for tSNE?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" descr=""/>
          <p:cNvPicPr/>
          <p:nvPr/>
        </p:nvPicPr>
        <p:blipFill>
          <a:blip r:embed="rId1"/>
          <a:stretch/>
        </p:blipFill>
        <p:spPr>
          <a:xfrm>
            <a:off x="1084320" y="549360"/>
            <a:ext cx="7633440" cy="5083920"/>
          </a:xfrm>
          <a:prstGeom prst="rect">
            <a:avLst/>
          </a:prstGeom>
          <a:ln w="0">
            <a:noFill/>
          </a:ln>
        </p:spPr>
      </p:pic>
      <p:sp>
        <p:nvSpPr>
          <p:cNvPr id="552" name="CustomShape 1"/>
          <p:cNvSpPr/>
          <p:nvPr/>
        </p:nvSpPr>
        <p:spPr>
          <a:xfrm>
            <a:off x="1845000" y="52560"/>
            <a:ext cx="5931000" cy="343440"/>
          </a:xfrm>
          <a:custGeom>
            <a:avLst/>
            <a:gdLst>
              <a:gd name="textAreaLeft" fmla="*/ 0 w 5931000"/>
              <a:gd name="textAreaRight" fmla="*/ 5932800 w 5931000"/>
              <a:gd name="textAreaTop" fmla="*/ 0 h 343440"/>
              <a:gd name="textAreaBottom" fmla="*/ 345240 h 343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ejaVu Sans"/>
              </a:rPr>
              <a:t>KL-gradient goes to zero at large perplexity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3" name="" descr=""/>
          <p:cNvPicPr/>
          <p:nvPr/>
        </p:nvPicPr>
        <p:blipFill>
          <a:blip r:embed="rId2"/>
          <a:srcRect l="23390" t="60497" r="21268" b="2380"/>
          <a:stretch/>
        </p:blipFill>
        <p:spPr>
          <a:xfrm>
            <a:off x="3686040" y="1782720"/>
            <a:ext cx="4428360" cy="1575360"/>
          </a:xfrm>
          <a:prstGeom prst="rect">
            <a:avLst/>
          </a:prstGeom>
          <a:ln w="0">
            <a:noFill/>
          </a:ln>
        </p:spPr>
      </p:pic>
      <p:pic>
        <p:nvPicPr>
          <p:cNvPr id="554" name="" descr=""/>
          <p:cNvPicPr/>
          <p:nvPr/>
        </p:nvPicPr>
        <p:blipFill>
          <a:blip r:embed="rId3"/>
          <a:stretch/>
        </p:blipFill>
        <p:spPr>
          <a:xfrm>
            <a:off x="58680" y="5544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555" name="" descr=""/>
          <p:cNvPicPr/>
          <p:nvPr/>
        </p:nvPicPr>
        <p:blipFill>
          <a:blip r:embed="rId4"/>
          <a:stretch/>
        </p:blipFill>
        <p:spPr>
          <a:xfrm>
            <a:off x="7954920" y="33480"/>
            <a:ext cx="2100960" cy="5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" descr=""/>
          <p:cNvPicPr/>
          <p:nvPr/>
        </p:nvPicPr>
        <p:blipFill>
          <a:blip r:embed="rId1"/>
          <a:stretch/>
        </p:blipFill>
        <p:spPr>
          <a:xfrm>
            <a:off x="19080" y="549360"/>
            <a:ext cx="10076400" cy="5118840"/>
          </a:xfrm>
          <a:prstGeom prst="rect">
            <a:avLst/>
          </a:prstGeom>
          <a:ln w="0">
            <a:noFill/>
          </a:ln>
        </p:spPr>
      </p:pic>
      <p:sp>
        <p:nvSpPr>
          <p:cNvPr id="557" name="CustomShape 1"/>
          <p:cNvSpPr/>
          <p:nvPr/>
        </p:nvSpPr>
        <p:spPr>
          <a:xfrm>
            <a:off x="1268640" y="33480"/>
            <a:ext cx="7064640" cy="343440"/>
          </a:xfrm>
          <a:custGeom>
            <a:avLst/>
            <a:gdLst>
              <a:gd name="textAreaLeft" fmla="*/ 0 w 7064640"/>
              <a:gd name="textAreaRight" fmla="*/ 7066440 w 7064640"/>
              <a:gd name="textAreaTop" fmla="*/ 0 h 343440"/>
              <a:gd name="textAreaBottom" fmla="*/ 345240 h 343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1900" spc="-1" strike="noStrike">
                <a:solidFill>
                  <a:srgbClr val="0066cc"/>
                </a:solidFill>
                <a:latin typeface="Arial"/>
                <a:ea typeface="DejaVu Sans"/>
              </a:rPr>
              <a:t>tSNE degrades to PCA on non-linear manifold at large perplexity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8" name="" descr=""/>
          <p:cNvPicPr/>
          <p:nvPr/>
        </p:nvPicPr>
        <p:blipFill>
          <a:blip r:embed="rId2"/>
          <a:stretch/>
        </p:blipFill>
        <p:spPr>
          <a:xfrm>
            <a:off x="58680" y="55440"/>
            <a:ext cx="1218240" cy="450000"/>
          </a:xfrm>
          <a:prstGeom prst="rect">
            <a:avLst/>
          </a:prstGeom>
          <a:ln w="0">
            <a:noFill/>
          </a:ln>
        </p:spPr>
      </p:pic>
      <p:pic>
        <p:nvPicPr>
          <p:cNvPr id="559" name="" descr=""/>
          <p:cNvPicPr/>
          <p:nvPr/>
        </p:nvPicPr>
        <p:blipFill>
          <a:blip r:embed="rId3"/>
          <a:stretch/>
        </p:blipFill>
        <p:spPr>
          <a:xfrm>
            <a:off x="8321760" y="33480"/>
            <a:ext cx="1734120" cy="5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1268640" y="1693440"/>
            <a:ext cx="7734960" cy="771840"/>
          </a:xfrm>
          <a:custGeom>
            <a:avLst/>
            <a:gdLst>
              <a:gd name="textAreaLeft" fmla="*/ 0 w 7734960"/>
              <a:gd name="textAreaRight" fmla="*/ 7736760 w 7734960"/>
              <a:gd name="textAreaTop" fmla="*/ 0 h 771840"/>
              <a:gd name="textAreaBottom" fmla="*/ 773640 h 771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1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UMAP for Population Genomics applications: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4000"/>
              </a:lnSpc>
            </a:pPr>
            <a:r>
              <a:rPr b="1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addressing some recent fair and unfair criticism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1" name="" descr=""/>
          <p:cNvPicPr/>
          <p:nvPr/>
        </p:nvPicPr>
        <p:blipFill>
          <a:blip r:embed="rId1"/>
          <a:stretch/>
        </p:blipFill>
        <p:spPr>
          <a:xfrm>
            <a:off x="60120" y="96120"/>
            <a:ext cx="1271160" cy="445320"/>
          </a:xfrm>
          <a:prstGeom prst="rect">
            <a:avLst/>
          </a:prstGeom>
          <a:ln w="0">
            <a:noFill/>
          </a:ln>
        </p:spPr>
      </p:pic>
      <p:pic>
        <p:nvPicPr>
          <p:cNvPr id="562" name="" descr=""/>
          <p:cNvPicPr/>
          <p:nvPr/>
        </p:nvPicPr>
        <p:blipFill>
          <a:blip r:embed="rId2"/>
          <a:stretch/>
        </p:blipFill>
        <p:spPr>
          <a:xfrm>
            <a:off x="7956000" y="73800"/>
            <a:ext cx="2096640" cy="52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" descr=""/>
          <p:cNvPicPr/>
          <p:nvPr/>
        </p:nvPicPr>
        <p:blipFill>
          <a:blip r:embed="rId1"/>
          <a:stretch/>
        </p:blipFill>
        <p:spPr>
          <a:xfrm>
            <a:off x="8640" y="2520"/>
            <a:ext cx="10076400" cy="566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" descr=""/>
          <p:cNvPicPr/>
          <p:nvPr/>
        </p:nvPicPr>
        <p:blipFill>
          <a:blip r:embed="rId1"/>
          <a:srcRect l="3506" t="3511" r="3918" b="3565"/>
          <a:stretch/>
        </p:blipFill>
        <p:spPr>
          <a:xfrm>
            <a:off x="15480" y="618840"/>
            <a:ext cx="3693960" cy="4965480"/>
          </a:xfrm>
          <a:prstGeom prst="rect">
            <a:avLst/>
          </a:prstGeom>
          <a:ln w="0">
            <a:noFill/>
          </a:ln>
        </p:spPr>
      </p:pic>
      <p:pic>
        <p:nvPicPr>
          <p:cNvPr id="565" name="" descr=""/>
          <p:cNvPicPr/>
          <p:nvPr/>
        </p:nvPicPr>
        <p:blipFill>
          <a:blip r:embed="rId2"/>
          <a:srcRect l="32551" t="19290" r="31449" b="0"/>
          <a:stretch/>
        </p:blipFill>
        <p:spPr>
          <a:xfrm>
            <a:off x="6303600" y="628200"/>
            <a:ext cx="3749760" cy="5037120"/>
          </a:xfrm>
          <a:prstGeom prst="rect">
            <a:avLst/>
          </a:prstGeom>
          <a:ln w="0">
            <a:noFill/>
          </a:ln>
        </p:spPr>
      </p:pic>
      <p:pic>
        <p:nvPicPr>
          <p:cNvPr id="566" name="" descr=""/>
          <p:cNvPicPr/>
          <p:nvPr/>
        </p:nvPicPr>
        <p:blipFill>
          <a:blip r:embed="rId3"/>
          <a:srcRect l="14413" t="16063" r="43835" b="35538"/>
          <a:stretch/>
        </p:blipFill>
        <p:spPr>
          <a:xfrm>
            <a:off x="7733880" y="1866600"/>
            <a:ext cx="2239920" cy="1460520"/>
          </a:xfrm>
          <a:prstGeom prst="rect">
            <a:avLst/>
          </a:prstGeom>
          <a:ln w="0">
            <a:noFill/>
          </a:ln>
        </p:spPr>
      </p:pic>
      <p:pic>
        <p:nvPicPr>
          <p:cNvPr id="567" name="" descr=""/>
          <p:cNvPicPr/>
          <p:nvPr/>
        </p:nvPicPr>
        <p:blipFill>
          <a:blip r:embed="rId4"/>
          <a:stretch/>
        </p:blipFill>
        <p:spPr>
          <a:xfrm>
            <a:off x="58320" y="47160"/>
            <a:ext cx="1274760" cy="449280"/>
          </a:xfrm>
          <a:prstGeom prst="rect">
            <a:avLst/>
          </a:prstGeom>
          <a:ln w="0">
            <a:noFill/>
          </a:ln>
        </p:spPr>
      </p:pic>
      <p:pic>
        <p:nvPicPr>
          <p:cNvPr id="568" name="" descr=""/>
          <p:cNvPicPr/>
          <p:nvPr/>
        </p:nvPicPr>
        <p:blipFill>
          <a:blip r:embed="rId5"/>
          <a:stretch/>
        </p:blipFill>
        <p:spPr>
          <a:xfrm>
            <a:off x="7954560" y="25200"/>
            <a:ext cx="2100240" cy="533160"/>
          </a:xfrm>
          <a:prstGeom prst="rect">
            <a:avLst/>
          </a:prstGeom>
          <a:ln w="0">
            <a:noFill/>
          </a:ln>
        </p:spPr>
      </p:pic>
      <p:sp>
        <p:nvSpPr>
          <p:cNvPr id="569" name="CustomShape 1"/>
          <p:cNvSpPr/>
          <p:nvPr/>
        </p:nvSpPr>
        <p:spPr>
          <a:xfrm>
            <a:off x="2123640" y="12240"/>
            <a:ext cx="5254560" cy="453960"/>
          </a:xfrm>
          <a:custGeom>
            <a:avLst/>
            <a:gdLst>
              <a:gd name="textAreaLeft" fmla="*/ 0 w 5254560"/>
              <a:gd name="textAreaRight" fmla="*/ 5256360 w 5254560"/>
              <a:gd name="textAreaTop" fmla="*/ 0 h 453960"/>
              <a:gd name="textAreaBottom" fmla="*/ 455760 h 453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UMAP (and Single Cell) Criticism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0" name="" descr=""/>
          <p:cNvPicPr/>
          <p:nvPr/>
        </p:nvPicPr>
        <p:blipFill>
          <a:blip r:embed="rId6"/>
          <a:srcRect l="13508" t="17676" r="25705" b="4899"/>
          <a:stretch/>
        </p:blipFill>
        <p:spPr>
          <a:xfrm>
            <a:off x="14040" y="1071360"/>
            <a:ext cx="1136520" cy="812520"/>
          </a:xfrm>
          <a:prstGeom prst="rect">
            <a:avLst/>
          </a:prstGeom>
          <a:ln w="0">
            <a:noFill/>
          </a:ln>
        </p:spPr>
      </p:pic>
      <p:pic>
        <p:nvPicPr>
          <p:cNvPr id="571" name="" descr=""/>
          <p:cNvPicPr/>
          <p:nvPr/>
        </p:nvPicPr>
        <p:blipFill>
          <a:blip r:embed="rId7"/>
          <a:srcRect l="31642" t="0" r="38394" b="0"/>
          <a:stretch/>
        </p:blipFill>
        <p:spPr>
          <a:xfrm>
            <a:off x="3744720" y="678960"/>
            <a:ext cx="2577960" cy="484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CustomShape 1"/>
          <p:cNvSpPr/>
          <p:nvPr/>
        </p:nvSpPr>
        <p:spPr>
          <a:xfrm>
            <a:off x="515160" y="1645920"/>
            <a:ext cx="8995680" cy="1622160"/>
          </a:xfrm>
          <a:custGeom>
            <a:avLst/>
            <a:gdLst>
              <a:gd name="textAreaLeft" fmla="*/ 0 w 8995680"/>
              <a:gd name="textAreaRight" fmla="*/ 8997480 w 8995680"/>
              <a:gd name="textAreaTop" fmla="*/ 0 h 1622160"/>
              <a:gd name="textAreaBottom" fmla="*/ 1623960 h 162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Going through the post of Rafael Irizarry:</a:t>
            </a:r>
            <a:br>
              <a:rPr sz="1800"/>
            </a:br>
            <a:br>
              <a:rPr sz="1800"/>
            </a:br>
            <a:r>
              <a:rPr b="1" lang="en-US" sz="3600" spc="-1" strike="noStrike">
                <a:solidFill>
                  <a:srgbClr val="ff0000"/>
                </a:solidFill>
                <a:latin typeface="Arial"/>
                <a:ea typeface="DejaVu Sans"/>
              </a:rPr>
              <a:t>Statement 1: UMAP makes artificial clusters?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3" name="" descr=""/>
          <p:cNvPicPr/>
          <p:nvPr/>
        </p:nvPicPr>
        <p:blipFill>
          <a:blip r:embed="rId1"/>
          <a:stretch/>
        </p:blipFill>
        <p:spPr>
          <a:xfrm>
            <a:off x="7954560" y="55080"/>
            <a:ext cx="2100240" cy="533520"/>
          </a:xfrm>
          <a:prstGeom prst="rect">
            <a:avLst/>
          </a:prstGeom>
          <a:ln w="0">
            <a:noFill/>
          </a:ln>
        </p:spPr>
      </p:pic>
      <p:pic>
        <p:nvPicPr>
          <p:cNvPr id="574" name="" descr=""/>
          <p:cNvPicPr/>
          <p:nvPr/>
        </p:nvPicPr>
        <p:blipFill>
          <a:blip r:embed="rId2"/>
          <a:stretch/>
        </p:blipFill>
        <p:spPr>
          <a:xfrm>
            <a:off x="58320" y="77400"/>
            <a:ext cx="1274760" cy="4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" descr=""/>
          <p:cNvPicPr/>
          <p:nvPr/>
        </p:nvPicPr>
        <p:blipFill>
          <a:blip r:embed="rId1"/>
          <a:srcRect l="30736" t="9624" r="31138" b="3286"/>
          <a:stretch/>
        </p:blipFill>
        <p:spPr>
          <a:xfrm>
            <a:off x="12240" y="509400"/>
            <a:ext cx="4006800" cy="5152680"/>
          </a:xfrm>
          <a:prstGeom prst="rect">
            <a:avLst/>
          </a:prstGeom>
          <a:ln w="0">
            <a:noFill/>
          </a:ln>
        </p:spPr>
      </p:pic>
      <p:sp>
        <p:nvSpPr>
          <p:cNvPr id="576" name="CustomShape 1"/>
          <p:cNvSpPr/>
          <p:nvPr/>
        </p:nvSpPr>
        <p:spPr>
          <a:xfrm>
            <a:off x="1465200" y="-8280"/>
            <a:ext cx="6417360" cy="341280"/>
          </a:xfrm>
          <a:custGeom>
            <a:avLst/>
            <a:gdLst>
              <a:gd name="textAreaLeft" fmla="*/ 0 w 6417360"/>
              <a:gd name="textAreaRight" fmla="*/ 6419160 w 641736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Are we looking at 3- or 100-dimensional data?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7" name="" descr=""/>
          <p:cNvPicPr/>
          <p:nvPr/>
        </p:nvPicPr>
        <p:blipFill>
          <a:blip r:embed="rId2"/>
          <a:stretch/>
        </p:blipFill>
        <p:spPr>
          <a:xfrm>
            <a:off x="7956360" y="23400"/>
            <a:ext cx="2099880" cy="533520"/>
          </a:xfrm>
          <a:prstGeom prst="rect">
            <a:avLst/>
          </a:prstGeom>
          <a:ln w="0">
            <a:noFill/>
          </a:ln>
        </p:spPr>
      </p:pic>
      <p:pic>
        <p:nvPicPr>
          <p:cNvPr id="578" name="" descr=""/>
          <p:cNvPicPr/>
          <p:nvPr/>
        </p:nvPicPr>
        <p:blipFill>
          <a:blip r:embed="rId3"/>
          <a:stretch/>
        </p:blipFill>
        <p:spPr>
          <a:xfrm>
            <a:off x="60120" y="47160"/>
            <a:ext cx="1274400" cy="449280"/>
          </a:xfrm>
          <a:prstGeom prst="rect">
            <a:avLst/>
          </a:prstGeom>
          <a:ln w="0">
            <a:noFill/>
          </a:ln>
        </p:spPr>
      </p:pic>
      <p:sp>
        <p:nvSpPr>
          <p:cNvPr id="579" name="Line 2"/>
          <p:cNvSpPr/>
          <p:nvPr/>
        </p:nvSpPr>
        <p:spPr>
          <a:xfrm>
            <a:off x="193320" y="3017520"/>
            <a:ext cx="1392120" cy="1440"/>
          </a:xfrm>
          <a:prstGeom prst="line">
            <a:avLst/>
          </a:prstGeom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560" bIns="-43560" anchor="t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580" name="Group 3"/>
          <p:cNvGrpSpPr/>
          <p:nvPr/>
        </p:nvGrpSpPr>
        <p:grpSpPr>
          <a:xfrm>
            <a:off x="4028760" y="549000"/>
            <a:ext cx="3155760" cy="2533680"/>
            <a:chOff x="4028760" y="549000"/>
            <a:chExt cx="3155760" cy="2533680"/>
          </a:xfrm>
        </p:grpSpPr>
        <p:pic>
          <p:nvPicPr>
            <p:cNvPr id="581" name="" descr=""/>
            <p:cNvPicPr/>
            <p:nvPr/>
          </p:nvPicPr>
          <p:blipFill>
            <a:blip r:embed="rId4"/>
            <a:srcRect l="0" t="8100" r="2954" b="1800"/>
            <a:stretch/>
          </p:blipFill>
          <p:spPr>
            <a:xfrm>
              <a:off x="4028760" y="549000"/>
              <a:ext cx="3155760" cy="2533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82" name="CustomShape 4"/>
            <p:cNvSpPr/>
            <p:nvPr/>
          </p:nvSpPr>
          <p:spPr>
            <a:xfrm>
              <a:off x="5338440" y="1453680"/>
              <a:ext cx="1662120" cy="677880"/>
            </a:xfrm>
            <a:custGeom>
              <a:avLst/>
              <a:gdLst>
                <a:gd name="textAreaLeft" fmla="*/ 0 w 1662120"/>
                <a:gd name="textAreaRight" fmla="*/ 1663920 w 1662120"/>
                <a:gd name="textAreaTop" fmla="*/ 0 h 677880"/>
                <a:gd name="textAreaBottom" fmla="*/ 679680 h 67788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My experiment:</a:t>
              </a:r>
              <a:br>
                <a:rPr sz="1800"/>
              </a:b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UMAP on matrix of</a:t>
              </a:r>
              <a:br>
                <a:rPr sz="1800"/>
              </a:b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pairwise distances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3" name="Group 5"/>
          <p:cNvGrpSpPr/>
          <p:nvPr/>
        </p:nvGrpSpPr>
        <p:grpSpPr>
          <a:xfrm>
            <a:off x="4043160" y="3122280"/>
            <a:ext cx="3157200" cy="2522520"/>
            <a:chOff x="4043160" y="3122280"/>
            <a:chExt cx="3157200" cy="2522520"/>
          </a:xfrm>
        </p:grpSpPr>
        <p:pic>
          <p:nvPicPr>
            <p:cNvPr id="584" name="" descr=""/>
            <p:cNvPicPr/>
            <p:nvPr/>
          </p:nvPicPr>
          <p:blipFill>
            <a:blip r:embed="rId5"/>
            <a:srcRect l="0" t="8008" r="2299" b="1675"/>
            <a:stretch/>
          </p:blipFill>
          <p:spPr>
            <a:xfrm>
              <a:off x="4043160" y="3122280"/>
              <a:ext cx="3157200" cy="2522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85" name="CustomShape 6"/>
            <p:cNvSpPr/>
            <p:nvPr/>
          </p:nvSpPr>
          <p:spPr>
            <a:xfrm>
              <a:off x="4289040" y="3190680"/>
              <a:ext cx="1388880" cy="677520"/>
            </a:xfrm>
            <a:custGeom>
              <a:avLst/>
              <a:gdLst>
                <a:gd name="textAreaLeft" fmla="*/ 0 w 1388880"/>
                <a:gd name="textAreaRight" fmla="*/ 1390680 w 1388880"/>
                <a:gd name="textAreaTop" fmla="*/ 0 h 677520"/>
                <a:gd name="textAreaBottom" fmla="*/ 679320 h 67752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My experiment:</a:t>
              </a:r>
              <a:br>
                <a:rPr sz="1800"/>
              </a:b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UMAP on raw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b="0" lang="en-US" sz="14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data matrix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86" name="" descr=""/>
          <p:cNvPicPr/>
          <p:nvPr/>
        </p:nvPicPr>
        <p:blipFill>
          <a:blip r:embed="rId6"/>
          <a:srcRect l="31644" t="-45" r="37492" b="41967"/>
          <a:stretch/>
        </p:blipFill>
        <p:spPr>
          <a:xfrm>
            <a:off x="7330680" y="537840"/>
            <a:ext cx="2673360" cy="2832120"/>
          </a:xfrm>
          <a:prstGeom prst="rect">
            <a:avLst/>
          </a:prstGeom>
          <a:ln w="0">
            <a:noFill/>
          </a:ln>
        </p:spPr>
      </p:pic>
      <p:pic>
        <p:nvPicPr>
          <p:cNvPr id="587" name="" descr=""/>
          <p:cNvPicPr/>
          <p:nvPr/>
        </p:nvPicPr>
        <p:blipFill>
          <a:blip r:embed="rId7"/>
          <a:srcRect l="33459" t="17676" r="33124" b="61323"/>
          <a:stretch/>
        </p:blipFill>
        <p:spPr>
          <a:xfrm>
            <a:off x="7218000" y="3931920"/>
            <a:ext cx="2817720" cy="992160"/>
          </a:xfrm>
          <a:prstGeom prst="rect">
            <a:avLst/>
          </a:prstGeom>
          <a:ln w="0">
            <a:noFill/>
          </a:ln>
        </p:spPr>
      </p:pic>
      <p:grpSp>
        <p:nvGrpSpPr>
          <p:cNvPr id="588" name="Group 7"/>
          <p:cNvGrpSpPr/>
          <p:nvPr/>
        </p:nvGrpSpPr>
        <p:grpSpPr>
          <a:xfrm>
            <a:off x="6857640" y="4927320"/>
            <a:ext cx="1644840" cy="282960"/>
            <a:chOff x="6857640" y="4927320"/>
            <a:chExt cx="1644840" cy="282960"/>
          </a:xfrm>
        </p:grpSpPr>
        <p:sp>
          <p:nvSpPr>
            <p:cNvPr id="589" name="Line 8"/>
            <p:cNvSpPr/>
            <p:nvPr/>
          </p:nvSpPr>
          <p:spPr>
            <a:xfrm flipH="1">
              <a:off x="6857640" y="5209920"/>
              <a:ext cx="1644480" cy="360"/>
            </a:xfrm>
            <a:prstGeom prst="line">
              <a:avLst/>
            </a:prstGeom>
            <a:ln w="3672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0" name="Line 9"/>
            <p:cNvSpPr/>
            <p:nvPr/>
          </p:nvSpPr>
          <p:spPr>
            <a:xfrm>
              <a:off x="8502120" y="4927320"/>
              <a:ext cx="360" cy="281160"/>
            </a:xfrm>
            <a:prstGeom prst="line">
              <a:avLst/>
            </a:prstGeom>
            <a:ln w="3672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591" name="CustomShape 10"/>
          <p:cNvSpPr/>
          <p:nvPr/>
        </p:nvSpPr>
        <p:spPr>
          <a:xfrm>
            <a:off x="7243560" y="4133520"/>
            <a:ext cx="2099880" cy="271440"/>
          </a:xfrm>
          <a:prstGeom prst="rect">
            <a:avLst/>
          </a:prstGeom>
          <a:noFill/>
          <a:ln w="18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dur="indefinite" fill="hold">
                      <p:stCondLst>
                        <p:cond delay="indefinite"/>
                      </p:stCondLst>
                      <p:childTnLst>
                        <p:par>
                          <p:cTn id="10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dur="indefinite" fill="hold">
                      <p:stCondLst>
                        <p:cond delay="indefinite"/>
                      </p:stCondLst>
                      <p:childTnLst>
                        <p:par>
                          <p:cTn id="10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dur="indefinite" fill="hold">
                      <p:stCondLst>
                        <p:cond delay="indefinite"/>
                      </p:stCondLst>
                      <p:childTnLst>
                        <p:par>
                          <p:cTn id="10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0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dur="indefinite" fill="hold">
                      <p:stCondLst>
                        <p:cond delay="indefinite"/>
                      </p:stCondLst>
                      <p:childTnLst>
                        <p:par>
                          <p:cTn id="11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dur="indefinite" fill="hold">
                      <p:stCondLst>
                        <p:cond delay="indefinite"/>
                      </p:stCondLst>
                      <p:childTnLst>
                        <p:par>
                          <p:cTn id="11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1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dur="indefinite" fill="hold">
                      <p:stCondLst>
                        <p:cond delay="indefinite"/>
                      </p:stCondLst>
                      <p:childTnLst>
                        <p:par>
                          <p:cTn id="12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2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dur="indefinite" fill="hold">
                      <p:stCondLst>
                        <p:cond delay="indefinite"/>
                      </p:stCondLst>
                      <p:childTnLst>
                        <p:par>
                          <p:cTn id="12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2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" descr=""/>
          <p:cNvPicPr/>
          <p:nvPr/>
        </p:nvPicPr>
        <p:blipFill>
          <a:blip r:embed="rId1"/>
          <a:srcRect l="0" t="4784" r="0" b="47"/>
          <a:stretch/>
        </p:blipFill>
        <p:spPr>
          <a:xfrm>
            <a:off x="1174320" y="590040"/>
            <a:ext cx="7707240" cy="5040360"/>
          </a:xfrm>
          <a:prstGeom prst="rect">
            <a:avLst/>
          </a:prstGeom>
          <a:ln w="0">
            <a:noFill/>
          </a:ln>
        </p:spPr>
      </p:pic>
      <p:sp>
        <p:nvSpPr>
          <p:cNvPr id="593" name="CustomShape 1"/>
          <p:cNvSpPr/>
          <p:nvPr/>
        </p:nvSpPr>
        <p:spPr>
          <a:xfrm>
            <a:off x="1501200" y="7560"/>
            <a:ext cx="6460560" cy="341280"/>
          </a:xfrm>
          <a:custGeom>
            <a:avLst/>
            <a:gdLst>
              <a:gd name="textAreaLeft" fmla="*/ 0 w 6460560"/>
              <a:gd name="textAreaRight" fmla="*/ 6462360 w 646056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UMAP on matrix of pairwise distances (N=100)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4" name="" descr=""/>
          <p:cNvPicPr/>
          <p:nvPr/>
        </p:nvPicPr>
        <p:blipFill>
          <a:blip r:embed="rId2"/>
          <a:stretch/>
        </p:blipFill>
        <p:spPr>
          <a:xfrm>
            <a:off x="7956360" y="39240"/>
            <a:ext cx="2099880" cy="533520"/>
          </a:xfrm>
          <a:prstGeom prst="rect">
            <a:avLst/>
          </a:prstGeom>
          <a:ln w="0">
            <a:noFill/>
          </a:ln>
        </p:spPr>
      </p:pic>
      <p:pic>
        <p:nvPicPr>
          <p:cNvPr id="595" name="" descr=""/>
          <p:cNvPicPr/>
          <p:nvPr/>
        </p:nvPicPr>
        <p:blipFill>
          <a:blip r:embed="rId3"/>
          <a:stretch/>
        </p:blipFill>
        <p:spPr>
          <a:xfrm>
            <a:off x="60120" y="63000"/>
            <a:ext cx="1274400" cy="4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" descr=""/>
          <p:cNvPicPr/>
          <p:nvPr/>
        </p:nvPicPr>
        <p:blipFill>
          <a:blip r:embed="rId1"/>
          <a:srcRect l="0" t="4784" r="0" b="59"/>
          <a:stretch/>
        </p:blipFill>
        <p:spPr>
          <a:xfrm>
            <a:off x="1158480" y="614160"/>
            <a:ext cx="7616880" cy="4979880"/>
          </a:xfrm>
          <a:prstGeom prst="rect">
            <a:avLst/>
          </a:prstGeom>
          <a:ln w="0">
            <a:noFill/>
          </a:ln>
        </p:spPr>
      </p:pic>
      <p:sp>
        <p:nvSpPr>
          <p:cNvPr id="597" name="CustomShape 1"/>
          <p:cNvSpPr/>
          <p:nvPr/>
        </p:nvSpPr>
        <p:spPr>
          <a:xfrm>
            <a:off x="2041200" y="25200"/>
            <a:ext cx="5254560" cy="340920"/>
          </a:xfrm>
          <a:custGeom>
            <a:avLst/>
            <a:gdLst>
              <a:gd name="textAreaLeft" fmla="*/ 0 w 5254560"/>
              <a:gd name="textAreaRight" fmla="*/ 5256360 w 5254560"/>
              <a:gd name="textAreaTop" fmla="*/ 0 h 340920"/>
              <a:gd name="textAreaBottom" fmla="*/ 342720 h 3409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UMAP on raw data matrix (N=100)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8" name="" descr=""/>
          <p:cNvPicPr/>
          <p:nvPr/>
        </p:nvPicPr>
        <p:blipFill>
          <a:blip r:embed="rId2"/>
          <a:stretch/>
        </p:blipFill>
        <p:spPr>
          <a:xfrm>
            <a:off x="7956360" y="56880"/>
            <a:ext cx="2099880" cy="533160"/>
          </a:xfrm>
          <a:prstGeom prst="rect">
            <a:avLst/>
          </a:prstGeom>
          <a:ln w="0">
            <a:noFill/>
          </a:ln>
        </p:spPr>
      </p:pic>
      <p:pic>
        <p:nvPicPr>
          <p:cNvPr id="599" name="" descr=""/>
          <p:cNvPicPr/>
          <p:nvPr/>
        </p:nvPicPr>
        <p:blipFill>
          <a:blip r:embed="rId3"/>
          <a:stretch/>
        </p:blipFill>
        <p:spPr>
          <a:xfrm>
            <a:off x="60120" y="80640"/>
            <a:ext cx="1274400" cy="449280"/>
          </a:xfrm>
          <a:prstGeom prst="rect">
            <a:avLst/>
          </a:prstGeom>
          <a:ln w="0">
            <a:noFill/>
          </a:ln>
        </p:spPr>
      </p:pic>
      <p:sp>
        <p:nvSpPr>
          <p:cNvPr id="600" name="CustomShape 2"/>
          <p:cNvSpPr/>
          <p:nvPr/>
        </p:nvSpPr>
        <p:spPr>
          <a:xfrm>
            <a:off x="8764200" y="2460240"/>
            <a:ext cx="1181160" cy="852480"/>
          </a:xfrm>
          <a:custGeom>
            <a:avLst/>
            <a:gdLst>
              <a:gd name="textAreaLeft" fmla="*/ 0 w 1181160"/>
              <a:gd name="textAreaRight" fmla="*/ 1182960 w 1181160"/>
              <a:gd name="textAreaTop" fmla="*/ 0 h 852480"/>
              <a:gd name="textAreaBottom" fmla="*/ 854280 h 852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Is N=100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OK for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statistics?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" descr=""/>
          <p:cNvPicPr/>
          <p:nvPr/>
        </p:nvPicPr>
        <p:blipFill>
          <a:blip r:embed="rId1"/>
          <a:srcRect l="0" t="3174" r="0" b="0"/>
          <a:stretch/>
        </p:blipFill>
        <p:spPr>
          <a:xfrm>
            <a:off x="1191960" y="534600"/>
            <a:ext cx="7129440" cy="5133960"/>
          </a:xfrm>
          <a:prstGeom prst="rect">
            <a:avLst/>
          </a:prstGeom>
          <a:ln w="0">
            <a:noFill/>
          </a:ln>
        </p:spPr>
      </p:pic>
      <p:sp>
        <p:nvSpPr>
          <p:cNvPr id="602" name="CustomShape 1"/>
          <p:cNvSpPr/>
          <p:nvPr/>
        </p:nvSpPr>
        <p:spPr>
          <a:xfrm>
            <a:off x="2114280" y="41040"/>
            <a:ext cx="5254560" cy="341280"/>
          </a:xfrm>
          <a:custGeom>
            <a:avLst/>
            <a:gdLst>
              <a:gd name="textAreaLeft" fmla="*/ 0 w 5254560"/>
              <a:gd name="textAreaRight" fmla="*/ 5256360 w 525456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UMAP on raw data matrix (N=1000)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3" name="" descr=""/>
          <p:cNvPicPr/>
          <p:nvPr/>
        </p:nvPicPr>
        <p:blipFill>
          <a:blip r:embed="rId2"/>
          <a:stretch/>
        </p:blipFill>
        <p:spPr>
          <a:xfrm>
            <a:off x="7956360" y="72720"/>
            <a:ext cx="2099880" cy="533160"/>
          </a:xfrm>
          <a:prstGeom prst="rect">
            <a:avLst/>
          </a:prstGeom>
          <a:ln w="0">
            <a:noFill/>
          </a:ln>
        </p:spPr>
      </p:pic>
      <p:pic>
        <p:nvPicPr>
          <p:cNvPr id="604" name="" descr=""/>
          <p:cNvPicPr/>
          <p:nvPr/>
        </p:nvPicPr>
        <p:blipFill>
          <a:blip r:embed="rId3"/>
          <a:stretch/>
        </p:blipFill>
        <p:spPr>
          <a:xfrm>
            <a:off x="60120" y="96480"/>
            <a:ext cx="1274400" cy="4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" descr=""/>
          <p:cNvPicPr/>
          <p:nvPr/>
        </p:nvPicPr>
        <p:blipFill>
          <a:blip r:embed="rId1"/>
          <a:srcRect l="0" t="4784" r="0" b="0"/>
          <a:stretch/>
        </p:blipFill>
        <p:spPr>
          <a:xfrm>
            <a:off x="1213920" y="604440"/>
            <a:ext cx="7101000" cy="5029200"/>
          </a:xfrm>
          <a:prstGeom prst="rect">
            <a:avLst/>
          </a:prstGeom>
          <a:ln w="0">
            <a:noFill/>
          </a:ln>
        </p:spPr>
      </p:pic>
      <p:sp>
        <p:nvSpPr>
          <p:cNvPr id="606" name="CustomShape 1"/>
          <p:cNvSpPr/>
          <p:nvPr/>
        </p:nvSpPr>
        <p:spPr>
          <a:xfrm>
            <a:off x="2149200" y="41040"/>
            <a:ext cx="5254560" cy="341280"/>
          </a:xfrm>
          <a:custGeom>
            <a:avLst/>
            <a:gdLst>
              <a:gd name="textAreaLeft" fmla="*/ 0 w 5254560"/>
              <a:gd name="textAreaRight" fmla="*/ 5256360 w 525456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UMAP on raw data matrix (N=10 000)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7" name="" descr=""/>
          <p:cNvPicPr/>
          <p:nvPr/>
        </p:nvPicPr>
        <p:blipFill>
          <a:blip r:embed="rId2"/>
          <a:stretch/>
        </p:blipFill>
        <p:spPr>
          <a:xfrm>
            <a:off x="7956360" y="72720"/>
            <a:ext cx="2099880" cy="533160"/>
          </a:xfrm>
          <a:prstGeom prst="rect">
            <a:avLst/>
          </a:prstGeom>
          <a:ln w="0">
            <a:noFill/>
          </a:ln>
        </p:spPr>
      </p:pic>
      <p:pic>
        <p:nvPicPr>
          <p:cNvPr id="608" name="" descr=""/>
          <p:cNvPicPr/>
          <p:nvPr/>
        </p:nvPicPr>
        <p:blipFill>
          <a:blip r:embed="rId3"/>
          <a:stretch/>
        </p:blipFill>
        <p:spPr>
          <a:xfrm>
            <a:off x="60120" y="96480"/>
            <a:ext cx="1274400" cy="4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CustomShape 1"/>
          <p:cNvSpPr/>
          <p:nvPr/>
        </p:nvSpPr>
        <p:spPr>
          <a:xfrm>
            <a:off x="190440" y="1645920"/>
            <a:ext cx="9756000" cy="1622160"/>
          </a:xfrm>
          <a:custGeom>
            <a:avLst/>
            <a:gdLst>
              <a:gd name="textAreaLeft" fmla="*/ 0 w 9756000"/>
              <a:gd name="textAreaRight" fmla="*/ 9757800 w 9756000"/>
              <a:gd name="textAreaTop" fmla="*/ 0 h 1622160"/>
              <a:gd name="textAreaBottom" fmla="*/ 1623960 h 16221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77040" bIns="45000" anchor="t">
            <a:noAutofit/>
          </a:bodyPr>
          <a:p>
            <a:pPr algn="ctr">
              <a:lnSpc>
                <a:spcPct val="93000"/>
              </a:lnSpc>
            </a:pPr>
            <a:r>
              <a:rPr b="1" lang="en-US" sz="3600" spc="-1" strike="noStrike">
                <a:solidFill>
                  <a:srgbClr val="0066cc"/>
                </a:solidFill>
                <a:latin typeface="Arial"/>
                <a:ea typeface="DejaVu Sans"/>
              </a:rPr>
              <a:t>Going through the post of Rafael Irizarry:</a:t>
            </a:r>
            <a:br>
              <a:rPr sz="1800"/>
            </a:br>
            <a:br>
              <a:rPr sz="1800"/>
            </a:br>
            <a:r>
              <a:rPr b="1" lang="en-US" sz="3600" spc="-1" strike="noStrike">
                <a:solidFill>
                  <a:srgbClr val="ff0000"/>
                </a:solidFill>
                <a:latin typeface="Arial"/>
                <a:ea typeface="DejaVu Sans"/>
              </a:rPr>
              <a:t>Point2: PCA better than UMAP for PopGen!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0" name="" descr=""/>
          <p:cNvPicPr/>
          <p:nvPr/>
        </p:nvPicPr>
        <p:blipFill>
          <a:blip r:embed="rId1"/>
          <a:stretch/>
        </p:blipFill>
        <p:spPr>
          <a:xfrm>
            <a:off x="7954560" y="55080"/>
            <a:ext cx="2100240" cy="533520"/>
          </a:xfrm>
          <a:prstGeom prst="rect">
            <a:avLst/>
          </a:prstGeom>
          <a:ln w="0">
            <a:noFill/>
          </a:ln>
        </p:spPr>
      </p:pic>
      <p:pic>
        <p:nvPicPr>
          <p:cNvPr id="611" name="" descr=""/>
          <p:cNvPicPr/>
          <p:nvPr/>
        </p:nvPicPr>
        <p:blipFill>
          <a:blip r:embed="rId2"/>
          <a:stretch/>
        </p:blipFill>
        <p:spPr>
          <a:xfrm>
            <a:off x="58320" y="77400"/>
            <a:ext cx="1274760" cy="4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CustomShape 1"/>
          <p:cNvSpPr/>
          <p:nvPr/>
        </p:nvSpPr>
        <p:spPr>
          <a:xfrm>
            <a:off x="1725840" y="10800"/>
            <a:ext cx="6191280" cy="341280"/>
          </a:xfrm>
          <a:custGeom>
            <a:avLst/>
            <a:gdLst>
              <a:gd name="textAreaLeft" fmla="*/ 0 w 6191280"/>
              <a:gd name="textAreaRight" fmla="*/ 6193080 w 619128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PCA gold standard in PopGen: still criticized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3" name="" descr=""/>
          <p:cNvPicPr/>
          <p:nvPr/>
        </p:nvPicPr>
        <p:blipFill>
          <a:blip r:embed="rId1"/>
          <a:srcRect l="36874" t="20567" r="28659" b="1890"/>
          <a:stretch/>
        </p:blipFill>
        <p:spPr>
          <a:xfrm>
            <a:off x="2880" y="531360"/>
            <a:ext cx="3651120" cy="5030640"/>
          </a:xfrm>
          <a:prstGeom prst="rect">
            <a:avLst/>
          </a:prstGeom>
          <a:ln w="0">
            <a:noFill/>
          </a:ln>
        </p:spPr>
      </p:pic>
      <p:pic>
        <p:nvPicPr>
          <p:cNvPr id="614" name="" descr=""/>
          <p:cNvPicPr/>
          <p:nvPr/>
        </p:nvPicPr>
        <p:blipFill>
          <a:blip r:embed="rId2"/>
          <a:stretch/>
        </p:blipFill>
        <p:spPr>
          <a:xfrm>
            <a:off x="8046720" y="18720"/>
            <a:ext cx="2008080" cy="533160"/>
          </a:xfrm>
          <a:prstGeom prst="rect">
            <a:avLst/>
          </a:prstGeom>
          <a:ln w="0">
            <a:noFill/>
          </a:ln>
        </p:spPr>
      </p:pic>
      <p:pic>
        <p:nvPicPr>
          <p:cNvPr id="615" name="" descr=""/>
          <p:cNvPicPr/>
          <p:nvPr/>
        </p:nvPicPr>
        <p:blipFill>
          <a:blip r:embed="rId3"/>
          <a:stretch/>
        </p:blipFill>
        <p:spPr>
          <a:xfrm>
            <a:off x="58320" y="77400"/>
            <a:ext cx="1274760" cy="449280"/>
          </a:xfrm>
          <a:prstGeom prst="rect">
            <a:avLst/>
          </a:prstGeom>
          <a:ln w="0">
            <a:noFill/>
          </a:ln>
        </p:spPr>
      </p:pic>
      <p:pic>
        <p:nvPicPr>
          <p:cNvPr id="616" name="" descr=""/>
          <p:cNvPicPr/>
          <p:nvPr/>
        </p:nvPicPr>
        <p:blipFill>
          <a:blip r:embed="rId4"/>
          <a:srcRect l="39827" t="17995" r="30447" b="3503"/>
          <a:stretch/>
        </p:blipFill>
        <p:spPr>
          <a:xfrm>
            <a:off x="3620880" y="456840"/>
            <a:ext cx="3038400" cy="5189400"/>
          </a:xfrm>
          <a:prstGeom prst="rect">
            <a:avLst/>
          </a:prstGeom>
          <a:ln w="0">
            <a:noFill/>
          </a:ln>
        </p:spPr>
      </p:pic>
      <p:pic>
        <p:nvPicPr>
          <p:cNvPr id="617" name="" descr=""/>
          <p:cNvPicPr/>
          <p:nvPr/>
        </p:nvPicPr>
        <p:blipFill>
          <a:blip r:embed="rId5"/>
          <a:srcRect l="5224" t="0" r="6387" b="0"/>
          <a:stretch/>
        </p:blipFill>
        <p:spPr>
          <a:xfrm>
            <a:off x="6582960" y="556920"/>
            <a:ext cx="3484440" cy="5076720"/>
          </a:xfrm>
          <a:prstGeom prst="rect">
            <a:avLst/>
          </a:prstGeom>
          <a:ln w="0">
            <a:noFill/>
          </a:ln>
        </p:spPr>
      </p:pic>
      <p:sp>
        <p:nvSpPr>
          <p:cNvPr id="618" name="CustomShape 2"/>
          <p:cNvSpPr/>
          <p:nvPr/>
        </p:nvSpPr>
        <p:spPr>
          <a:xfrm>
            <a:off x="3058920" y="5412960"/>
            <a:ext cx="1865160" cy="201600"/>
          </a:xfrm>
          <a:custGeom>
            <a:avLst/>
            <a:gdLst>
              <a:gd name="textAreaLeft" fmla="*/ 0 w 1865160"/>
              <a:gd name="textAreaRight" fmla="*/ 1866960 w 1865160"/>
              <a:gd name="textAreaTop" fmla="*/ 0 h 201600"/>
              <a:gd name="textAreaBottom" fmla="*/ 203400 h 201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Novembre et al., Nature 2008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dur="indefinite" fill="hold">
                      <p:stCondLst>
                        <p:cond delay="indefinite"/>
                      </p:stCondLst>
                      <p:childTnLst>
                        <p:par>
                          <p:cTn id="13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" descr=""/>
          <p:cNvPicPr/>
          <p:nvPr/>
        </p:nvPicPr>
        <p:blipFill>
          <a:blip r:embed="rId1"/>
          <a:stretch/>
        </p:blipFill>
        <p:spPr>
          <a:xfrm>
            <a:off x="36000" y="747360"/>
            <a:ext cx="4840200" cy="3571920"/>
          </a:xfrm>
          <a:prstGeom prst="rect">
            <a:avLst/>
          </a:prstGeom>
          <a:ln w="0">
            <a:noFill/>
          </a:ln>
        </p:spPr>
      </p:pic>
      <p:pic>
        <p:nvPicPr>
          <p:cNvPr id="620" name="" descr=""/>
          <p:cNvPicPr/>
          <p:nvPr/>
        </p:nvPicPr>
        <p:blipFill>
          <a:blip r:embed="rId2"/>
          <a:stretch/>
        </p:blipFill>
        <p:spPr>
          <a:xfrm>
            <a:off x="93240" y="72720"/>
            <a:ext cx="1274760" cy="449280"/>
          </a:xfrm>
          <a:prstGeom prst="rect">
            <a:avLst/>
          </a:prstGeom>
          <a:ln w="0">
            <a:noFill/>
          </a:ln>
        </p:spPr>
      </p:pic>
      <p:sp>
        <p:nvSpPr>
          <p:cNvPr id="621" name="CustomShape 1"/>
          <p:cNvSpPr/>
          <p:nvPr/>
        </p:nvSpPr>
        <p:spPr>
          <a:xfrm>
            <a:off x="1473120" y="12240"/>
            <a:ext cx="6618960" cy="341280"/>
          </a:xfrm>
          <a:custGeom>
            <a:avLst/>
            <a:gdLst>
              <a:gd name="textAreaLeft" fmla="*/ 0 w 6618960"/>
              <a:gd name="textAreaRight" fmla="*/ 6620760 w 661896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HapMap3: UMAP vs PCA (Rafael Irizarry’s post)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CustomShape 2"/>
          <p:cNvSpPr/>
          <p:nvPr/>
        </p:nvSpPr>
        <p:spPr>
          <a:xfrm>
            <a:off x="1844280" y="463320"/>
            <a:ext cx="838080" cy="341280"/>
          </a:xfrm>
          <a:custGeom>
            <a:avLst/>
            <a:gdLst>
              <a:gd name="textAreaLeft" fmla="*/ 0 w 838080"/>
              <a:gd name="textAreaRight" fmla="*/ 839880 w 838080"/>
              <a:gd name="textAreaTop" fmla="*/ 0 h 341280"/>
              <a:gd name="textAreaBottom" fmla="*/ 343080 h 341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UMAP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23" name="Group 3"/>
          <p:cNvGrpSpPr/>
          <p:nvPr/>
        </p:nvGrpSpPr>
        <p:grpSpPr>
          <a:xfrm>
            <a:off x="4879440" y="426600"/>
            <a:ext cx="5153040" cy="3890880"/>
            <a:chOff x="4879440" y="426600"/>
            <a:chExt cx="5153040" cy="3890880"/>
          </a:xfrm>
        </p:grpSpPr>
        <p:pic>
          <p:nvPicPr>
            <p:cNvPr id="624" name="" descr=""/>
            <p:cNvPicPr/>
            <p:nvPr/>
          </p:nvPicPr>
          <p:blipFill>
            <a:blip r:embed="rId3"/>
            <a:srcRect l="0" t="0" r="945" b="0"/>
            <a:stretch/>
          </p:blipFill>
          <p:spPr>
            <a:xfrm>
              <a:off x="4879440" y="712440"/>
              <a:ext cx="5153040" cy="3605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25" name="CustomShape 4"/>
            <p:cNvSpPr/>
            <p:nvPr/>
          </p:nvSpPr>
          <p:spPr>
            <a:xfrm>
              <a:off x="6965640" y="426600"/>
              <a:ext cx="645840" cy="339840"/>
            </a:xfrm>
            <a:custGeom>
              <a:avLst/>
              <a:gdLst>
                <a:gd name="textAreaLeft" fmla="*/ 0 w 645840"/>
                <a:gd name="textAreaRight" fmla="*/ 647640 w 645840"/>
                <a:gd name="textAreaTop" fmla="*/ 0 h 339840"/>
                <a:gd name="textAreaBottom" fmla="*/ 341640 h 3398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PCA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26" name="CustomShape 5"/>
          <p:cNvSpPr/>
          <p:nvPr/>
        </p:nvSpPr>
        <p:spPr>
          <a:xfrm>
            <a:off x="1036440" y="1902960"/>
            <a:ext cx="3165120" cy="1106640"/>
          </a:xfrm>
          <a:custGeom>
            <a:avLst/>
            <a:gdLst>
              <a:gd name="textAreaLeft" fmla="*/ 0 w 3165120"/>
              <a:gd name="textAreaRight" fmla="*/ 3166920 w 3165120"/>
              <a:gd name="textAreaTop" fmla="*/ 0 h 1106640"/>
              <a:gd name="textAreaBottom" fmla="*/ 1108440 h 1106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Are PUR genetically closer to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GBR + IBS than ASW + YRI?</a:t>
            </a: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ABSOLUTELY NOT!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7" name="" descr=""/>
          <p:cNvPicPr/>
          <p:nvPr/>
        </p:nvPicPr>
        <p:blipFill>
          <a:blip r:embed="rId4"/>
          <a:stretch/>
        </p:blipFill>
        <p:spPr>
          <a:xfrm>
            <a:off x="8137080" y="18720"/>
            <a:ext cx="1917720" cy="533160"/>
          </a:xfrm>
          <a:prstGeom prst="rect">
            <a:avLst/>
          </a:prstGeom>
          <a:ln w="0">
            <a:noFill/>
          </a:ln>
        </p:spPr>
      </p:pic>
      <p:sp>
        <p:nvSpPr>
          <p:cNvPr id="628" name="CustomShape 6"/>
          <p:cNvSpPr/>
          <p:nvPr/>
        </p:nvSpPr>
        <p:spPr>
          <a:xfrm>
            <a:off x="218520" y="4303440"/>
            <a:ext cx="9741960" cy="1272960"/>
          </a:xfrm>
          <a:custGeom>
            <a:avLst/>
            <a:gdLst>
              <a:gd name="textAreaLeft" fmla="*/ 0 w 9741960"/>
              <a:gd name="textAreaRight" fmla="*/ 9743760 w 9741960"/>
              <a:gd name="textAreaTop" fmla="*/ 0 h 1272960"/>
              <a:gd name="textAreaBottom" fmla="*/ 1274760 h 1272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7826"/>
                </a:solidFill>
                <a:latin typeface="Arial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7826"/>
                </a:solidFill>
                <a:latin typeface="Arial"/>
                <a:ea typeface="DejaVu Sans"/>
              </a:rPr>
              <a:t>Because of their meaningless inter-cluster distances tSNE / UMAP are less useful for population genomics than PCA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7826"/>
                </a:solidFill>
                <a:latin typeface="Arial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7826"/>
                </a:solidFill>
                <a:latin typeface="Arial"/>
                <a:ea typeface="DejaVu Sans"/>
              </a:rPr>
              <a:t>The goal of tSNE / UMAP is to </a:t>
            </a:r>
            <a:r>
              <a:rPr b="1" lang="en-US" sz="1400" spc="-1" strike="noStrike">
                <a:solidFill>
                  <a:srgbClr val="007826"/>
                </a:solidFill>
                <a:latin typeface="Arial"/>
                <a:ea typeface="DejaVu Sans"/>
              </a:rPr>
              <a:t>discover clusters</a:t>
            </a:r>
            <a:r>
              <a:rPr b="0" lang="en-US" sz="1400" spc="-1" strike="noStrike">
                <a:solidFill>
                  <a:srgbClr val="007826"/>
                </a:solidFill>
                <a:latin typeface="Arial"/>
                <a:ea typeface="DejaVu Sans"/>
              </a:rPr>
              <a:t>, which is sufficient for Single Cell Biology but not for PopGen.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49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DejaVu Sans"/>
              </a:rPr>
              <a:t>In PopGen we generally do not discover clusters, we have an idea about e.g. human populations, and the aim is often to explore the </a:t>
            </a:r>
            <a:r>
              <a:rPr b="1" lang="en-US" sz="1400" spc="-1" strike="noStrike">
                <a:solidFill>
                  <a:srgbClr val="ff0000"/>
                </a:solidFill>
                <a:latin typeface="Arial"/>
                <a:ea typeface="DejaVu Sans"/>
              </a:rPr>
              <a:t>genetic relatedness</a:t>
            </a: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DejaVu Sans"/>
              </a:rPr>
              <a:t> between the populations, a task UMAP can absolutely not solve!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dur="indefinite" fill="hold">
                      <p:stCondLst>
                        <p:cond delay="indefinite"/>
                      </p:stCondLst>
                      <p:childTnLst>
                        <p:par>
                          <p:cTn id="136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3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dur="indefinite" fill="hold">
                      <p:stCondLst>
                        <p:cond delay="indefinite"/>
                      </p:stCondLst>
                      <p:childTnLst>
                        <p:par>
                          <p:cTn id="140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dur="indefinite" fill="hold">
                      <p:stCondLst>
                        <p:cond delay="indefinite"/>
                      </p:stCondLst>
                      <p:childTnLst>
                        <p:par>
                          <p:cTn id="144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dur="indefinite" fill="hold">
                      <p:stCondLst>
                        <p:cond delay="indefinite"/>
                      </p:stCondLst>
                      <p:childTnLst>
                        <p:par>
                          <p:cTn id="148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4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dur="indefinite" fill="hold">
                      <p:stCondLst>
                        <p:cond delay="indefinite"/>
                      </p:stCondLst>
                      <p:childTnLst>
                        <p:par>
                          <p:cTn id="152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15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" descr=""/>
          <p:cNvPicPr/>
          <p:nvPr/>
        </p:nvPicPr>
        <p:blipFill>
          <a:blip r:embed="rId1"/>
          <a:stretch/>
        </p:blipFill>
        <p:spPr>
          <a:xfrm>
            <a:off x="1344600" y="793800"/>
            <a:ext cx="7362000" cy="3459600"/>
          </a:xfrm>
          <a:prstGeom prst="rect">
            <a:avLst/>
          </a:prstGeom>
          <a:ln w="0">
            <a:noFill/>
          </a:ln>
        </p:spPr>
      </p:pic>
      <p:sp>
        <p:nvSpPr>
          <p:cNvPr id="630" name="CustomShape 1"/>
          <p:cNvSpPr/>
          <p:nvPr/>
        </p:nvSpPr>
        <p:spPr>
          <a:xfrm>
            <a:off x="2281320" y="-61920"/>
            <a:ext cx="5255280" cy="810360"/>
          </a:xfrm>
          <a:custGeom>
            <a:avLst/>
            <a:gdLst>
              <a:gd name="textAreaLeft" fmla="*/ 0 w 5255280"/>
              <a:gd name="textAreaRight" fmla="*/ 5257080 w 5255280"/>
              <a:gd name="textAreaTop" fmla="*/ 0 h 810360"/>
              <a:gd name="textAreaBottom" fmla="*/ 812160 h 810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National Bioinformatics </a:t>
            </a:r>
            <a:br>
              <a:rPr sz="1800"/>
            </a:b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Infrastructure Sweden (NBIS)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1" name="" descr=""/>
          <p:cNvPicPr/>
          <p:nvPr/>
        </p:nvPicPr>
        <p:blipFill>
          <a:blip r:embed="rId2"/>
          <a:stretch/>
        </p:blipFill>
        <p:spPr>
          <a:xfrm>
            <a:off x="1341360" y="4327560"/>
            <a:ext cx="2620080" cy="1321560"/>
          </a:xfrm>
          <a:prstGeom prst="rect">
            <a:avLst/>
          </a:prstGeom>
          <a:ln w="0">
            <a:noFill/>
          </a:ln>
        </p:spPr>
      </p:pic>
      <p:pic>
        <p:nvPicPr>
          <p:cNvPr id="632" name="" descr=""/>
          <p:cNvPicPr/>
          <p:nvPr/>
        </p:nvPicPr>
        <p:blipFill>
          <a:blip r:embed="rId3"/>
          <a:srcRect l="0" t="7861" r="0" b="11958"/>
          <a:stretch/>
        </p:blipFill>
        <p:spPr>
          <a:xfrm>
            <a:off x="4497480" y="4297320"/>
            <a:ext cx="2019960" cy="1350000"/>
          </a:xfrm>
          <a:prstGeom prst="rect">
            <a:avLst/>
          </a:prstGeom>
          <a:ln w="0">
            <a:noFill/>
          </a:ln>
        </p:spPr>
      </p:pic>
      <p:pic>
        <p:nvPicPr>
          <p:cNvPr id="633" name="" descr=""/>
          <p:cNvPicPr/>
          <p:nvPr/>
        </p:nvPicPr>
        <p:blipFill>
          <a:blip r:embed="rId4"/>
          <a:srcRect l="0" t="4334" r="0" b="7533"/>
          <a:stretch/>
        </p:blipFill>
        <p:spPr>
          <a:xfrm>
            <a:off x="7161120" y="4327560"/>
            <a:ext cx="1540800" cy="1319760"/>
          </a:xfrm>
          <a:prstGeom prst="rect">
            <a:avLst/>
          </a:prstGeom>
          <a:ln w="0">
            <a:noFill/>
          </a:ln>
        </p:spPr>
      </p:pic>
      <p:pic>
        <p:nvPicPr>
          <p:cNvPr id="634" name="" descr=""/>
          <p:cNvPicPr/>
          <p:nvPr/>
        </p:nvPicPr>
        <p:blipFill>
          <a:blip r:embed="rId5"/>
          <a:stretch/>
        </p:blipFill>
        <p:spPr>
          <a:xfrm>
            <a:off x="58680" y="7776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635" name="" descr=""/>
          <p:cNvPicPr/>
          <p:nvPr/>
        </p:nvPicPr>
        <p:blipFill>
          <a:blip r:embed="rId6"/>
          <a:stretch/>
        </p:blipFill>
        <p:spPr>
          <a:xfrm>
            <a:off x="7954920" y="19080"/>
            <a:ext cx="2100960" cy="5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2025-03-04T10:21:16Z</dcterms:created>
  <dc:creator>Nikolay Oskolkov</dc:creator>
  <dc:description/>
  <dc:language>en-US</dc:language>
  <cp:lastModifiedBy/>
  <cp:lastPrinted>2025-12-14T08:53:51Z</cp:lastPrinted>
  <dcterms:modified xsi:type="dcterms:W3CDTF">2026-09-28T08:59:28Z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