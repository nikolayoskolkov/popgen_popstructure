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2.png" ContentType="image/png"/>
  <Override PartName="/ppt/media/image3.png" ContentType="image/png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1.png" ContentType="image/png"/>
  <Override PartName="/ppt/media/image2.png" ContentType="image/png"/>
  <Override PartName="/ppt/media/image7.png" ContentType="image/png"/>
  <Override PartName="/ppt/media/image17.jpeg" ContentType="image/jpeg"/>
  <Override PartName="/ppt/media/image24.png" ContentType="image/png"/>
  <Override PartName="/ppt/media/image23.png" ContentType="image/png"/>
  <Override PartName="/ppt/media/image22.png" ContentType="image/png"/>
  <Override PartName="/ppt/media/image19.jpeg" ContentType="image/jpeg"/>
  <Override PartName="/ppt/media/image1.jpeg" ContentType="image/jpeg"/>
  <Override PartName="/ppt/media/image6.png" ContentType="image/png"/>
  <Override PartName="/ppt/media/image10.png" ContentType="image/png"/>
  <Override PartName="/ppt/media/image21.png" ContentType="image/png"/>
  <Override PartName="/ppt/media/image8.jpeg" ContentType="image/jpeg"/>
  <Override PartName="/ppt/media/image16.jpeg" ContentType="image/jpeg"/>
  <Override PartName="/ppt/media/image15.jpeg" ContentType="image/jpeg"/>
  <Override PartName="/ppt/media/image5.png" ContentType="image/png"/>
  <Override PartName="/ppt/media/image1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3481CD-0459-4BB9-81AF-1CF779C84B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A97AE2-5A0F-457B-BCDB-E408536A2E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the 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C2D078-8229-4232-A618-C2DC416A57E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jpe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jpeg"/><Relationship Id="rId3" Type="http://schemas.openxmlformats.org/officeDocument/2006/relationships/image" Target="../media/image16.jpeg"/><Relationship Id="rId4" Type="http://schemas.openxmlformats.org/officeDocument/2006/relationships/image" Target="../media/image17.jpeg"/><Relationship Id="rId5" Type="http://schemas.openxmlformats.org/officeDocument/2006/relationships/image" Target="../media/image18.png"/><Relationship Id="rId6" Type="http://schemas.openxmlformats.org/officeDocument/2006/relationships/image" Target="../media/image19.jpeg"/><Relationship Id="rId7" Type="http://schemas.openxmlformats.org/officeDocument/2006/relationships/image" Target="../media/image20.png"/><Relationship Id="rId8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18.png"/><Relationship Id="rId3" Type="http://schemas.openxmlformats.org/officeDocument/2006/relationships/image" Target="../media/image19.jpeg"/><Relationship Id="rId4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" descr=""/>
          <p:cNvPicPr/>
          <p:nvPr/>
        </p:nvPicPr>
        <p:blipFill>
          <a:blip r:embed="rId1"/>
          <a:srcRect l="0" t="0" r="18295" b="0"/>
          <a:stretch/>
        </p:blipFill>
        <p:spPr>
          <a:xfrm>
            <a:off x="112680" y="754200"/>
            <a:ext cx="4232880" cy="3130560"/>
          </a:xfrm>
          <a:prstGeom prst="rect">
            <a:avLst/>
          </a:prstGeom>
          <a:ln w="0">
            <a:noFill/>
          </a:ln>
        </p:spPr>
      </p:pic>
      <p:sp>
        <p:nvSpPr>
          <p:cNvPr id="14" name="CustomShape 52"/>
          <p:cNvSpPr/>
          <p:nvPr/>
        </p:nvSpPr>
        <p:spPr>
          <a:xfrm>
            <a:off x="1833840" y="47520"/>
            <a:ext cx="5825520" cy="448920"/>
          </a:xfrm>
          <a:custGeom>
            <a:avLst/>
            <a:gdLst>
              <a:gd name="textAreaLeft" fmla="*/ 0 w 5825520"/>
              <a:gd name="textAreaRight" fmla="*/ 5830560 w 5825520"/>
              <a:gd name="textAreaTop" fmla="*/ 0 h 448920"/>
              <a:gd name="textAreaBottom" fmla="*/ 453960 h 4489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</a:pPr>
            <a:r>
              <a:rPr b="0" lang="en-US" sz="2400" spc="-1" strike="noStrike">
                <a:solidFill>
                  <a:srgbClr val="0066cc"/>
                </a:solidFill>
                <a:latin typeface="Arial"/>
                <a:ea typeface="DejaVu Sans"/>
              </a:rPr>
              <a:t>Ancient DNA (aDNA) from archaeological samples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CustomShape 2"/>
          <p:cNvSpPr/>
          <p:nvPr/>
        </p:nvSpPr>
        <p:spPr>
          <a:xfrm>
            <a:off x="180000" y="4843440"/>
            <a:ext cx="9758160" cy="637920"/>
          </a:xfrm>
          <a:custGeom>
            <a:avLst/>
            <a:gdLst>
              <a:gd name="textAreaLeft" fmla="*/ 0 w 9758160"/>
              <a:gd name="textAreaRight" fmla="*/ 9763200 w 9758160"/>
              <a:gd name="textAreaTop" fmla="*/ 0 h 637920"/>
              <a:gd name="textAreaBottom" fmla="*/ 642960 h 6379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0840" bIns="45000" anchor="t">
            <a:noAutofit/>
          </a:bodyPr>
          <a:p>
            <a:pPr algn="ctr">
              <a:lnSpc>
                <a:spcPct val="93000"/>
              </a:lnSpc>
            </a:pP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Peculiarity: very few samples with little amounts of DNA, hence hard for statistical analysis</a:t>
            </a:r>
            <a:br>
              <a:rPr sz="1800"/>
            </a:br>
            <a:r>
              <a:rPr b="1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Low statistical evidence to make confident conclusions, predictions can rarely be validated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" descr=""/>
          <p:cNvPicPr/>
          <p:nvPr/>
        </p:nvPicPr>
        <p:blipFill>
          <a:blip r:embed="rId2"/>
          <a:srcRect l="22435" t="24336" r="21663" b="67955"/>
          <a:stretch/>
        </p:blipFill>
        <p:spPr>
          <a:xfrm>
            <a:off x="238320" y="3987720"/>
            <a:ext cx="9684000" cy="723600"/>
          </a:xfrm>
          <a:prstGeom prst="rect">
            <a:avLst/>
          </a:prstGeom>
          <a:ln w="0">
            <a:noFill/>
          </a:ln>
        </p:spPr>
      </p:pic>
      <p:pic>
        <p:nvPicPr>
          <p:cNvPr id="17" name="" descr=""/>
          <p:cNvPicPr/>
          <p:nvPr/>
        </p:nvPicPr>
        <p:blipFill>
          <a:blip r:embed="rId3"/>
          <a:stretch/>
        </p:blipFill>
        <p:spPr>
          <a:xfrm>
            <a:off x="34920" y="37440"/>
            <a:ext cx="437040" cy="416520"/>
          </a:xfrm>
          <a:prstGeom prst="rect">
            <a:avLst/>
          </a:prstGeom>
          <a:ln w="0">
            <a:noFill/>
          </a:ln>
        </p:spPr>
      </p:pic>
      <p:pic>
        <p:nvPicPr>
          <p:cNvPr id="18" name="" descr=""/>
          <p:cNvPicPr/>
          <p:nvPr/>
        </p:nvPicPr>
        <p:blipFill>
          <a:blip r:embed="rId4"/>
          <a:srcRect l="4511" t="13458" r="4511" b="13458"/>
          <a:stretch/>
        </p:blipFill>
        <p:spPr>
          <a:xfrm>
            <a:off x="8687160" y="7560"/>
            <a:ext cx="1409040" cy="374400"/>
          </a:xfrm>
          <a:prstGeom prst="rect">
            <a:avLst/>
          </a:prstGeom>
          <a:ln w="0">
            <a:noFill/>
          </a:ln>
        </p:spPr>
      </p:pic>
      <p:pic>
        <p:nvPicPr>
          <p:cNvPr id="19" name="" descr=""/>
          <p:cNvPicPr/>
          <p:nvPr/>
        </p:nvPicPr>
        <p:blipFill>
          <a:blip r:embed="rId5"/>
          <a:stretch/>
        </p:blipFill>
        <p:spPr>
          <a:xfrm>
            <a:off x="4417200" y="749880"/>
            <a:ext cx="5560560" cy="3126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85"/>
          <p:cNvSpPr/>
          <p:nvPr/>
        </p:nvSpPr>
        <p:spPr>
          <a:xfrm>
            <a:off x="2266920" y="47520"/>
            <a:ext cx="5249520" cy="448920"/>
          </a:xfrm>
          <a:custGeom>
            <a:avLst/>
            <a:gdLst>
              <a:gd name="textAreaLeft" fmla="*/ 0 w 5249520"/>
              <a:gd name="textAreaRight" fmla="*/ 5254560 w 5249520"/>
              <a:gd name="textAreaTop" fmla="*/ 0 h 448920"/>
              <a:gd name="textAreaBottom" fmla="*/ 453960 h 4489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</a:pPr>
            <a:r>
              <a:rPr b="0" lang="en-US" sz="2400" spc="-1" strike="noStrike">
                <a:solidFill>
                  <a:srgbClr val="0066cc"/>
                </a:solidFill>
                <a:latin typeface="Arial"/>
                <a:ea typeface="DejaVu Sans"/>
              </a:rPr>
              <a:t>Ancient DNA (aDNA) degradation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1" name="Group 3"/>
          <p:cNvGrpSpPr/>
          <p:nvPr/>
        </p:nvGrpSpPr>
        <p:grpSpPr>
          <a:xfrm>
            <a:off x="5802480" y="3371400"/>
            <a:ext cx="4158360" cy="2261160"/>
            <a:chOff x="5802480" y="3371400"/>
            <a:chExt cx="4158360" cy="2261160"/>
          </a:xfrm>
        </p:grpSpPr>
        <p:pic>
          <p:nvPicPr>
            <p:cNvPr id="22" name="" descr=""/>
            <p:cNvPicPr/>
            <p:nvPr/>
          </p:nvPicPr>
          <p:blipFill>
            <a:blip r:embed="rId1"/>
            <a:srcRect l="0" t="0" r="0" b="50799"/>
            <a:stretch/>
          </p:blipFill>
          <p:spPr>
            <a:xfrm>
              <a:off x="5802480" y="3823560"/>
              <a:ext cx="3875400" cy="1590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3" name="CustomShape 1"/>
            <p:cNvSpPr/>
            <p:nvPr/>
          </p:nvSpPr>
          <p:spPr>
            <a:xfrm>
              <a:off x="6644520" y="3371400"/>
              <a:ext cx="2600280" cy="329760"/>
            </a:xfrm>
            <a:custGeom>
              <a:avLst/>
              <a:gdLst>
                <a:gd name="textAreaLeft" fmla="*/ 0 w 2600280"/>
                <a:gd name="textAreaRight" fmla="*/ 2605320 w 2600280"/>
                <a:gd name="textAreaTop" fmla="*/ 0 h 329760"/>
                <a:gd name="textAreaBottom" fmla="*/ 334800 h 329760"/>
              </a:gdLst>
              <a:ah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ff0000"/>
                  </a:solidFill>
                  <a:latin typeface="Arial"/>
                  <a:ea typeface="DejaVu Sans"/>
                </a:rPr>
                <a:t>Damage / deamination pattern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" name="CustomShape 8"/>
            <p:cNvSpPr/>
            <p:nvPr/>
          </p:nvSpPr>
          <p:spPr>
            <a:xfrm>
              <a:off x="6366600" y="3579840"/>
              <a:ext cx="3107880" cy="334440"/>
            </a:xfrm>
            <a:custGeom>
              <a:avLst/>
              <a:gdLst>
                <a:gd name="textAreaLeft" fmla="*/ 0 w 3107880"/>
                <a:gd name="textAreaRight" fmla="*/ 3112920 w 3107880"/>
                <a:gd name="textAreaTop" fmla="*/ 0 h 334440"/>
                <a:gd name="textAreaBottom" fmla="*/ 339480 h 334440"/>
              </a:gdLst>
              <a:ah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60840" bIns="45000" anchor="t">
              <a:noAutofit/>
            </a:bodyPr>
            <a:p>
              <a:pPr>
                <a:lnSpc>
                  <a:spcPct val="93000"/>
                </a:lnSpc>
              </a:pPr>
              <a:r>
                <a:rPr b="0" lang="en-US" sz="1400" spc="-1" strike="noStrike">
                  <a:solidFill>
                    <a:srgbClr val="006400"/>
                  </a:solidFill>
                  <a:latin typeface="Arial"/>
                  <a:ea typeface="Noto Sans CJK SC"/>
                </a:rPr>
                <a:t>Deamination process: </a:t>
              </a:r>
              <a:r>
                <a:rPr b="0" lang="en-US" sz="1400" spc="-1" strike="noStrike">
                  <a:solidFill>
                    <a:srgbClr val="006400"/>
                  </a:solidFill>
                  <a:latin typeface="Arial"/>
                  <a:ea typeface="DejaVu Sans"/>
                </a:rPr>
                <a:t>C → T, G → A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" name="CustomShape 9"/>
            <p:cNvSpPr/>
            <p:nvPr/>
          </p:nvSpPr>
          <p:spPr>
            <a:xfrm>
              <a:off x="8498520" y="5394960"/>
              <a:ext cx="1462320" cy="23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1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Skoglund et al. 2014</a:t>
              </a:r>
              <a:endParaRPr b="0" lang="en-US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26" name="" descr=""/>
          <p:cNvPicPr/>
          <p:nvPr/>
        </p:nvPicPr>
        <p:blipFill>
          <a:blip r:embed="rId2"/>
          <a:srcRect l="0" t="16941" r="2900" b="8815"/>
          <a:stretch/>
        </p:blipFill>
        <p:spPr>
          <a:xfrm>
            <a:off x="617760" y="3807360"/>
            <a:ext cx="4241160" cy="1817640"/>
          </a:xfrm>
          <a:prstGeom prst="rect">
            <a:avLst/>
          </a:prstGeom>
          <a:ln w="0">
            <a:noFill/>
          </a:ln>
        </p:spPr>
      </p:pic>
      <p:pic>
        <p:nvPicPr>
          <p:cNvPr id="27" name="" descr=""/>
          <p:cNvPicPr/>
          <p:nvPr/>
        </p:nvPicPr>
        <p:blipFill>
          <a:blip r:embed="rId3"/>
          <a:srcRect l="2019" t="7956" r="-5865" b="18359"/>
          <a:stretch/>
        </p:blipFill>
        <p:spPr>
          <a:xfrm>
            <a:off x="559440" y="678960"/>
            <a:ext cx="4592880" cy="3133800"/>
          </a:xfrm>
          <a:prstGeom prst="rect">
            <a:avLst/>
          </a:prstGeom>
          <a:ln w="0">
            <a:noFill/>
          </a:ln>
        </p:spPr>
      </p:pic>
      <p:grpSp>
        <p:nvGrpSpPr>
          <p:cNvPr id="28" name="Group 4"/>
          <p:cNvGrpSpPr/>
          <p:nvPr/>
        </p:nvGrpSpPr>
        <p:grpSpPr>
          <a:xfrm>
            <a:off x="3220200" y="4718880"/>
            <a:ext cx="622440" cy="901800"/>
            <a:chOff x="3220200" y="4718880"/>
            <a:chExt cx="622440" cy="901800"/>
          </a:xfrm>
        </p:grpSpPr>
        <p:sp>
          <p:nvSpPr>
            <p:cNvPr id="29" name="CustomShape 10"/>
            <p:cNvSpPr/>
            <p:nvPr/>
          </p:nvSpPr>
          <p:spPr>
            <a:xfrm rot="7296600">
              <a:off x="3359520" y="5078520"/>
              <a:ext cx="343440" cy="519480"/>
            </a:xfrm>
            <a:custGeom>
              <a:avLst/>
              <a:gdLst>
                <a:gd name="textAreaLeft" fmla="*/ 0 w 343440"/>
                <a:gd name="textAreaRight" fmla="*/ 348480 w 343440"/>
                <a:gd name="textAreaTop" fmla="*/ 0 h 519480"/>
                <a:gd name="textAreaBottom" fmla="*/ 524520 h 519480"/>
              </a:gdLst>
              <a:ahLst/>
              <a:rect l="textAreaLeft" t="textAreaTop" r="textAreaRight" b="textAreaBottom"/>
              <a:pathLst>
                <a:path w="640" h="861">
                  <a:moveTo>
                    <a:pt x="640" y="233"/>
                  </a:moveTo>
                  <a:lnTo>
                    <a:pt x="221" y="293"/>
                  </a:lnTo>
                  <a:lnTo>
                    <a:pt x="506" y="12"/>
                  </a:lnTo>
                  <a:lnTo>
                    <a:pt x="367" y="0"/>
                  </a:lnTo>
                  <a:lnTo>
                    <a:pt x="29" y="406"/>
                  </a:lnTo>
                  <a:lnTo>
                    <a:pt x="431" y="347"/>
                  </a:lnTo>
                  <a:lnTo>
                    <a:pt x="145" y="645"/>
                  </a:lnTo>
                  <a:lnTo>
                    <a:pt x="99" y="520"/>
                  </a:lnTo>
                  <a:lnTo>
                    <a:pt x="0" y="861"/>
                  </a:lnTo>
                  <a:lnTo>
                    <a:pt x="326" y="765"/>
                  </a:lnTo>
                  <a:lnTo>
                    <a:pt x="209" y="711"/>
                  </a:lnTo>
                  <a:lnTo>
                    <a:pt x="640" y="233"/>
                  </a:lnTo>
                  <a:lnTo>
                    <a:pt x="640" y="233"/>
                  </a:lnTo>
                  <a:close/>
                </a:path>
              </a:pathLst>
            </a:custGeom>
            <a:solidFill>
              <a:srgbClr val="ff0000"/>
            </a:solidFill>
            <a:ln w="0">
              <a:solidFill>
                <a:srgbClr val="ff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30" name="CustomShape 11"/>
            <p:cNvSpPr/>
            <p:nvPr/>
          </p:nvSpPr>
          <p:spPr>
            <a:xfrm>
              <a:off x="3300840" y="4718880"/>
              <a:ext cx="167760" cy="255600"/>
            </a:xfrm>
            <a:prstGeom prst="ellipse">
              <a:avLst/>
            </a:prstGeom>
            <a:solidFill>
              <a:srgbClr val="ff0000"/>
            </a:solidFill>
            <a:ln w="0">
              <a:solidFill>
                <a:srgbClr val="ff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31" name="CustomShape 12"/>
            <p:cNvSpPr/>
            <p:nvPr/>
          </p:nvSpPr>
          <p:spPr>
            <a:xfrm>
              <a:off x="3259440" y="4734720"/>
              <a:ext cx="253440" cy="223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0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U</a:t>
              </a:r>
              <a:endParaRPr b="0" lang="en-US" sz="1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" name=""/>
          <p:cNvGrpSpPr/>
          <p:nvPr/>
        </p:nvGrpSpPr>
        <p:grpSpPr>
          <a:xfrm>
            <a:off x="5943600" y="534960"/>
            <a:ext cx="3717360" cy="2750400"/>
            <a:chOff x="5943600" y="534960"/>
            <a:chExt cx="3717360" cy="2750400"/>
          </a:xfrm>
        </p:grpSpPr>
        <p:grpSp>
          <p:nvGrpSpPr>
            <p:cNvPr id="33" name="Group 17"/>
            <p:cNvGrpSpPr/>
            <p:nvPr/>
          </p:nvGrpSpPr>
          <p:grpSpPr>
            <a:xfrm>
              <a:off x="5943600" y="534960"/>
              <a:ext cx="3717360" cy="2750400"/>
              <a:chOff x="5943600" y="534960"/>
              <a:chExt cx="3717360" cy="2750400"/>
            </a:xfrm>
          </p:grpSpPr>
          <p:pic>
            <p:nvPicPr>
              <p:cNvPr id="34" name="" descr=""/>
              <p:cNvPicPr/>
              <p:nvPr/>
            </p:nvPicPr>
            <p:blipFill>
              <a:blip r:embed="rId4"/>
              <a:stretch/>
            </p:blipFill>
            <p:spPr>
              <a:xfrm>
                <a:off x="5943600" y="806400"/>
                <a:ext cx="3717360" cy="247896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5" name="CustomShape 60"/>
              <p:cNvSpPr/>
              <p:nvPr/>
            </p:nvSpPr>
            <p:spPr>
              <a:xfrm>
                <a:off x="7024320" y="534960"/>
                <a:ext cx="1634760" cy="329760"/>
              </a:xfrm>
              <a:custGeom>
                <a:avLst/>
                <a:gdLst>
                  <a:gd name="textAreaLeft" fmla="*/ 0 w 1634760"/>
                  <a:gd name="textAreaRight" fmla="*/ 1639800 w 1634760"/>
                  <a:gd name="textAreaTop" fmla="*/ 0 h 329760"/>
                  <a:gd name="textAreaBottom" fmla="*/ 334800 h 329760"/>
                </a:gdLst>
                <a:ahLst/>
                <a:rect l="textAreaLeft" t="textAreaTop" r="textAreaRight" b="textAreaBottom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ff0000"/>
                    </a:solidFill>
                    <a:latin typeface="Arial"/>
                    <a:ea typeface="DejaVu Sans"/>
                  </a:rPr>
                  <a:t>DNA fragmentation</a:t>
                </a:r>
                <a:endParaRPr b="0" lang="en-US" sz="1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36" name="TextShape 2"/>
            <p:cNvSpPr/>
            <p:nvPr/>
          </p:nvSpPr>
          <p:spPr>
            <a:xfrm>
              <a:off x="7315200" y="1119600"/>
              <a:ext cx="2281680" cy="72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algn="just"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 problem with specificity of taxonomic assignment of sequenced DNA reads</a:t>
              </a: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37" name="" descr=""/>
          <p:cNvPicPr/>
          <p:nvPr/>
        </p:nvPicPr>
        <p:blipFill>
          <a:blip r:embed="rId5"/>
          <a:stretch/>
        </p:blipFill>
        <p:spPr>
          <a:xfrm>
            <a:off x="34920" y="37440"/>
            <a:ext cx="437040" cy="416520"/>
          </a:xfrm>
          <a:prstGeom prst="rect">
            <a:avLst/>
          </a:prstGeom>
          <a:ln w="0">
            <a:noFill/>
          </a:ln>
        </p:spPr>
      </p:pic>
      <p:pic>
        <p:nvPicPr>
          <p:cNvPr id="38" name="" descr=""/>
          <p:cNvPicPr/>
          <p:nvPr/>
        </p:nvPicPr>
        <p:blipFill>
          <a:blip r:embed="rId6"/>
          <a:srcRect l="4511" t="13458" r="4511" b="13458"/>
          <a:stretch/>
        </p:blipFill>
        <p:spPr>
          <a:xfrm>
            <a:off x="8687160" y="7560"/>
            <a:ext cx="1409040" cy="374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" descr=""/>
          <p:cNvPicPr/>
          <p:nvPr/>
        </p:nvPicPr>
        <p:blipFill>
          <a:blip r:embed="rId1"/>
          <a:srcRect l="10534" t="0" r="6710" b="0"/>
          <a:stretch/>
        </p:blipFill>
        <p:spPr>
          <a:xfrm>
            <a:off x="120600" y="642960"/>
            <a:ext cx="2639520" cy="4789080"/>
          </a:xfrm>
          <a:prstGeom prst="rect">
            <a:avLst/>
          </a:prstGeom>
          <a:ln w="0">
            <a:noFill/>
          </a:ln>
        </p:spPr>
      </p:pic>
      <p:sp>
        <p:nvSpPr>
          <p:cNvPr id="40" name="CustomShape 64"/>
          <p:cNvSpPr/>
          <p:nvPr/>
        </p:nvSpPr>
        <p:spPr>
          <a:xfrm>
            <a:off x="1465200" y="29880"/>
            <a:ext cx="6445080" cy="447120"/>
          </a:xfrm>
          <a:custGeom>
            <a:avLst/>
            <a:gdLst>
              <a:gd name="textAreaLeft" fmla="*/ 0 w 6445080"/>
              <a:gd name="textAreaRight" fmla="*/ 6450120 w 6445080"/>
              <a:gd name="textAreaTop" fmla="*/ 0 h 447120"/>
              <a:gd name="textAreaBottom" fmla="*/ 452160 h 4471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</a:pPr>
            <a:r>
              <a:rPr b="0" lang="en-US" sz="2500" spc="-1" strike="noStrike">
                <a:solidFill>
                  <a:srgbClr val="0066cc"/>
                </a:solidFill>
                <a:latin typeface="Arial"/>
                <a:ea typeface="DejaVu Sans"/>
              </a:rPr>
              <a:t>Ancient DNA (aDNA) Analysis Workflow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" name="" descr=""/>
          <p:cNvPicPr/>
          <p:nvPr/>
        </p:nvPicPr>
        <p:blipFill>
          <a:blip r:embed="rId2"/>
          <a:srcRect l="18931" t="14457" r="41965" b="0"/>
          <a:stretch/>
        </p:blipFill>
        <p:spPr>
          <a:xfrm>
            <a:off x="2667600" y="659520"/>
            <a:ext cx="3926520" cy="4844880"/>
          </a:xfrm>
          <a:prstGeom prst="rect">
            <a:avLst/>
          </a:prstGeom>
          <a:ln w="18360">
            <a:noFill/>
          </a:ln>
        </p:spPr>
      </p:pic>
      <p:pic>
        <p:nvPicPr>
          <p:cNvPr id="42" name="" descr=""/>
          <p:cNvPicPr/>
          <p:nvPr/>
        </p:nvPicPr>
        <p:blipFill>
          <a:blip r:embed="rId3"/>
          <a:srcRect l="3537" t="9624" r="39252" b="0"/>
          <a:stretch/>
        </p:blipFill>
        <p:spPr>
          <a:xfrm>
            <a:off x="6906600" y="656640"/>
            <a:ext cx="3038400" cy="2702160"/>
          </a:xfrm>
          <a:prstGeom prst="rect">
            <a:avLst/>
          </a:prstGeom>
          <a:ln w="18360">
            <a:noFill/>
          </a:ln>
        </p:spPr>
      </p:pic>
      <p:pic>
        <p:nvPicPr>
          <p:cNvPr id="43" name="" descr=""/>
          <p:cNvPicPr/>
          <p:nvPr/>
        </p:nvPicPr>
        <p:blipFill>
          <a:blip r:embed="rId4"/>
          <a:srcRect l="29787" t="9624" r="30463" b="36969"/>
          <a:stretch/>
        </p:blipFill>
        <p:spPr>
          <a:xfrm>
            <a:off x="6914880" y="3383280"/>
            <a:ext cx="3010680" cy="2275920"/>
          </a:xfrm>
          <a:prstGeom prst="rect">
            <a:avLst/>
          </a:prstGeom>
          <a:ln w="18360">
            <a:noFill/>
          </a:ln>
        </p:spPr>
      </p:pic>
      <p:pic>
        <p:nvPicPr>
          <p:cNvPr id="44" name="" descr=""/>
          <p:cNvPicPr/>
          <p:nvPr/>
        </p:nvPicPr>
        <p:blipFill>
          <a:blip r:embed="rId5"/>
          <a:stretch/>
        </p:blipFill>
        <p:spPr>
          <a:xfrm>
            <a:off x="71280" y="36720"/>
            <a:ext cx="612000" cy="583560"/>
          </a:xfrm>
          <a:prstGeom prst="rect">
            <a:avLst/>
          </a:prstGeom>
          <a:ln w="0">
            <a:noFill/>
          </a:ln>
        </p:spPr>
      </p:pic>
      <p:pic>
        <p:nvPicPr>
          <p:cNvPr id="45" name="" descr=""/>
          <p:cNvPicPr/>
          <p:nvPr/>
        </p:nvPicPr>
        <p:blipFill>
          <a:blip r:embed="rId6"/>
          <a:srcRect l="4511" t="13458" r="4511" b="13458"/>
          <a:stretch/>
        </p:blipFill>
        <p:spPr>
          <a:xfrm>
            <a:off x="8215560" y="43200"/>
            <a:ext cx="1881000" cy="500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rcRect l="0" t="0" r="0" b="2679"/>
          <a:stretch/>
        </p:blipFill>
        <p:spPr>
          <a:xfrm>
            <a:off x="196920" y="593640"/>
            <a:ext cx="4780080" cy="3256560"/>
          </a:xfrm>
          <a:prstGeom prst="rect">
            <a:avLst/>
          </a:prstGeom>
          <a:ln w="0">
            <a:noFill/>
          </a:ln>
        </p:spPr>
      </p:pic>
      <p:grpSp>
        <p:nvGrpSpPr>
          <p:cNvPr id="47" name=""/>
          <p:cNvGrpSpPr/>
          <p:nvPr/>
        </p:nvGrpSpPr>
        <p:grpSpPr>
          <a:xfrm>
            <a:off x="5688360" y="438120"/>
            <a:ext cx="3988080" cy="2532600"/>
            <a:chOff x="5688360" y="438120"/>
            <a:chExt cx="3988080" cy="2532600"/>
          </a:xfrm>
        </p:grpSpPr>
        <p:pic>
          <p:nvPicPr>
            <p:cNvPr id="48" name="" descr=""/>
            <p:cNvPicPr/>
            <p:nvPr/>
          </p:nvPicPr>
          <p:blipFill>
            <a:blip r:embed="rId2"/>
            <a:stretch/>
          </p:blipFill>
          <p:spPr>
            <a:xfrm>
              <a:off x="5688360" y="438120"/>
              <a:ext cx="3275280" cy="2453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49" name="" descr=""/>
            <p:cNvPicPr/>
            <p:nvPr/>
          </p:nvPicPr>
          <p:blipFill>
            <a:blip r:embed="rId3"/>
            <a:srcRect l="46915" t="3389" r="5910" b="5405"/>
            <a:stretch/>
          </p:blipFill>
          <p:spPr>
            <a:xfrm>
              <a:off x="8808120" y="2103840"/>
              <a:ext cx="868320" cy="866880"/>
            </a:xfrm>
            <a:prstGeom prst="rect">
              <a:avLst/>
            </a:prstGeom>
            <a:ln w="0">
              <a:noFill/>
            </a:ln>
          </p:spPr>
        </p:pic>
      </p:grpSp>
      <p:grpSp>
        <p:nvGrpSpPr>
          <p:cNvPr id="50" name=""/>
          <p:cNvGrpSpPr/>
          <p:nvPr/>
        </p:nvGrpSpPr>
        <p:grpSpPr>
          <a:xfrm>
            <a:off x="5545440" y="3072240"/>
            <a:ext cx="4170960" cy="2516400"/>
            <a:chOff x="5545440" y="3072240"/>
            <a:chExt cx="4170960" cy="2516400"/>
          </a:xfrm>
        </p:grpSpPr>
        <p:pic>
          <p:nvPicPr>
            <p:cNvPr id="51" name="" descr=""/>
            <p:cNvPicPr/>
            <p:nvPr/>
          </p:nvPicPr>
          <p:blipFill>
            <a:blip r:embed="rId4"/>
            <a:stretch/>
          </p:blipFill>
          <p:spPr>
            <a:xfrm>
              <a:off x="5545440" y="3072240"/>
              <a:ext cx="4170960" cy="2219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2" name=""/>
            <p:cNvSpPr/>
            <p:nvPr/>
          </p:nvSpPr>
          <p:spPr>
            <a:xfrm>
              <a:off x="5578920" y="5321880"/>
              <a:ext cx="3718080" cy="266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Autofit/>
            </a:bodyPr>
            <a:p>
              <a:pPr>
                <a:lnSpc>
                  <a:spcPct val="100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0" lang="en-US" sz="1600" spc="-1" strike="noStrike">
                  <a:solidFill>
                    <a:srgbClr val="000000"/>
                  </a:solidFill>
                  <a:latin typeface="Arial"/>
                </a:rPr>
                <a:t>2010 Draft Neanderthal Genome Sequenced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53" name="" descr=""/>
          <p:cNvPicPr/>
          <p:nvPr/>
        </p:nvPicPr>
        <p:blipFill>
          <a:blip r:embed="rId5"/>
          <a:stretch/>
        </p:blipFill>
        <p:spPr>
          <a:xfrm>
            <a:off x="93600" y="36360"/>
            <a:ext cx="1278000" cy="452520"/>
          </a:xfrm>
          <a:prstGeom prst="rect">
            <a:avLst/>
          </a:prstGeom>
          <a:ln w="0">
            <a:noFill/>
          </a:ln>
        </p:spPr>
      </p:pic>
      <p:sp>
        <p:nvSpPr>
          <p:cNvPr id="54" name=""/>
          <p:cNvSpPr/>
          <p:nvPr/>
        </p:nvSpPr>
        <p:spPr>
          <a:xfrm>
            <a:off x="2266920" y="-23760"/>
            <a:ext cx="525816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</a:rPr>
              <a:t>Neanderthal Genomics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6"/>
          <a:stretch/>
        </p:blipFill>
        <p:spPr>
          <a:xfrm>
            <a:off x="7955280" y="19080"/>
            <a:ext cx="2103480" cy="536400"/>
          </a:xfrm>
          <a:prstGeom prst="rect">
            <a:avLst/>
          </a:prstGeom>
          <a:ln w="0">
            <a:noFill/>
          </a:ln>
        </p:spPr>
      </p:pic>
      <p:pic>
        <p:nvPicPr>
          <p:cNvPr id="56" name="" descr=""/>
          <p:cNvPicPr/>
          <p:nvPr/>
        </p:nvPicPr>
        <p:blipFill>
          <a:blip r:embed="rId7"/>
          <a:srcRect l="14419" t="31076" r="13913" b="22639"/>
          <a:stretch/>
        </p:blipFill>
        <p:spPr>
          <a:xfrm>
            <a:off x="193680" y="3897720"/>
            <a:ext cx="4783320" cy="1737000"/>
          </a:xfrm>
          <a:prstGeom prst="rect">
            <a:avLst/>
          </a:prstGeom>
          <a:ln w="0">
            <a:noFill/>
          </a:ln>
        </p:spPr>
      </p:pic>
    </p:spTree>
  </p:cSld>
  <p:timing>
    <p:tnLst>
      <p:par>
        <p:cTn id="15" dur="indefinite" restart="never" nodeType="tmRoot">
          <p:childTnLst>
            <p:seq>
              <p:cTn id="16" dur="indefinite" nodeType="mainSeq">
                <p:childTnLst>
                  <p:par>
                    <p:cTn id="17" dur="indefinite" fill="hold">
                      <p:stCondLst>
                        <p:cond delay="indefinite"/>
                      </p:stCondLst>
                      <p:childTnLst>
                        <p:par>
                          <p:cTn id="18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9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dur="indefinite" fill="hold">
                      <p:stCondLst>
                        <p:cond delay="indefinite"/>
                      </p:stCondLst>
                      <p:childTnLst>
                        <p:par>
                          <p:cTn id="22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23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" descr=""/>
          <p:cNvPicPr/>
          <p:nvPr/>
        </p:nvPicPr>
        <p:blipFill>
          <a:blip r:embed="rId1"/>
          <a:srcRect l="2297" t="6537" r="2555" b="7818"/>
          <a:stretch/>
        </p:blipFill>
        <p:spPr>
          <a:xfrm>
            <a:off x="639720" y="636480"/>
            <a:ext cx="8976600" cy="4409280"/>
          </a:xfrm>
          <a:prstGeom prst="rect">
            <a:avLst/>
          </a:prstGeom>
          <a:ln w="0">
            <a:noFill/>
          </a:ln>
        </p:spPr>
      </p:pic>
      <p:sp>
        <p:nvSpPr>
          <p:cNvPr id="58" name=""/>
          <p:cNvSpPr/>
          <p:nvPr/>
        </p:nvSpPr>
        <p:spPr>
          <a:xfrm>
            <a:off x="2382840" y="5175720"/>
            <a:ext cx="540576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Conditional Random Fields (CRF): David Reich et al., Nature 2014, 2016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S* and S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’ statistics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: Benjamin Vernot and Joshua Akey, Science 2014, 2016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" name="" descr=""/>
          <p:cNvPicPr/>
          <p:nvPr/>
        </p:nvPicPr>
        <p:blipFill>
          <a:blip r:embed="rId2"/>
          <a:stretch/>
        </p:blipFill>
        <p:spPr>
          <a:xfrm>
            <a:off x="93600" y="73080"/>
            <a:ext cx="1278000" cy="452520"/>
          </a:xfrm>
          <a:prstGeom prst="rect">
            <a:avLst/>
          </a:prstGeom>
          <a:ln w="0">
            <a:noFill/>
          </a:ln>
        </p:spPr>
      </p:pic>
      <p:sp>
        <p:nvSpPr>
          <p:cNvPr id="60" name=""/>
          <p:cNvSpPr/>
          <p:nvPr/>
        </p:nvSpPr>
        <p:spPr>
          <a:xfrm>
            <a:off x="2158920" y="11160"/>
            <a:ext cx="525816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</a:rPr>
              <a:t>Segments of Neanderthal introgression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" descr=""/>
          <p:cNvPicPr/>
          <p:nvPr/>
        </p:nvPicPr>
        <p:blipFill>
          <a:blip r:embed="rId3"/>
          <a:stretch/>
        </p:blipFill>
        <p:spPr>
          <a:xfrm>
            <a:off x="7955280" y="19080"/>
            <a:ext cx="2103480" cy="536400"/>
          </a:xfrm>
          <a:prstGeom prst="rect">
            <a:avLst/>
          </a:prstGeom>
          <a:ln w="0">
            <a:noFill/>
          </a:ln>
        </p:spPr>
      </p:pic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519480" y="9360"/>
            <a:ext cx="9071280" cy="566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2026-09-26T11:49:15Z</dcterms:created>
  <dc:creator/>
  <dc:description/>
  <dc:language>en-US</dc:language>
  <cp:lastModifiedBy/>
  <cp:lastPrinted>2026-09-26T18:17:25Z</cp:lastPrinted>
  <dcterms:modified xsi:type="dcterms:W3CDTF">2026-09-26T18:19:41Z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