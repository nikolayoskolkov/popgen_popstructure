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jpeg" ContentType="image/jpeg"/>
  <Override PartName="/ppt/media/image18.png" ContentType="image/png"/>
  <Override PartName="/ppt/media/image26.jpeg" ContentType="image/jpeg"/>
  <Override PartName="/ppt/media/image25.png" ContentType="image/png"/>
  <Override PartName="/ppt/media/image17.png" ContentType="image/png"/>
  <Override PartName="/ppt/media/image12.png" ContentType="image/png"/>
  <Override PartName="/ppt/media/image11.png" ContentType="image/png"/>
  <Override PartName="/ppt/media/image3.png" ContentType="image/png"/>
  <Override PartName="/ppt/media/image35.png" ContentType="image/png"/>
  <Override PartName="/ppt/media/image27.jpeg" ContentType="image/jpeg"/>
  <Override PartName="/ppt/media/image5.jpeg" ContentType="image/jpeg"/>
  <Override PartName="/ppt/media/image7.jpeg" ContentType="image/jpe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2.png" ContentType="image/png"/>
  <Override PartName="/ppt/media/image34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8.png" ContentType="image/png"/>
  <Override PartName="/ppt/media/image14.jpeg" ContentType="image/jpeg"/>
  <Override PartName="/ppt/media/image23.png" ContentType="image/png"/>
  <Override PartName="/ppt/media/image16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ACEED9-E69D-489A-A4E4-69EAE15CE4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D00131-05E2-4903-8C1F-9605FCA206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227351-8150-439D-9914-39B558F101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FD8EDB-AA30-465F-9AE3-38B6468E3CF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4D42C1-400F-4565-874B-412FA978F76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jpe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jpeg"/><Relationship Id="rId3" Type="http://schemas.openxmlformats.org/officeDocument/2006/relationships/image" Target="../media/image27.jpeg"/><Relationship Id="rId4" Type="http://schemas.openxmlformats.org/officeDocument/2006/relationships/image" Target="../media/image28.jpeg"/><Relationship Id="rId5" Type="http://schemas.openxmlformats.org/officeDocument/2006/relationships/image" Target="../media/image6.png"/><Relationship Id="rId6" Type="http://schemas.openxmlformats.org/officeDocument/2006/relationships/image" Target="../media/image5.jpe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6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18360" y="9360"/>
            <a:ext cx="10073520" cy="566892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1143000" y="613800"/>
            <a:ext cx="6628680" cy="985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180800" y="421200"/>
            <a:ext cx="882252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a6099"/>
                </a:solidFill>
                <a:latin typeface="Arial"/>
                <a:ea typeface="DejaVu Sans"/>
              </a:rPr>
              <a:t>Introgression detection with D-statistic using Neanderthal genomics</a:t>
            </a:r>
            <a:br>
              <a:rPr sz="20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 Stats Course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 descr=""/>
          <p:cNvPicPr/>
          <p:nvPr/>
        </p:nvPicPr>
        <p:blipFill>
          <a:blip r:embed="rId1"/>
          <a:srcRect l="0" t="0" r="0" b="3407"/>
          <a:stretch/>
        </p:blipFill>
        <p:spPr>
          <a:xfrm>
            <a:off x="802440" y="81000"/>
            <a:ext cx="8505720" cy="547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2215800" y="93240"/>
            <a:ext cx="5281200" cy="546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323000" y="37800"/>
            <a:ext cx="7821720" cy="560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4"/>
          <p:cNvSpPr/>
          <p:nvPr/>
        </p:nvSpPr>
        <p:spPr>
          <a:xfrm>
            <a:off x="1054080" y="1214280"/>
            <a:ext cx="7808760" cy="1620360"/>
          </a:xfrm>
          <a:custGeom>
            <a:avLst/>
            <a:gdLst>
              <a:gd name="textAreaLeft" fmla="*/ 0 w 7808760"/>
              <a:gd name="textAreaRight" fmla="*/ 7812000 w 7808760"/>
              <a:gd name="textAreaTop" fmla="*/ 0 h 1620360"/>
              <a:gd name="textAreaBottom" fmla="*/ 1623600 h 162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Introduction</a:t>
            </a: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 to ancient DNA data analysis</a:t>
            </a:r>
            <a:br>
              <a:rPr sz="1800"/>
            </a:b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...very brief and just in case :))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7955280" y="55440"/>
            <a:ext cx="2098080" cy="53136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2600" cy="44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rcRect l="0" t="0" r="18292" b="0"/>
          <a:stretch/>
        </p:blipFill>
        <p:spPr>
          <a:xfrm>
            <a:off x="112680" y="754200"/>
            <a:ext cx="4232520" cy="3130200"/>
          </a:xfrm>
          <a:prstGeom prst="rect">
            <a:avLst/>
          </a:prstGeom>
          <a:ln w="0">
            <a:noFill/>
          </a:ln>
        </p:spPr>
      </p:pic>
      <p:sp>
        <p:nvSpPr>
          <p:cNvPr id="36" name="CustomShape 52"/>
          <p:cNvSpPr/>
          <p:nvPr/>
        </p:nvSpPr>
        <p:spPr>
          <a:xfrm>
            <a:off x="1833840" y="47520"/>
            <a:ext cx="5825160" cy="448560"/>
          </a:xfrm>
          <a:custGeom>
            <a:avLst/>
            <a:gdLst>
              <a:gd name="textAreaLeft" fmla="*/ 0 w 5825160"/>
              <a:gd name="textAreaRight" fmla="*/ 5830560 w 5825160"/>
              <a:gd name="textAreaTop" fmla="*/ 0 h 448560"/>
              <a:gd name="textAreaBottom" fmla="*/ 453960 h 44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Ancient DNA (aDNA) from archaeological samples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CustomShape 2"/>
          <p:cNvSpPr/>
          <p:nvPr/>
        </p:nvSpPr>
        <p:spPr>
          <a:xfrm>
            <a:off x="180000" y="4843440"/>
            <a:ext cx="9757800" cy="637560"/>
          </a:xfrm>
          <a:custGeom>
            <a:avLst/>
            <a:gdLst>
              <a:gd name="textAreaLeft" fmla="*/ 0 w 9757800"/>
              <a:gd name="textAreaRight" fmla="*/ 9763200 w 9757800"/>
              <a:gd name="textAreaTop" fmla="*/ 0 h 637560"/>
              <a:gd name="textAreaBottom" fmla="*/ 642960 h 637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0840" bIns="45000" anchor="t">
            <a:noAutofit/>
          </a:bodyPr>
          <a:p>
            <a:pPr algn="ctr">
              <a:lnSpc>
                <a:spcPct val="93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Peculiarity: very few samples with little amounts of DNA, hence hard for statistical analysis</a:t>
            </a: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Low statistical evidence to make confident conclusions, predictions can rarely be validated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2"/>
          <a:srcRect l="22433" t="24332" r="21661" b="67944"/>
          <a:stretch/>
        </p:blipFill>
        <p:spPr>
          <a:xfrm>
            <a:off x="238320" y="3987720"/>
            <a:ext cx="9683640" cy="72324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3"/>
          <a:stretch/>
        </p:blipFill>
        <p:spPr>
          <a:xfrm>
            <a:off x="34920" y="37440"/>
            <a:ext cx="436680" cy="41616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4"/>
          <a:srcRect l="4511" t="13458" r="4511" b="13458"/>
          <a:stretch/>
        </p:blipFill>
        <p:spPr>
          <a:xfrm>
            <a:off x="8687160" y="7560"/>
            <a:ext cx="1408680" cy="374040"/>
          </a:xfrm>
          <a:prstGeom prst="rect">
            <a:avLst/>
          </a:prstGeom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5"/>
          <a:stretch/>
        </p:blipFill>
        <p:spPr>
          <a:xfrm>
            <a:off x="4417200" y="749880"/>
            <a:ext cx="5560200" cy="312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85"/>
          <p:cNvSpPr/>
          <p:nvPr/>
        </p:nvSpPr>
        <p:spPr>
          <a:xfrm>
            <a:off x="2266920" y="47520"/>
            <a:ext cx="5249160" cy="448560"/>
          </a:xfrm>
          <a:custGeom>
            <a:avLst/>
            <a:gdLst>
              <a:gd name="textAreaLeft" fmla="*/ 0 w 5249160"/>
              <a:gd name="textAreaRight" fmla="*/ 5254560 w 5249160"/>
              <a:gd name="textAreaTop" fmla="*/ 0 h 448560"/>
              <a:gd name="textAreaBottom" fmla="*/ 453960 h 44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Ancient DNA (aDNA) degradation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" name="Group 3"/>
          <p:cNvGrpSpPr/>
          <p:nvPr/>
        </p:nvGrpSpPr>
        <p:grpSpPr>
          <a:xfrm>
            <a:off x="5802480" y="3371400"/>
            <a:ext cx="4158000" cy="2260800"/>
            <a:chOff x="5802480" y="3371400"/>
            <a:chExt cx="4158000" cy="2260800"/>
          </a:xfrm>
        </p:grpSpPr>
        <p:pic>
          <p:nvPicPr>
            <p:cNvPr id="44" name="" descr=""/>
            <p:cNvPicPr/>
            <p:nvPr/>
          </p:nvPicPr>
          <p:blipFill>
            <a:blip r:embed="rId1"/>
            <a:srcRect l="0" t="0" r="0" b="50793"/>
            <a:stretch/>
          </p:blipFill>
          <p:spPr>
            <a:xfrm>
              <a:off x="5802480" y="3823560"/>
              <a:ext cx="3875040" cy="159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5" name="CustomShape 1"/>
            <p:cNvSpPr/>
            <p:nvPr/>
          </p:nvSpPr>
          <p:spPr>
            <a:xfrm>
              <a:off x="6644520" y="3371400"/>
              <a:ext cx="2599920" cy="329400"/>
            </a:xfrm>
            <a:custGeom>
              <a:avLst/>
              <a:gdLst>
                <a:gd name="textAreaLeft" fmla="*/ 0 w 2599920"/>
                <a:gd name="textAreaRight" fmla="*/ 2605320 w 2599920"/>
                <a:gd name="textAreaTop" fmla="*/ 0 h 329400"/>
                <a:gd name="textAreaBottom" fmla="*/ 334800 h 3294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Damage / deamination pattern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CustomShape 8"/>
            <p:cNvSpPr/>
            <p:nvPr/>
          </p:nvSpPr>
          <p:spPr>
            <a:xfrm>
              <a:off x="6366600" y="3579840"/>
              <a:ext cx="3107520" cy="334080"/>
            </a:xfrm>
            <a:custGeom>
              <a:avLst/>
              <a:gdLst>
                <a:gd name="textAreaLeft" fmla="*/ 0 w 3107520"/>
                <a:gd name="textAreaRight" fmla="*/ 3112920 w 3107520"/>
                <a:gd name="textAreaTop" fmla="*/ 0 h 334080"/>
                <a:gd name="textAreaBottom" fmla="*/ 339480 h 334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60840" bIns="45000" anchor="t">
              <a:noAutofit/>
            </a:bodyPr>
            <a:p>
              <a:pPr>
                <a:lnSpc>
                  <a:spcPct val="93000"/>
                </a:lnSpc>
              </a:pPr>
              <a:r>
                <a:rPr b="0" lang="en-US" sz="1400" spc="-1" strike="noStrike">
                  <a:solidFill>
                    <a:srgbClr val="006400"/>
                  </a:solidFill>
                  <a:latin typeface="Arial"/>
                  <a:ea typeface="Noto Sans CJK SC"/>
                </a:rPr>
                <a:t>Deamination process: </a:t>
              </a:r>
              <a:r>
                <a:rPr b="0" lang="en-US" sz="1400" spc="-1" strike="noStrike">
                  <a:solidFill>
                    <a:srgbClr val="006400"/>
                  </a:solidFill>
                  <a:latin typeface="Arial"/>
                  <a:ea typeface="DejaVu Sans"/>
                </a:rPr>
                <a:t>C → T, G → A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CustomShape 9"/>
            <p:cNvSpPr/>
            <p:nvPr/>
          </p:nvSpPr>
          <p:spPr>
            <a:xfrm>
              <a:off x="8498520" y="5394960"/>
              <a:ext cx="146196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1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Skoglund et al. 2014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8" name="" descr=""/>
          <p:cNvPicPr/>
          <p:nvPr/>
        </p:nvPicPr>
        <p:blipFill>
          <a:blip r:embed="rId2"/>
          <a:srcRect l="0" t="16938" r="2900" b="8815"/>
          <a:stretch/>
        </p:blipFill>
        <p:spPr>
          <a:xfrm>
            <a:off x="617760" y="3807360"/>
            <a:ext cx="4240800" cy="1817280"/>
          </a:xfrm>
          <a:prstGeom prst="rect">
            <a:avLst/>
          </a:prstGeom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3"/>
          <a:srcRect l="2019" t="7956" r="-5865" b="18356"/>
          <a:stretch/>
        </p:blipFill>
        <p:spPr>
          <a:xfrm>
            <a:off x="559440" y="678960"/>
            <a:ext cx="4592520" cy="3133440"/>
          </a:xfrm>
          <a:prstGeom prst="rect">
            <a:avLst/>
          </a:prstGeom>
          <a:ln w="0">
            <a:noFill/>
          </a:ln>
        </p:spPr>
      </p:pic>
      <p:grpSp>
        <p:nvGrpSpPr>
          <p:cNvPr id="50" name="Group 4"/>
          <p:cNvGrpSpPr/>
          <p:nvPr/>
        </p:nvGrpSpPr>
        <p:grpSpPr>
          <a:xfrm>
            <a:off x="3220200" y="4718880"/>
            <a:ext cx="622080" cy="901440"/>
            <a:chOff x="3220200" y="4718880"/>
            <a:chExt cx="622080" cy="901440"/>
          </a:xfrm>
        </p:grpSpPr>
        <p:sp>
          <p:nvSpPr>
            <p:cNvPr id="51" name="CustomShape 10"/>
            <p:cNvSpPr/>
            <p:nvPr/>
          </p:nvSpPr>
          <p:spPr>
            <a:xfrm rot="7296600">
              <a:off x="3359520" y="5078160"/>
              <a:ext cx="343080" cy="519120"/>
            </a:xfrm>
            <a:custGeom>
              <a:avLst/>
              <a:gdLst>
                <a:gd name="textAreaLeft" fmla="*/ 0 w 343080"/>
                <a:gd name="textAreaRight" fmla="*/ 348480 w 343080"/>
                <a:gd name="textAreaTop" fmla="*/ 0 h 519120"/>
                <a:gd name="textAreaBottom" fmla="*/ 524520 h 519120"/>
              </a:gdLst>
              <a:ahLst/>
              <a:rect l="textAreaLeft" t="textAreaTop" r="textAreaRight" b="textAreaBottom"/>
              <a:pathLst>
                <a:path w="640" h="861">
                  <a:moveTo>
                    <a:pt x="640" y="233"/>
                  </a:moveTo>
                  <a:lnTo>
                    <a:pt x="221" y="293"/>
                  </a:lnTo>
                  <a:lnTo>
                    <a:pt x="506" y="12"/>
                  </a:lnTo>
                  <a:lnTo>
                    <a:pt x="367" y="0"/>
                  </a:lnTo>
                  <a:lnTo>
                    <a:pt x="29" y="406"/>
                  </a:lnTo>
                  <a:lnTo>
                    <a:pt x="431" y="347"/>
                  </a:lnTo>
                  <a:lnTo>
                    <a:pt x="145" y="645"/>
                  </a:lnTo>
                  <a:lnTo>
                    <a:pt x="99" y="520"/>
                  </a:lnTo>
                  <a:lnTo>
                    <a:pt x="0" y="861"/>
                  </a:lnTo>
                  <a:lnTo>
                    <a:pt x="326" y="765"/>
                  </a:lnTo>
                  <a:lnTo>
                    <a:pt x="209" y="711"/>
                  </a:lnTo>
                  <a:lnTo>
                    <a:pt x="640" y="233"/>
                  </a:lnTo>
                  <a:lnTo>
                    <a:pt x="640" y="2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" name="CustomShape 11"/>
            <p:cNvSpPr/>
            <p:nvPr/>
          </p:nvSpPr>
          <p:spPr>
            <a:xfrm>
              <a:off x="3300840" y="4718880"/>
              <a:ext cx="167400" cy="25524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3" name="CustomShape 12"/>
            <p:cNvSpPr/>
            <p:nvPr/>
          </p:nvSpPr>
          <p:spPr>
            <a:xfrm>
              <a:off x="3259440" y="4734720"/>
              <a:ext cx="2530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U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5943600" y="534960"/>
            <a:ext cx="3717000" cy="2750040"/>
            <a:chOff x="5943600" y="534960"/>
            <a:chExt cx="3717000" cy="2750040"/>
          </a:xfrm>
        </p:grpSpPr>
        <p:grpSp>
          <p:nvGrpSpPr>
            <p:cNvPr id="55" name="Group 17"/>
            <p:cNvGrpSpPr/>
            <p:nvPr/>
          </p:nvGrpSpPr>
          <p:grpSpPr>
            <a:xfrm>
              <a:off x="5943600" y="534960"/>
              <a:ext cx="3717000" cy="2750040"/>
              <a:chOff x="5943600" y="534960"/>
              <a:chExt cx="3717000" cy="2750040"/>
            </a:xfrm>
          </p:grpSpPr>
          <p:pic>
            <p:nvPicPr>
              <p:cNvPr id="56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5943600" y="806400"/>
                <a:ext cx="3717000" cy="2478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7" name="CustomShape 60"/>
              <p:cNvSpPr/>
              <p:nvPr/>
            </p:nvSpPr>
            <p:spPr>
              <a:xfrm>
                <a:off x="7024320" y="534960"/>
                <a:ext cx="1634400" cy="329400"/>
              </a:xfrm>
              <a:custGeom>
                <a:avLst/>
                <a:gdLst>
                  <a:gd name="textAreaLeft" fmla="*/ 0 w 1634400"/>
                  <a:gd name="textAreaRight" fmla="*/ 1639800 w 1634400"/>
                  <a:gd name="textAreaTop" fmla="*/ 0 h 329400"/>
                  <a:gd name="textAreaBottom" fmla="*/ 334800 h 32940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rgbClr val="ff0000"/>
                    </a:solidFill>
                    <a:latin typeface="Arial"/>
                    <a:ea typeface="DejaVu Sans"/>
                  </a:rPr>
                  <a:t>DNA fragmentation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8" name="TextShape 2"/>
            <p:cNvSpPr/>
            <p:nvPr/>
          </p:nvSpPr>
          <p:spPr>
            <a:xfrm>
              <a:off x="7315200" y="1119600"/>
              <a:ext cx="2281320" cy="72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just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A problem with specificity of taxonomic assignment of sequenced DNA reads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9" name="" descr=""/>
          <p:cNvPicPr/>
          <p:nvPr/>
        </p:nvPicPr>
        <p:blipFill>
          <a:blip r:embed="rId5"/>
          <a:stretch/>
        </p:blipFill>
        <p:spPr>
          <a:xfrm>
            <a:off x="34920" y="37440"/>
            <a:ext cx="436680" cy="41616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6"/>
          <a:srcRect l="4511" t="13458" r="4511" b="13458"/>
          <a:stretch/>
        </p:blipFill>
        <p:spPr>
          <a:xfrm>
            <a:off x="8687160" y="7560"/>
            <a:ext cx="1408680" cy="37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7955280" y="19080"/>
            <a:ext cx="2098800" cy="531720"/>
          </a:xfrm>
          <a:prstGeom prst="rect">
            <a:avLst/>
          </a:prstGeom>
          <a:ln w="0">
            <a:noFill/>
          </a:ln>
        </p:spPr>
      </p:pic>
      <p:sp>
        <p:nvSpPr>
          <p:cNvPr id="62" name="CustomShape 3"/>
          <p:cNvSpPr/>
          <p:nvPr/>
        </p:nvSpPr>
        <p:spPr>
          <a:xfrm>
            <a:off x="1525320" y="-27000"/>
            <a:ext cx="6343920" cy="341280"/>
          </a:xfrm>
          <a:custGeom>
            <a:avLst/>
            <a:gdLst>
              <a:gd name="textAreaLeft" fmla="*/ 0 w 6343920"/>
              <a:gd name="textAreaRight" fmla="*/ 6347160 w 6343920"/>
              <a:gd name="textAreaTop" fmla="*/ 0 h 341280"/>
              <a:gd name="textAreaBottom" fmla="*/ 34452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Deep Learning: going beyond deamination?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6"/>
          <p:cNvSpPr/>
          <p:nvPr/>
        </p:nvSpPr>
        <p:spPr>
          <a:xfrm>
            <a:off x="-14400" y="3021480"/>
            <a:ext cx="2626200" cy="198360"/>
          </a:xfrm>
          <a:custGeom>
            <a:avLst/>
            <a:gdLst>
              <a:gd name="textAreaLeft" fmla="*/ 0 w 2626200"/>
              <a:gd name="textAreaRight" fmla="*/ 2629440 w 2626200"/>
              <a:gd name="textAreaTop" fmla="*/ 0 h 198360"/>
              <a:gd name="textAreaBottom" fmla="*/ 201600 h 198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Zou et al., 2018, Nature Genetics 51, 12-18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58680" y="41400"/>
            <a:ext cx="1273320" cy="447480"/>
          </a:xfrm>
          <a:prstGeom prst="rect">
            <a:avLst/>
          </a:prstGeom>
          <a:ln w="0">
            <a:noFill/>
          </a:ln>
        </p:spPr>
      </p:pic>
      <p:sp>
        <p:nvSpPr>
          <p:cNvPr id="65" name="CustomShape 7"/>
          <p:cNvSpPr/>
          <p:nvPr/>
        </p:nvSpPr>
        <p:spPr>
          <a:xfrm>
            <a:off x="8196480" y="5436000"/>
            <a:ext cx="1865520" cy="199800"/>
          </a:xfrm>
          <a:custGeom>
            <a:avLst/>
            <a:gdLst>
              <a:gd name="textAreaLeft" fmla="*/ 0 w 1865520"/>
              <a:gd name="textAreaRight" fmla="*/ 1868760 w 1865520"/>
              <a:gd name="textAreaTop" fmla="*/ 0 h 199800"/>
              <a:gd name="textAreaBottom" fmla="*/ 203040 h 199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Oskolkov et al., unpublished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>
            <a:off x="92160" y="531720"/>
            <a:ext cx="5610600" cy="2427840"/>
          </a:xfrm>
          <a:prstGeom prst="rect">
            <a:avLst/>
          </a:prstGeom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4"/>
          <a:srcRect l="12368" t="1330" r="5967" b="276"/>
          <a:stretch/>
        </p:blipFill>
        <p:spPr>
          <a:xfrm>
            <a:off x="5761440" y="496800"/>
            <a:ext cx="4293000" cy="2792880"/>
          </a:xfrm>
          <a:prstGeom prst="rect">
            <a:avLst/>
          </a:prstGeom>
          <a:ln w="0">
            <a:noFill/>
          </a:ln>
        </p:spPr>
      </p:pic>
      <p:grpSp>
        <p:nvGrpSpPr>
          <p:cNvPr id="68" name="Group 2"/>
          <p:cNvGrpSpPr/>
          <p:nvPr/>
        </p:nvGrpSpPr>
        <p:grpSpPr>
          <a:xfrm>
            <a:off x="49320" y="3339000"/>
            <a:ext cx="9984240" cy="2298960"/>
            <a:chOff x="49320" y="3339000"/>
            <a:chExt cx="9984240" cy="2298960"/>
          </a:xfrm>
        </p:grpSpPr>
        <p:pic>
          <p:nvPicPr>
            <p:cNvPr id="69" name="" descr=""/>
            <p:cNvPicPr/>
            <p:nvPr/>
          </p:nvPicPr>
          <p:blipFill>
            <a:blip r:embed="rId5"/>
            <a:stretch/>
          </p:blipFill>
          <p:spPr>
            <a:xfrm>
              <a:off x="3410280" y="3339000"/>
              <a:ext cx="6623280" cy="2298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0" name="" descr=""/>
            <p:cNvPicPr/>
            <p:nvPr/>
          </p:nvPicPr>
          <p:blipFill>
            <a:blip r:embed="rId6"/>
            <a:stretch/>
          </p:blipFill>
          <p:spPr>
            <a:xfrm>
              <a:off x="49320" y="3339000"/>
              <a:ext cx="3040200" cy="22622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71" name="" descr=""/>
          <p:cNvPicPr/>
          <p:nvPr/>
        </p:nvPicPr>
        <p:blipFill>
          <a:blip r:embed="rId7"/>
          <a:srcRect l="77833" t="54709" r="3031" b="3293"/>
          <a:stretch/>
        </p:blipFill>
        <p:spPr>
          <a:xfrm>
            <a:off x="7315200" y="3601440"/>
            <a:ext cx="1185120" cy="1468080"/>
          </a:xfrm>
          <a:prstGeom prst="rect">
            <a:avLst/>
          </a:prstGeom>
          <a:ln w="18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10534" t="0" r="6710" b="0"/>
          <a:stretch/>
        </p:blipFill>
        <p:spPr>
          <a:xfrm>
            <a:off x="120600" y="642960"/>
            <a:ext cx="2639160" cy="4788720"/>
          </a:xfrm>
          <a:prstGeom prst="rect">
            <a:avLst/>
          </a:prstGeom>
          <a:ln w="0">
            <a:noFill/>
          </a:ln>
        </p:spPr>
      </p:pic>
      <p:sp>
        <p:nvSpPr>
          <p:cNvPr id="73" name="CustomShape 64"/>
          <p:cNvSpPr/>
          <p:nvPr/>
        </p:nvSpPr>
        <p:spPr>
          <a:xfrm>
            <a:off x="1465200" y="29880"/>
            <a:ext cx="6444720" cy="446760"/>
          </a:xfrm>
          <a:custGeom>
            <a:avLst/>
            <a:gdLst>
              <a:gd name="textAreaLeft" fmla="*/ 0 w 6444720"/>
              <a:gd name="textAreaRight" fmla="*/ 6450120 w 6444720"/>
              <a:gd name="textAreaTop" fmla="*/ 0 h 446760"/>
              <a:gd name="textAreaBottom" fmla="*/ 452160 h 446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</a:pPr>
            <a:r>
              <a:rPr b="0" lang="en-US" sz="2500" spc="-1" strike="noStrike">
                <a:solidFill>
                  <a:srgbClr val="0066cc"/>
                </a:solidFill>
                <a:latin typeface="Arial"/>
                <a:ea typeface="DejaVu Sans"/>
              </a:rPr>
              <a:t>Ancient DNA (aDNA) Analysis Workflow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rcRect l="18929" t="14457" r="41961" b="0"/>
          <a:stretch/>
        </p:blipFill>
        <p:spPr>
          <a:xfrm>
            <a:off x="2667600" y="659520"/>
            <a:ext cx="3926160" cy="4844520"/>
          </a:xfrm>
          <a:prstGeom prst="rect">
            <a:avLst/>
          </a:prstGeom>
          <a:ln w="18360">
            <a:noFill/>
          </a:ln>
        </p:spPr>
      </p:pic>
      <p:pic>
        <p:nvPicPr>
          <p:cNvPr id="75" name="" descr=""/>
          <p:cNvPicPr/>
          <p:nvPr/>
        </p:nvPicPr>
        <p:blipFill>
          <a:blip r:embed="rId3"/>
          <a:srcRect l="3537" t="9624" r="39248" b="0"/>
          <a:stretch/>
        </p:blipFill>
        <p:spPr>
          <a:xfrm>
            <a:off x="6906600" y="656640"/>
            <a:ext cx="3038040" cy="2701800"/>
          </a:xfrm>
          <a:prstGeom prst="rect">
            <a:avLst/>
          </a:prstGeom>
          <a:ln w="18360">
            <a:noFill/>
          </a:ln>
        </p:spPr>
      </p:pic>
      <p:pic>
        <p:nvPicPr>
          <p:cNvPr id="76" name="" descr=""/>
          <p:cNvPicPr/>
          <p:nvPr/>
        </p:nvPicPr>
        <p:blipFill>
          <a:blip r:embed="rId4"/>
          <a:srcRect l="29783" t="9624" r="30459" b="36962"/>
          <a:stretch/>
        </p:blipFill>
        <p:spPr>
          <a:xfrm>
            <a:off x="6914880" y="3383280"/>
            <a:ext cx="3010320" cy="2275560"/>
          </a:xfrm>
          <a:prstGeom prst="rect">
            <a:avLst/>
          </a:prstGeom>
          <a:ln w="18360">
            <a:noFill/>
          </a:ln>
        </p:spPr>
      </p:pic>
      <p:pic>
        <p:nvPicPr>
          <p:cNvPr id="77" name="" descr=""/>
          <p:cNvPicPr/>
          <p:nvPr/>
        </p:nvPicPr>
        <p:blipFill>
          <a:blip r:embed="rId5"/>
          <a:stretch/>
        </p:blipFill>
        <p:spPr>
          <a:xfrm>
            <a:off x="71280" y="36720"/>
            <a:ext cx="611640" cy="5832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6"/>
          <a:srcRect l="4511" t="13458" r="4511" b="13458"/>
          <a:stretch/>
        </p:blipFill>
        <p:spPr>
          <a:xfrm>
            <a:off x="8215560" y="43200"/>
            <a:ext cx="1880640" cy="50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5"/>
          <p:cNvSpPr/>
          <p:nvPr/>
        </p:nvSpPr>
        <p:spPr>
          <a:xfrm>
            <a:off x="1054080" y="1214280"/>
            <a:ext cx="7808760" cy="1620360"/>
          </a:xfrm>
          <a:custGeom>
            <a:avLst/>
            <a:gdLst>
              <a:gd name="textAreaLeft" fmla="*/ 0 w 7808760"/>
              <a:gd name="textAreaRight" fmla="*/ 7812000 w 7808760"/>
              <a:gd name="textAreaTop" fmla="*/ 0 h 1620360"/>
              <a:gd name="textAreaBottom" fmla="*/ 1623600 h 162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 </a:t>
            </a: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Neanderthal introgression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in modern human populations</a:t>
            </a:r>
            <a:br>
              <a:rPr sz="1800"/>
            </a:b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7955280" y="55440"/>
            <a:ext cx="2098080" cy="53136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2600" cy="44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rcRect l="0" t="0" r="0" b="2679"/>
          <a:stretch/>
        </p:blipFill>
        <p:spPr>
          <a:xfrm>
            <a:off x="196920" y="593640"/>
            <a:ext cx="4779720" cy="3256200"/>
          </a:xfrm>
          <a:prstGeom prst="rect">
            <a:avLst/>
          </a:prstGeom>
          <a:ln w="0">
            <a:noFill/>
          </a:ln>
        </p:spPr>
      </p:pic>
      <p:grpSp>
        <p:nvGrpSpPr>
          <p:cNvPr id="83" name=""/>
          <p:cNvGrpSpPr/>
          <p:nvPr/>
        </p:nvGrpSpPr>
        <p:grpSpPr>
          <a:xfrm>
            <a:off x="5688360" y="438120"/>
            <a:ext cx="3987720" cy="2532240"/>
            <a:chOff x="5688360" y="438120"/>
            <a:chExt cx="3987720" cy="2532240"/>
          </a:xfrm>
        </p:grpSpPr>
        <p:pic>
          <p:nvPicPr>
            <p:cNvPr id="84" name="" descr=""/>
            <p:cNvPicPr/>
            <p:nvPr/>
          </p:nvPicPr>
          <p:blipFill>
            <a:blip r:embed="rId2"/>
            <a:stretch/>
          </p:blipFill>
          <p:spPr>
            <a:xfrm>
              <a:off x="5688360" y="438120"/>
              <a:ext cx="3274920" cy="2452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5" name="" descr=""/>
            <p:cNvPicPr/>
            <p:nvPr/>
          </p:nvPicPr>
          <p:blipFill>
            <a:blip r:embed="rId3"/>
            <a:srcRect l="46908" t="3389" r="5910" b="5405"/>
            <a:stretch/>
          </p:blipFill>
          <p:spPr>
            <a:xfrm>
              <a:off x="8808120" y="2103840"/>
              <a:ext cx="867960" cy="8665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6" name=""/>
          <p:cNvGrpSpPr/>
          <p:nvPr/>
        </p:nvGrpSpPr>
        <p:grpSpPr>
          <a:xfrm>
            <a:off x="5545440" y="3072240"/>
            <a:ext cx="4170600" cy="2516040"/>
            <a:chOff x="5545440" y="3072240"/>
            <a:chExt cx="4170600" cy="2516040"/>
          </a:xfrm>
        </p:grpSpPr>
        <p:pic>
          <p:nvPicPr>
            <p:cNvPr id="87" name="" descr=""/>
            <p:cNvPicPr/>
            <p:nvPr/>
          </p:nvPicPr>
          <p:blipFill>
            <a:blip r:embed="rId4"/>
            <a:stretch/>
          </p:blipFill>
          <p:spPr>
            <a:xfrm>
              <a:off x="5545440" y="3072240"/>
              <a:ext cx="4170600" cy="2219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8" name=""/>
            <p:cNvSpPr/>
            <p:nvPr/>
          </p:nvSpPr>
          <p:spPr>
            <a:xfrm>
              <a:off x="5578920" y="5321880"/>
              <a:ext cx="371772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2010 Draft Neanderthal Genome Sequenced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9" name="" descr=""/>
          <p:cNvPicPr/>
          <p:nvPr/>
        </p:nvPicPr>
        <p:blipFill>
          <a:blip r:embed="rId5"/>
          <a:stretch/>
        </p:blipFill>
        <p:spPr>
          <a:xfrm>
            <a:off x="93600" y="36360"/>
            <a:ext cx="1277640" cy="45216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2266920" y="-23760"/>
            <a:ext cx="525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Neanderthal Genomics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6"/>
          <a:stretch/>
        </p:blipFill>
        <p:spPr>
          <a:xfrm>
            <a:off x="7955280" y="19080"/>
            <a:ext cx="2103120" cy="53604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7"/>
          <a:srcRect l="14417" t="31073" r="13911" b="22635"/>
          <a:stretch/>
        </p:blipFill>
        <p:spPr>
          <a:xfrm>
            <a:off x="193680" y="3897720"/>
            <a:ext cx="4782960" cy="173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dur="indefinite" fill="hold">
                      <p:stCondLst>
                        <p:cond delay="indefinite"/>
                      </p:stCondLst>
                      <p:childTnLst>
                        <p:par>
                          <p:cTn id="3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dur="indefinite" fill="hold">
                      <p:stCondLst>
                        <p:cond delay="indefinite"/>
                      </p:stCondLst>
                      <p:childTnLst>
                        <p:par>
                          <p:cTn id="3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rcRect l="2297" t="6537" r="2555" b="7818"/>
          <a:stretch/>
        </p:blipFill>
        <p:spPr>
          <a:xfrm>
            <a:off x="639720" y="636480"/>
            <a:ext cx="8976240" cy="440892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2382840" y="5175720"/>
            <a:ext cx="54054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Conditional Random Fields (CRF): David Reich et al., Nature 2014, 2016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S* and S’ statistics: Benjamin Vernot and Joshua Akey, Science 2014, 2016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93600" y="73080"/>
            <a:ext cx="1277640" cy="452160"/>
          </a:xfrm>
          <a:prstGeom prst="rect">
            <a:avLst/>
          </a:prstGeom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2158920" y="11160"/>
            <a:ext cx="525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Segments of Neanderthal introgression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7955280" y="19080"/>
            <a:ext cx="2103120" cy="53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8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19480" y="9360"/>
            <a:ext cx="907092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93320" y="12600"/>
            <a:ext cx="9768240" cy="562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093320" y="108000"/>
            <a:ext cx="7650360" cy="545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2026-09-26T11:49:15Z</dcterms:created>
  <dc:creator/>
  <dc:description/>
  <dc:language>en-US</dc:language>
  <cp:lastModifiedBy/>
  <cp:lastPrinted>2026-09-26T18:17:25Z</cp:lastPrinted>
  <dcterms:modified xsi:type="dcterms:W3CDTF">2026-10-02T14:47:50Z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